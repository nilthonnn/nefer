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8.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1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6.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Criticidad</c:v>
                </c:pt>
              </c:strCache>
            </c:strRef>
          </c:tx>
          <c:spPr>
            <a:solidFill>
              <a:srgbClr val="B45309"/>
            </a:solidFill>
            <a:effectLst/>
          </c:spPr>
          <c:invertIfNegative val="0"/>
          <c:dLbls>
            <c:numFmt formatCode="#,##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B45309"/>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94A3B8"/>
              </a:solidFill>
              <a:effectLst/>
            </c:spPr>
          </c:dPt>
          <c:dPt>
            <c:idx val="9"/>
            <c:invertIfNegative val="0"/>
            <c:bubble3D val="0"/>
            <c:spPr>
              <a:solidFill>
                <a:srgbClr val="CBD5E1"/>
              </a:solidFill>
              <a:effectLst/>
            </c:spPr>
          </c:dPt>
          <c:cat>
            <c:multiLvlStrRef>
              <c:f>Sheet1!$A$2:$A$11</c:f>
              <c:multiLvlStrCache>
                <c:ptCount val="10"/>
                <c:lvl>
                  <c:pt idx="0">
                    <c:v>GI500-19</c:v>
                  </c:pt>
                  <c:pt idx="1">
                    <c:v>GI500-16</c:v>
                  </c:pt>
                  <c:pt idx="2">
                    <c:v>GI500-20</c:v>
                  </c:pt>
                  <c:pt idx="3">
                    <c:v>GI250-01</c:v>
                  </c:pt>
                  <c:pt idx="4">
                    <c:v>GI250-02</c:v>
                  </c:pt>
                  <c:pt idx="5">
                    <c:v>GI800-01</c:v>
                  </c:pt>
                  <c:pt idx="6">
                    <c:v>GI250-03</c:v>
                  </c:pt>
                  <c:pt idx="7">
                    <c:v>GI500-02</c:v>
                  </c:pt>
                  <c:pt idx="8">
                    <c:v>GI320-01</c:v>
                  </c:pt>
                  <c:pt idx="9">
                    <c:v>Otros 11 (máximo)</c:v>
                  </c:pt>
                </c:lvl>
              </c:multiLvlStrCache>
            </c:multiLvlStrRef>
          </c:cat>
          <c:val>
            <c:numRef>
              <c:f>Sheet1!$B$2:$B$11</c:f>
              <c:numCache>
                <c:formatCode>General</c:formatCode>
                <c:ptCount val="10"/>
                <c:pt idx="0">
                  <c:v>150</c:v>
                </c:pt>
                <c:pt idx="1">
                  <c:v>140</c:v>
                </c:pt>
                <c:pt idx="2">
                  <c:v>130</c:v>
                </c:pt>
                <c:pt idx="3">
                  <c:v>84</c:v>
                </c:pt>
                <c:pt idx="4">
                  <c:v>75</c:v>
                </c:pt>
                <c:pt idx="5">
                  <c:v>69</c:v>
                </c:pt>
                <c:pt idx="6">
                  <c:v>62</c:v>
                </c:pt>
                <c:pt idx="7">
                  <c:v>60</c:v>
                </c:pt>
                <c:pt idx="8">
                  <c:v>60</c:v>
                </c:pt>
                <c:pt idx="9">
                  <c:v>56</c:v>
                </c:pt>
              </c:numCache>
            </c:numRef>
          </c:val>
        </c:ser>
        <c:dLbls>
          <c:numFmt formatCode="#,##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Fallas</c:v>
                </c:pt>
              </c:strCache>
            </c:strRef>
          </c:tx>
          <c:spPr>
            <a:solidFill>
              <a:srgbClr val="B45309"/>
            </a:solidFill>
            <a:effectLst/>
          </c:spPr>
          <c:invertIfNegative val="0"/>
          <c:dLbls>
            <c:numFmt formatCode="#,##0" sourceLinked="0"/>
            <c:txPr>
              <a:bodyPr/>
              <a:lstStyle/>
              <a:p>
                <a:pPr>
                  <a:defRPr b="1" i="0" strike="noStrike" sz="14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Motor diésel</c:v>
                  </c:pt>
                  <c:pt idx="1">
                    <c:v>Generador</c:v>
                  </c:pt>
                  <c:pt idx="2">
                    <c:v>Control</c:v>
                  </c:pt>
                  <c:pt idx="3">
                    <c:v>Distribución eléctrica</c:v>
                  </c:pt>
                  <c:pt idx="4">
                    <c:v>Combustible externo</c:v>
                  </c:pt>
                  <c:pt idx="5">
                    <c:v>Arranque</c:v>
                  </c:pt>
                </c:lvl>
              </c:multiLvlStrCache>
            </c:multiLvlStrRef>
          </c:cat>
          <c:val>
            <c:numRef>
              <c:f>Sheet1!$B$2:$B$7</c:f>
              <c:numCache>
                <c:formatCode>General</c:formatCode>
                <c:ptCount val="6"/>
                <c:pt idx="0">
                  <c:v>79</c:v>
                </c:pt>
                <c:pt idx="1">
                  <c:v>8</c:v>
                </c:pt>
                <c:pt idx="2">
                  <c:v>7</c:v>
                </c:pt>
                <c:pt idx="3">
                  <c:v>5</c:v>
                </c:pt>
                <c:pt idx="4">
                  <c:v>2</c:v>
                </c:pt>
                <c:pt idx="5">
                  <c:v>1</c:v>
                </c:pt>
              </c:numCache>
            </c:numRef>
          </c:val>
        </c:ser>
        <c:dLbls>
          <c:numFmt formatCode="#,##0" sourceLinked="0"/>
          <c:txPr>
            <a:bodyPr/>
            <a:lstStyle/>
            <a:p>
              <a:pPr>
                <a:defRPr b="1" i="0" strike="noStrike" sz="14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9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Antes (2019–2022)</c:v>
                </c:pt>
              </c:strCache>
            </c:strRef>
          </c:tx>
          <c:spPr>
            <a:solidFill>
              <a:srgbClr val="94A3B8"/>
            </a:solidFill>
            <a:effectLst/>
          </c:spPr>
          <c:invertIfNegative val="0"/>
          <c:dLbls>
            <c:numFmt formatCode="0.0" sourceLinked="0"/>
            <c:txPr>
              <a:bodyPr/>
              <a:lstStyle/>
              <a:p>
                <a:pPr>
                  <a:defRPr b="1" i="0" strike="noStrike" sz="13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92.67</c:v>
                </c:pt>
                <c:pt idx="1">
                  <c:v>93.94</c:v>
                </c:pt>
                <c:pt idx="2">
                  <c:v>93.34</c:v>
                </c:pt>
              </c:numCache>
            </c:numRef>
          </c:val>
        </c:ser>
        <c:ser>
          <c:idx val="1"/>
          <c:order val="1"/>
          <c:tx>
            <c:strRef>
              <c:f>Sheet1!$C$1</c:f>
              <c:strCache>
                <c:ptCount val="1"/>
                <c:pt idx="0">
                  <c:v>Con el plan (proyectada)</c:v>
                </c:pt>
              </c:strCache>
            </c:strRef>
          </c:tx>
          <c:spPr>
            <a:solidFill>
              <a:srgbClr val="B45309"/>
            </a:solidFill>
            <a:effectLst/>
          </c:spPr>
          <c:invertIfNegative val="0"/>
          <c:dLbls>
            <c:numFmt formatCode="0.0" sourceLinked="0"/>
            <c:txPr>
              <a:bodyPr/>
              <a:lstStyle/>
              <a:p>
                <a:pPr>
                  <a:defRPr b="1" i="0" strike="noStrike" sz="13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97.85</c:v>
                </c:pt>
                <c:pt idx="1">
                  <c:v>96.9</c:v>
                </c:pt>
                <c:pt idx="2">
                  <c:v>97.78</c:v>
                </c:pt>
              </c:numCache>
            </c:numRef>
          </c:val>
        </c:ser>
        <c:dLbls>
          <c:numFmt formatCode="0.0" sourceLinked="0"/>
          <c:txPr>
            <a:bodyPr/>
            <a:lstStyle/>
            <a:p>
              <a:pPr>
                <a:defRPr b="1" i="0" strike="noStrike" sz="130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99"/>
          <c:min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Antes</c:v>
                </c:pt>
              </c:strCache>
            </c:strRef>
          </c:tx>
          <c:spPr>
            <a:solidFill>
              <a:srgbClr val="94A3B8"/>
            </a:solidFill>
            <a:effectLst/>
          </c:spPr>
          <c:invertIfNegative val="0"/>
          <c:dLbls>
            <c:numFmt formatCode="0.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11.5</c:v>
                </c:pt>
                <c:pt idx="1">
                  <c:v>15.8</c:v>
                </c:pt>
                <c:pt idx="2">
                  <c:v>10.9</c:v>
                </c:pt>
              </c:numCache>
            </c:numRef>
          </c:val>
        </c:ser>
        <c:ser>
          <c:idx val="1"/>
          <c:order val="1"/>
          <c:tx>
            <c:strRef>
              <c:f>Sheet1!$C$1</c:f>
              <c:strCache>
                <c:ptCount val="1"/>
                <c:pt idx="0">
                  <c:v>Con el plan</c:v>
                </c:pt>
              </c:strCache>
            </c:strRef>
          </c:tx>
          <c:spPr>
            <a:solidFill>
              <a:srgbClr val="B45309"/>
            </a:solidFill>
            <a:effectLst/>
          </c:spPr>
          <c:invertIfNegative val="0"/>
          <c:dLbls>
            <c:numFmt formatCode="0.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5.49</c:v>
                </c:pt>
                <c:pt idx="1">
                  <c:v>8</c:v>
                </c:pt>
                <c:pt idx="2">
                  <c:v>5</c:v>
                </c:pt>
              </c:numCache>
            </c:numRef>
          </c:val>
        </c:ser>
        <c:dLbls>
          <c:numFmt formatCode="0.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Antes</c:v>
                </c:pt>
              </c:strCache>
            </c:strRef>
          </c:tx>
          <c:spPr>
            <a:solidFill>
              <a:srgbClr val="94A3B8"/>
            </a:solidFill>
            <a:effectLst/>
          </c:spPr>
          <c:invertIfNegative val="0"/>
          <c:dLbls>
            <c:numFmt formatCode="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145.3</c:v>
                </c:pt>
                <c:pt idx="1">
                  <c:v>245</c:v>
                </c:pt>
                <c:pt idx="2">
                  <c:v>152.8</c:v>
                </c:pt>
              </c:numCache>
            </c:numRef>
          </c:val>
        </c:ser>
        <c:ser>
          <c:idx val="1"/>
          <c:order val="1"/>
          <c:tx>
            <c:strRef>
              <c:f>Sheet1!$C$1</c:f>
              <c:strCache>
                <c:ptCount val="1"/>
                <c:pt idx="0">
                  <c:v>Con el plan</c:v>
                </c:pt>
              </c:strCache>
            </c:strRef>
          </c:tx>
          <c:spPr>
            <a:solidFill>
              <a:srgbClr val="B45309"/>
            </a:solidFill>
            <a:effectLst/>
          </c:spPr>
          <c:invertIfNegative val="0"/>
          <c:dLbls>
            <c:numFmt formatCode="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250</c:v>
                </c:pt>
                <c:pt idx="1">
                  <c:v>250</c:v>
                </c:pt>
                <c:pt idx="2">
                  <c:v>220</c:v>
                </c:pt>
              </c:numCache>
            </c:numRef>
          </c:val>
        </c:ser>
        <c:dLbls>
          <c:numFmt formatCode="0" sourceLinked="0"/>
          <c:txPr>
            <a:bodyPr/>
            <a:lstStyle/>
            <a:p>
              <a:pPr>
                <a:defRPr b="1" i="0" strike="noStrike" sz="120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Criticidad</c:v>
                </c:pt>
              </c:strCache>
            </c:strRef>
          </c:tx>
          <c:spPr>
            <a:solidFill>
              <a:srgbClr val="B45309"/>
            </a:solidFill>
            <a:effectLst/>
          </c:spPr>
          <c:invertIfNegative val="0"/>
          <c:dLbls>
            <c:numFmt formatCode="#,##0" sourceLinked="0"/>
            <c:txPr>
              <a:bodyPr/>
              <a:lstStyle/>
              <a:p>
                <a:pPr>
                  <a:defRPr b="1" i="0" strike="noStrike" sz="9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B45309"/>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94A3B8"/>
              </a:solidFill>
              <a:effectLst/>
            </c:spPr>
          </c:dPt>
          <c:dPt>
            <c:idx val="9"/>
            <c:invertIfNegative val="0"/>
            <c:bubble3D val="0"/>
            <c:spPr>
              <a:solidFill>
                <a:srgbClr val="94A3B8"/>
              </a:solidFill>
              <a:effectLst/>
            </c:spPr>
          </c:dPt>
          <c:dPt>
            <c:idx val="10"/>
            <c:invertIfNegative val="0"/>
            <c:bubble3D val="0"/>
            <c:spPr>
              <a:solidFill>
                <a:srgbClr val="94A3B8"/>
              </a:solidFill>
              <a:effectLst/>
            </c:spPr>
          </c:dPt>
          <c:dPt>
            <c:idx val="11"/>
            <c:invertIfNegative val="0"/>
            <c:bubble3D val="0"/>
            <c:spPr>
              <a:solidFill>
                <a:srgbClr val="94A3B8"/>
              </a:solidFill>
              <a:effectLst/>
            </c:spPr>
          </c:dPt>
          <c:dPt>
            <c:idx val="12"/>
            <c:invertIfNegative val="0"/>
            <c:bubble3D val="0"/>
            <c:spPr>
              <a:solidFill>
                <a:srgbClr val="94A3B8"/>
              </a:solidFill>
              <a:effectLst/>
            </c:spPr>
          </c:dPt>
          <c:dPt>
            <c:idx val="13"/>
            <c:invertIfNegative val="0"/>
            <c:bubble3D val="0"/>
            <c:spPr>
              <a:solidFill>
                <a:srgbClr val="94A3B8"/>
              </a:solidFill>
              <a:effectLst/>
            </c:spPr>
          </c:dPt>
          <c:dPt>
            <c:idx val="14"/>
            <c:invertIfNegative val="0"/>
            <c:bubble3D val="0"/>
            <c:spPr>
              <a:solidFill>
                <a:srgbClr val="94A3B8"/>
              </a:solidFill>
              <a:effectLst/>
            </c:spPr>
          </c:dPt>
          <c:dPt>
            <c:idx val="15"/>
            <c:invertIfNegative val="0"/>
            <c:bubble3D val="0"/>
            <c:spPr>
              <a:solidFill>
                <a:srgbClr val="94A3B8"/>
              </a:solidFill>
              <a:effectLst/>
            </c:spPr>
          </c:dPt>
          <c:dPt>
            <c:idx val="16"/>
            <c:invertIfNegative val="0"/>
            <c:bubble3D val="0"/>
            <c:spPr>
              <a:solidFill>
                <a:srgbClr val="94A3B8"/>
              </a:solidFill>
              <a:effectLst/>
            </c:spPr>
          </c:dPt>
          <c:dPt>
            <c:idx val="17"/>
            <c:invertIfNegative val="0"/>
            <c:bubble3D val="0"/>
            <c:spPr>
              <a:solidFill>
                <a:srgbClr val="CBD5E1"/>
              </a:solidFill>
              <a:effectLst/>
            </c:spPr>
          </c:dPt>
          <c:dPt>
            <c:idx val="18"/>
            <c:invertIfNegative val="0"/>
            <c:bubble3D val="0"/>
            <c:spPr>
              <a:solidFill>
                <a:srgbClr val="CBD5E1"/>
              </a:solidFill>
              <a:effectLst/>
            </c:spPr>
          </c:dPt>
          <c:dPt>
            <c:idx val="19"/>
            <c:invertIfNegative val="0"/>
            <c:bubble3D val="0"/>
            <c:spPr>
              <a:solidFill>
                <a:srgbClr val="CBD5E1"/>
              </a:solidFill>
              <a:effectLst/>
            </c:spPr>
          </c:dPt>
          <c:cat>
            <c:multiLvlStrRef>
              <c:f>Sheet1!$A$2:$A$21</c:f>
              <c:multiLvlStrCache>
                <c:ptCount val="20"/>
                <c:lvl>
                  <c:pt idx="0">
                    <c:v>GI500-19</c:v>
                  </c:pt>
                  <c:pt idx="1">
                    <c:v>GI500-16</c:v>
                  </c:pt>
                  <c:pt idx="2">
                    <c:v>GI500-20</c:v>
                  </c:pt>
                  <c:pt idx="3">
                    <c:v>GI250-01</c:v>
                  </c:pt>
                  <c:pt idx="4">
                    <c:v>GI250-02</c:v>
                  </c:pt>
                  <c:pt idx="5">
                    <c:v>GI800-01</c:v>
                  </c:pt>
                  <c:pt idx="6">
                    <c:v>GI250-03</c:v>
                  </c:pt>
                  <c:pt idx="7">
                    <c:v>GI500-02</c:v>
                  </c:pt>
                  <c:pt idx="8">
                    <c:v>GI320-01</c:v>
                  </c:pt>
                  <c:pt idx="9">
                    <c:v>GI450-01</c:v>
                  </c:pt>
                  <c:pt idx="10">
                    <c:v>GI70-01</c:v>
                  </c:pt>
                  <c:pt idx="11">
                    <c:v>GI100-01</c:v>
                  </c:pt>
                  <c:pt idx="12">
                    <c:v>GI150-01</c:v>
                  </c:pt>
                  <c:pt idx="13">
                    <c:v>GI120-01</c:v>
                  </c:pt>
                  <c:pt idx="14">
                    <c:v>GI600-02</c:v>
                  </c:pt>
                  <c:pt idx="15">
                    <c:v>GI600-01</c:v>
                  </c:pt>
                  <c:pt idx="16">
                    <c:v>GI60-01</c:v>
                  </c:pt>
                  <c:pt idx="17">
                    <c:v>GI1000-01</c:v>
                  </c:pt>
                  <c:pt idx="18">
                    <c:v>GI1600-01</c:v>
                  </c:pt>
                  <c:pt idx="19">
                    <c:v>GI1200-01</c:v>
                  </c:pt>
                </c:lvl>
              </c:multiLvlStrCache>
            </c:multiLvlStrRef>
          </c:cat>
          <c:val>
            <c:numRef>
              <c:f>Sheet1!$B$2:$B$21</c:f>
              <c:numCache>
                <c:formatCode>General</c:formatCode>
                <c:ptCount val="20"/>
                <c:pt idx="0">
                  <c:v>150</c:v>
                </c:pt>
                <c:pt idx="1">
                  <c:v>140</c:v>
                </c:pt>
                <c:pt idx="2">
                  <c:v>130</c:v>
                </c:pt>
                <c:pt idx="3">
                  <c:v>84</c:v>
                </c:pt>
                <c:pt idx="4">
                  <c:v>75</c:v>
                </c:pt>
                <c:pt idx="5">
                  <c:v>69</c:v>
                </c:pt>
                <c:pt idx="6">
                  <c:v>62</c:v>
                </c:pt>
                <c:pt idx="7">
                  <c:v>60</c:v>
                </c:pt>
                <c:pt idx="8">
                  <c:v>60</c:v>
                </c:pt>
                <c:pt idx="9">
                  <c:v>56</c:v>
                </c:pt>
                <c:pt idx="10">
                  <c:v>56</c:v>
                </c:pt>
                <c:pt idx="11">
                  <c:v>54</c:v>
                </c:pt>
                <c:pt idx="12">
                  <c:v>54</c:v>
                </c:pt>
                <c:pt idx="13">
                  <c:v>50</c:v>
                </c:pt>
                <c:pt idx="14">
                  <c:v>48</c:v>
                </c:pt>
                <c:pt idx="15">
                  <c:v>46</c:v>
                </c:pt>
                <c:pt idx="16">
                  <c:v>44</c:v>
                </c:pt>
                <c:pt idx="17">
                  <c:v>36</c:v>
                </c:pt>
                <c:pt idx="18">
                  <c:v>30</c:v>
                </c:pt>
                <c:pt idx="19">
                  <c:v>20</c:v>
                </c:pt>
              </c:numCache>
            </c:numRef>
          </c:val>
        </c:ser>
        <c:dLbls>
          <c:numFmt formatCode="#,##0" sourceLinked="0"/>
          <c:txPr>
            <a:bodyPr/>
            <a:lstStyle/>
            <a:p>
              <a:pPr>
                <a:defRPr b="1" i="0" strike="noStrike" sz="900" u="none">
                  <a:solidFill>
                    <a:srgbClr val="334155"/>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GI500-16 (MTBF 145,3 h)</c:v>
                </c:pt>
              </c:strCache>
            </c:strRef>
          </c:tx>
          <c:spPr>
            <a:solidFill>
              <a:srgbClr val="B45309"/>
            </a:solidFill>
            <a:ln w="31750" cap="flat">
              <a:solidFill>
                <a:srgbClr val="B45309"/>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B45309"/>
              </a:solidFill>
              <a:ln w="9525" cap="flat">
                <a:solidFill>
                  <a:srgbClr val="B45309"/>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Sheet1!$B$2:$B$12</c:f>
              <c:numCache>
                <c:formatCode>General</c:formatCode>
                <c:ptCount val="11"/>
                <c:pt idx="0">
                  <c:v>1</c:v>
                </c:pt>
                <c:pt idx="1">
                  <c:v>0.5025</c:v>
                </c:pt>
                <c:pt idx="2">
                  <c:v>0.2525</c:v>
                </c:pt>
                <c:pt idx="3">
                  <c:v>0.1269</c:v>
                </c:pt>
                <c:pt idx="4">
                  <c:v>0.0637</c:v>
                </c:pt>
                <c:pt idx="5">
                  <c:v>0.032</c:v>
                </c:pt>
                <c:pt idx="6">
                  <c:v>0.0161</c:v>
                </c:pt>
                <c:pt idx="7">
                  <c:v>0.0081</c:v>
                </c:pt>
                <c:pt idx="8">
                  <c:v>0.0041</c:v>
                </c:pt>
                <c:pt idx="9">
                  <c:v>0.002</c:v>
                </c:pt>
                <c:pt idx="10">
                  <c:v>0.001</c:v>
                </c:pt>
              </c:numCache>
            </c:numRef>
          </c:val>
          <c:smooth val="1"/>
        </c:ser>
        <c:ser>
          <c:idx val="1"/>
          <c:order val="1"/>
          <c:tx>
            <c:strRef>
              <c:f>Sheet1!$C$1</c:f>
              <c:strCache>
                <c:ptCount val="1"/>
                <c:pt idx="0">
                  <c:v>GI500-19 (MTBF 245,0 h)</c:v>
                </c:pt>
              </c:strCache>
            </c:strRef>
          </c:tx>
          <c:spPr>
            <a:solidFill>
              <a:srgbClr val="1E3A8A"/>
            </a:solidFill>
            <a:ln w="31750" cap="flat">
              <a:solidFill>
                <a:srgbClr val="1E3A8A"/>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1E3A8A"/>
              </a:solidFill>
              <a:ln w="9525" cap="flat">
                <a:solidFill>
                  <a:srgbClr val="1E3A8A"/>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Sheet1!$C$2:$C$12</c:f>
              <c:numCache>
                <c:formatCode>General</c:formatCode>
                <c:ptCount val="11"/>
                <c:pt idx="0">
                  <c:v>1</c:v>
                </c:pt>
                <c:pt idx="1">
                  <c:v>0.6649</c:v>
                </c:pt>
                <c:pt idx="2">
                  <c:v>0.4421</c:v>
                </c:pt>
                <c:pt idx="3">
                  <c:v>0.2939</c:v>
                </c:pt>
                <c:pt idx="4">
                  <c:v>0.1954</c:v>
                </c:pt>
                <c:pt idx="5">
                  <c:v>0.1299</c:v>
                </c:pt>
                <c:pt idx="6">
                  <c:v>0.0864</c:v>
                </c:pt>
                <c:pt idx="7">
                  <c:v>0.0574</c:v>
                </c:pt>
                <c:pt idx="8">
                  <c:v>0.0382</c:v>
                </c:pt>
                <c:pt idx="9">
                  <c:v>0.0254</c:v>
                </c:pt>
                <c:pt idx="10">
                  <c:v>0.0169</c:v>
                </c:pt>
              </c:numCache>
            </c:numRef>
          </c:val>
          <c:smooth val="1"/>
        </c:ser>
        <c:ser>
          <c:idx val="2"/>
          <c:order val="2"/>
          <c:tx>
            <c:strRef>
              <c:f>Sheet1!$D$1</c:f>
              <c:strCache>
                <c:ptCount val="1"/>
                <c:pt idx="0">
                  <c:v>GI500-20 (MTBF 152,8 h)</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c:symbol val="none"/>
            <c:size val="6"/>
            <c:spPr>
              <a:solidFill>
                <a:srgbClr val="94A3B8"/>
              </a:solidFill>
              <a:ln w="9525" cap="flat">
                <a:solidFill>
                  <a:srgbClr val="94A3B8"/>
                </a:solidFill>
                <a:prstDash val="solid"/>
                <a:round/>
              </a:ln>
              <a:effectLst/>
            </c:spPr>
          </c:marker>
          <c:cat>
            <c:multiLvlStrRef>
              <c:f>Sheet1!$A$2:$A$12</c:f>
              <c:multiLvlStrCache>
                <c:ptCount val="11"/>
                <c:lvl>
                  <c:pt idx="0">
                    <c:v>0</c:v>
                  </c:pt>
                  <c:pt idx="1">
                    <c:v>100</c:v>
                  </c:pt>
                  <c:pt idx="2">
                    <c:v>200</c:v>
                  </c:pt>
                  <c:pt idx="3">
                    <c:v>300</c:v>
                  </c:pt>
                  <c:pt idx="4">
                    <c:v>400</c:v>
                  </c:pt>
                  <c:pt idx="5">
                    <c:v>500</c:v>
                  </c:pt>
                  <c:pt idx="6">
                    <c:v>600</c:v>
                  </c:pt>
                  <c:pt idx="7">
                    <c:v>700</c:v>
                  </c:pt>
                  <c:pt idx="8">
                    <c:v>800</c:v>
                  </c:pt>
                  <c:pt idx="9">
                    <c:v>900</c:v>
                  </c:pt>
                  <c:pt idx="10">
                    <c:v>1000</c:v>
                  </c:pt>
                </c:lvl>
              </c:multiLvlStrCache>
            </c:multiLvlStrRef>
          </c:cat>
          <c:val>
            <c:numRef>
              <c:f>Sheet1!$D$2:$D$12</c:f>
              <c:numCache>
                <c:formatCode>General</c:formatCode>
                <c:ptCount val="11"/>
                <c:pt idx="0">
                  <c:v>1</c:v>
                </c:pt>
                <c:pt idx="1">
                  <c:v>0.5197</c:v>
                </c:pt>
                <c:pt idx="2">
                  <c:v>0.2701</c:v>
                </c:pt>
                <c:pt idx="3">
                  <c:v>0.1404</c:v>
                </c:pt>
                <c:pt idx="4">
                  <c:v>0.073</c:v>
                </c:pt>
                <c:pt idx="5">
                  <c:v>0.0379</c:v>
                </c:pt>
                <c:pt idx="6">
                  <c:v>0.0197</c:v>
                </c:pt>
                <c:pt idx="7">
                  <c:v>0.0102</c:v>
                </c:pt>
                <c:pt idx="8">
                  <c:v>0.0053</c:v>
                </c:pt>
                <c:pt idx="9">
                  <c:v>0.0028</c:v>
                </c:pt>
                <c:pt idx="10">
                  <c:v>0.0014</c:v>
                </c:pt>
              </c:numCache>
            </c:numRef>
          </c:val>
          <c:smooth val="1"/>
        </c:ser>
        <c:dLbls>
          <c:numFmt formatCode="#,##0" sourceLinked="0"/>
          <c:txPr>
            <a:bodyPr/>
            <a:lstStyle/>
            <a:p>
              <a:pPr>
                <a:defRPr b="1" i="0" strike="noStrike" sz="1100" u="none">
                  <a:solidFill>
                    <a:srgbClr val="334155"/>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4748B"/>
                    </a:solidFill>
                    <a:latin typeface="Calibri"/>
                  </a:defRPr>
                </a:pPr>
                <a:r>
                  <a:rPr sz="1000" b="0" i="0" u="none" strike="noStrike">
                    <a:solidFill>
                      <a:srgbClr val="64748B"/>
                    </a:solidFill>
                    <a:latin typeface="Calibri"/>
                  </a:rPr>
                  <a:t>Horas de operación</a:t>
                </a:r>
              </a:p>
            </c:rich>
          </c:tx>
          <c:layout/>
          <c:overlay val="0"/>
        </c:title>
        <c:numFmt formatCode="General" sourceLinked="1"/>
        <c:majorTickMark val="out"/>
        <c:minorTickMark val="none"/>
        <c:tickLblPos val="low"/>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 condición</c:v>
                </c:pt>
              </c:strCache>
            </c:strRef>
          </c:tx>
          <c:spPr>
            <a:solidFill>
              <a:srgbClr val="B45309"/>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Sheet1!$B$2:$B$6</c:f>
              <c:numCache>
                <c:formatCode>General</c:formatCode>
                <c:ptCount val="5"/>
                <c:pt idx="0">
                  <c:v>11</c:v>
                </c:pt>
                <c:pt idx="1">
                  <c:v>11</c:v>
                </c:pt>
                <c:pt idx="2">
                  <c:v>11</c:v>
                </c:pt>
                <c:pt idx="3">
                  <c:v>2</c:v>
                </c:pt>
                <c:pt idx="4">
                  <c:v>4</c:v>
                </c:pt>
              </c:numCache>
            </c:numRef>
          </c:val>
        </c:ser>
        <c:ser>
          <c:idx val="1"/>
          <c:order val="1"/>
          <c:tx>
            <c:strRef>
              <c:f>Sheet1!$C$1</c:f>
              <c:strCache>
                <c:ptCount val="1"/>
                <c:pt idx="0">
                  <c:v>Reacondicionamiento cíclico</c:v>
                </c:pt>
              </c:strCache>
            </c:strRef>
          </c:tx>
          <c:spPr>
            <a:solidFill>
              <a:srgbClr val="1E3A8A"/>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Sheet1!$C$2:$C$6</c:f>
              <c:numCache>
                <c:formatCode>General</c:formatCode>
                <c:ptCount val="5"/>
                <c:pt idx="0">
                  <c:v>1</c:v>
                </c:pt>
                <c:pt idx="1">
                  <c:v>1</c:v>
                </c:pt>
                <c:pt idx="2">
                  <c:v>0</c:v>
                </c:pt>
                <c:pt idx="3">
                  <c:v>8</c:v>
                </c:pt>
                <c:pt idx="4">
                  <c:v>1</c:v>
                </c:pt>
              </c:numCache>
            </c:numRef>
          </c:val>
        </c:ser>
        <c:ser>
          <c:idx val="2"/>
          <c:order val="2"/>
          <c:tx>
            <c:strRef>
              <c:f>Sheet1!$D$1</c:f>
              <c:strCache>
                <c:ptCount val="1"/>
                <c:pt idx="0">
                  <c:v>Sustitución cíclica</c:v>
                </c:pt>
              </c:strCache>
            </c:strRef>
          </c:tx>
          <c:spPr>
            <a:solidFill>
              <a:srgbClr val="4F6BB0"/>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Sheet1!$D$2:$D$6</c:f>
              <c:numCache>
                <c:formatCode>General</c:formatCode>
                <c:ptCount val="5"/>
                <c:pt idx="0">
                  <c:v>7</c:v>
                </c:pt>
                <c:pt idx="1">
                  <c:v>1</c:v>
                </c:pt>
                <c:pt idx="2">
                  <c:v>1</c:v>
                </c:pt>
                <c:pt idx="3">
                  <c:v>0</c:v>
                </c:pt>
                <c:pt idx="4">
                  <c:v>3</c:v>
                </c:pt>
              </c:numCache>
            </c:numRef>
          </c:val>
        </c:ser>
        <c:ser>
          <c:idx val="3"/>
          <c:order val="3"/>
          <c:tx>
            <c:strRef>
              <c:f>Sheet1!$E$1</c:f>
              <c:strCache>
                <c:ptCount val="1"/>
                <c:pt idx="0">
                  <c:v>A falta de / sin marcar</c:v>
                </c:pt>
              </c:strCache>
            </c:strRef>
          </c:tx>
          <c:spPr>
            <a:solidFill>
              <a:srgbClr val="CBD5E1"/>
            </a:solidFill>
            <a:effectLst/>
          </c:spPr>
          <c:invertIfNegative val="0"/>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Admisión de aire (19)</c:v>
                  </c:pt>
                  <c:pt idx="1">
                    <c:v>Lubricación (14)</c:v>
                  </c:pt>
                  <c:pt idx="2">
                    <c:v>Combustible (14)</c:v>
                  </c:pt>
                  <c:pt idx="3">
                    <c:v>Refrigeración (11)</c:v>
                  </c:pt>
                  <c:pt idx="4">
                    <c:v>Control (EMS2) (9)</c:v>
                  </c:pt>
                </c:lvl>
              </c:multiLvlStrCache>
            </c:multiLvlStrRef>
          </c:cat>
          <c:val>
            <c:numRef>
              <c:f>Sheet1!$E$2:$E$6</c:f>
              <c:numCache>
                <c:formatCode>General</c:formatCode>
                <c:ptCount val="5"/>
                <c:pt idx="0">
                  <c:v>0</c:v>
                </c:pt>
                <c:pt idx="1">
                  <c:v>1</c:v>
                </c:pt>
                <c:pt idx="2">
                  <c:v>2</c:v>
                </c:pt>
                <c:pt idx="3">
                  <c:v>1</c:v>
                </c:pt>
                <c:pt idx="4">
                  <c:v>1</c:v>
                </c:pt>
              </c:numCache>
            </c:numRef>
          </c:val>
        </c:ser>
        <c:dLbls>
          <c:numFmt formatCode="0;;;" sourceLinked="0"/>
          <c:txPr>
            <a:bodyPr/>
            <a:lstStyle/>
            <a:p>
              <a:pPr>
                <a:defRPr b="1" i="0" strike="noStrike" sz="10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Diario o por jornada</c:v>
                  </c:pt>
                  <c:pt idx="1">
                    <c:v>Hasta 250 h (semanal a mensual)</c:v>
                  </c:pt>
                  <c:pt idx="2">
                    <c:v>300 a 1 000 h</c:v>
                  </c:pt>
                  <c:pt idx="3">
                    <c:v>1 500 h o más</c:v>
                  </c:pt>
                  <c:pt idx="4">
                    <c:v>A condición (por umbral)</c:v>
                  </c:pt>
                  <c:pt idx="5">
                    <c:v>Tras cada servicio</c:v>
                  </c:pt>
                </c:lvl>
              </c:multiLvlStrCache>
            </c:multiLvlStrRef>
          </c:cat>
          <c:val>
            <c:numRef>
              <c:f>Sheet1!$B$2:$B$7</c:f>
              <c:numCache>
                <c:formatCode>General</c:formatCode>
                <c:ptCount val="6"/>
                <c:pt idx="0">
                  <c:v>2</c:v>
                </c:pt>
                <c:pt idx="1">
                  <c:v>32</c:v>
                </c:pt>
                <c:pt idx="2">
                  <c:v>24</c:v>
                </c:pt>
                <c:pt idx="3">
                  <c:v>7</c:v>
                </c:pt>
                <c:pt idx="4">
                  <c:v>1</c:v>
                </c:pt>
                <c:pt idx="5">
                  <c:v>1</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3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1E3A8A"/>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1E3A8A"/>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cat>
            <c:multiLvlStrRef>
              <c:f>Sheet1!$A$2:$A$5</c:f>
              <c:multiLvlStrCache>
                <c:ptCount val="4"/>
                <c:lvl>
                  <c:pt idx="0">
                    <c:v>Técnico electromecánico</c:v>
                  </c:pt>
                  <c:pt idx="1">
                    <c:v>Operario</c:v>
                  </c:pt>
                  <c:pt idx="2">
                    <c:v>Servicios externos</c:v>
                  </c:pt>
                  <c:pt idx="3">
                    <c:v>Personal predictivo</c:v>
                  </c:pt>
                </c:lvl>
              </c:multiLvlStrCache>
            </c:multiLvlStrRef>
          </c:cat>
          <c:val>
            <c:numRef>
              <c:f>Sheet1!$B$2:$B$5</c:f>
              <c:numCache>
                <c:formatCode>General</c:formatCode>
                <c:ptCount val="4"/>
                <c:pt idx="0">
                  <c:v>44</c:v>
                </c:pt>
                <c:pt idx="1">
                  <c:v>13</c:v>
                </c:pt>
                <c:pt idx="2">
                  <c:v>9</c:v>
                </c:pt>
                <c:pt idx="3">
                  <c:v>1</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5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Actividades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Técnico electromecánico</c:v>
                  </c:pt>
                  <c:pt idx="1">
                    <c:v>Operario</c:v>
                  </c:pt>
                  <c:pt idx="2">
                    <c:v>Planner de planta</c:v>
                  </c:pt>
                  <c:pt idx="3">
                    <c:v>Servicios externos</c:v>
                  </c:pt>
                  <c:pt idx="4">
                    <c:v>Personal predictivo</c:v>
                  </c:pt>
                  <c:pt idx="5">
                    <c:v>Jefe de taller</c:v>
                  </c:pt>
                </c:lvl>
              </c:multiLvlStrCache>
            </c:multiLvlStrRef>
          </c:cat>
          <c:val>
            <c:numRef>
              <c:f>Sheet1!$B$2:$B$7</c:f>
              <c:numCache>
                <c:formatCode>General</c:formatCode>
                <c:ptCount val="6"/>
                <c:pt idx="0">
                  <c:v>67</c:v>
                </c:pt>
                <c:pt idx="1">
                  <c:v>21</c:v>
                </c:pt>
                <c:pt idx="2">
                  <c:v>7</c:v>
                </c:pt>
                <c:pt idx="3">
                  <c:v>12</c:v>
                </c:pt>
                <c:pt idx="4">
                  <c:v>6</c:v>
                </c:pt>
                <c:pt idx="5">
                  <c:v>4</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B45309"/>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B45309"/>
              </a:solidFill>
              <a:effectLst/>
            </c:spPr>
          </c:dPt>
          <c:dPt>
            <c:idx val="3"/>
            <c:invertIfNegative val="0"/>
            <c:bubble3D val="0"/>
            <c:spPr>
              <a:solidFill>
                <a:srgbClr val="94A3B8"/>
              </a:solidFill>
              <a:effectLst/>
            </c:spPr>
          </c:dPt>
          <c:dPt>
            <c:idx val="4"/>
            <c:invertIfNegative val="0"/>
            <c:bubble3D val="0"/>
            <c:spPr>
              <a:solidFill>
                <a:srgbClr val="94A3B8"/>
              </a:solidFill>
              <a:effectLst/>
            </c:spPr>
          </c:dPt>
          <c:cat>
            <c:multiLvlStrRef>
              <c:f>Sheet1!$A$2:$A$6</c:f>
              <c:multiLvlStrCache>
                <c:ptCount val="5"/>
                <c:lvl>
                  <c:pt idx="0">
                    <c:v>Medición mecánica, térmica y de fluidos (19)</c:v>
                  </c:pt>
                  <c:pt idx="1">
                    <c:v>Medición eléctrica (10)</c:v>
                  </c:pt>
                  <c:pt idx="2">
                    <c:v>Diagnóstico electrónico (6)</c:v>
                  </c:pt>
                  <c:pt idx="3">
                    <c:v>Herramientas e insumos (45)</c:v>
                  </c:pt>
                  <c:pt idx="4">
                    <c:v>Repuestos (11)</c:v>
                  </c:pt>
                </c:lvl>
              </c:multiLvlStrCache>
            </c:multiLvlStrRef>
          </c:cat>
          <c:val>
            <c:numRef>
              <c:f>Sheet1!$B$2:$B$6</c:f>
              <c:numCache>
                <c:formatCode>General</c:formatCode>
                <c:ptCount val="5"/>
                <c:pt idx="0">
                  <c:v>17170</c:v>
                </c:pt>
                <c:pt idx="1">
                  <c:v>15960</c:v>
                </c:pt>
                <c:pt idx="2">
                  <c:v>13400</c:v>
                </c:pt>
                <c:pt idx="3">
                  <c:v>4589</c:v>
                </c:pt>
                <c:pt idx="4">
                  <c:v>3590</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21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B45309"/>
            </a:solidFill>
            <a:effectLst/>
          </c:spPr>
          <c:invertIfNegative val="0"/>
          <c:dLbls>
            <c:numFmt formatCode="#,##0" sourceLinked="0"/>
            <c:txPr>
              <a:bodyPr/>
              <a:lstStyle/>
              <a:p>
                <a:pPr>
                  <a:defRPr b="1" i="0" strike="noStrike" sz="10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309"/>
              </a:solidFill>
              <a:effectLst/>
            </c:spPr>
          </c:dPt>
          <c:dPt>
            <c:idx val="1"/>
            <c:invertIfNegative val="0"/>
            <c:bubble3D val="0"/>
            <c:spPr>
              <a:solidFill>
                <a:srgbClr val="B45309"/>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dPt>
            <c:idx val="7"/>
            <c:invertIfNegative val="0"/>
            <c:bubble3D val="0"/>
            <c:spPr>
              <a:solidFill>
                <a:srgbClr val="94A3B8"/>
              </a:solidFill>
              <a:effectLst/>
            </c:spPr>
          </c:dPt>
          <c:dPt>
            <c:idx val="8"/>
            <c:invertIfNegative val="0"/>
            <c:bubble3D val="0"/>
            <c:spPr>
              <a:solidFill>
                <a:srgbClr val="94A3B8"/>
              </a:solidFill>
              <a:effectLst/>
            </c:spPr>
          </c:dPt>
          <c:dPt>
            <c:idx val="9"/>
            <c:invertIfNegative val="0"/>
            <c:bubble3D val="0"/>
            <c:spPr>
              <a:solidFill>
                <a:srgbClr val="94A3B8"/>
              </a:solidFill>
              <a:effectLst/>
            </c:spPr>
          </c:dPt>
          <c:cat>
            <c:multiLvlStrRef>
              <c:f>Sheet1!$A$2:$A$11</c:f>
              <c:multiLvlStrCache>
                <c:ptCount val="10"/>
                <c:lvl>
                  <c:pt idx="0">
                    <c:v>Analizador de armónicos (×2)</c:v>
                  </c:pt>
                  <c:pt idx="1">
                    <c:v>Scanner VODIA (×5)</c:v>
                  </c:pt>
                  <c:pt idx="2">
                    <c:v>Megóhmetro (×4)</c:v>
                  </c:pt>
                  <c:pt idx="3">
                    <c:v>Analizador de vibraciones (×2)</c:v>
                  </c:pt>
                  <c:pt idx="4">
                    <c:v>Contador láser de partículas (×1)</c:v>
                  </c:pt>
                  <c:pt idx="5">
                    <c:v>PC con VODIA (×3)</c:v>
                  </c:pt>
                  <c:pt idx="6">
                    <c:v>Banco de pruebas de inyectores (×1)</c:v>
                  </c:pt>
                  <c:pt idx="7">
                    <c:v>Cámara termográfica (×1)</c:v>
                  </c:pt>
                  <c:pt idx="8">
                    <c:v>Micro-ohmímetro 100 A (×1)</c:v>
                  </c:pt>
                  <c:pt idx="9">
                    <c:v>Turbocompresor nuevo (×1)</c:v>
                  </c:pt>
                </c:lvl>
              </c:multiLvlStrCache>
            </c:multiLvlStrRef>
          </c:cat>
          <c:val>
            <c:numRef>
              <c:f>Sheet1!$B$2:$B$11</c:f>
              <c:numCache>
                <c:formatCode>General</c:formatCode>
                <c:ptCount val="10"/>
                <c:pt idx="0">
                  <c:v>6000</c:v>
                </c:pt>
                <c:pt idx="1">
                  <c:v>6000</c:v>
                </c:pt>
                <c:pt idx="2">
                  <c:v>4800</c:v>
                </c:pt>
                <c:pt idx="3">
                  <c:v>3600</c:v>
                </c:pt>
                <c:pt idx="4">
                  <c:v>3500</c:v>
                </c:pt>
                <c:pt idx="5">
                  <c:v>3000</c:v>
                </c:pt>
                <c:pt idx="6">
                  <c:v>2500</c:v>
                </c:pt>
                <c:pt idx="7">
                  <c:v>2500</c:v>
                </c:pt>
                <c:pt idx="8">
                  <c:v>2500</c:v>
                </c:pt>
                <c:pt idx="9">
                  <c:v>1800</c:v>
                </c:pt>
              </c:numCache>
            </c:numRef>
          </c:val>
        </c:ser>
        <c:dLbls>
          <c:numFmt formatCode="#,##0" sourceLinked="0"/>
          <c:txPr>
            <a:bodyPr/>
            <a:lstStyle/>
            <a:p>
              <a:pPr>
                <a:defRPr b="1" i="0" strike="noStrike" sz="1000" u="none">
                  <a:solidFill>
                    <a:srgbClr val="334155"/>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72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2019–2022</c:v>
                </c:pt>
              </c:strCache>
            </c:strRef>
          </c:tx>
          <c:spPr>
            <a:solidFill>
              <a:srgbClr val="94A3B8"/>
            </a:solidFill>
            <a:effectLst/>
          </c:spPr>
          <c:invertIfNegative val="0"/>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11.5</c:v>
                </c:pt>
                <c:pt idx="1">
                  <c:v>15.8</c:v>
                </c:pt>
                <c:pt idx="2">
                  <c:v>10.9</c:v>
                </c:pt>
              </c:numCache>
            </c:numRef>
          </c:val>
        </c:ser>
        <c:ser>
          <c:idx val="1"/>
          <c:order val="1"/>
          <c:tx>
            <c:strRef>
              <c:f>Sheet1!$C$1</c:f>
              <c:strCache>
                <c:ptCount val="1"/>
                <c:pt idx="0">
                  <c:v>Objetivo RCM</c:v>
                </c:pt>
              </c:strCache>
            </c:strRef>
          </c:tx>
          <c:spPr>
            <a:solidFill>
              <a:srgbClr val="B45309"/>
            </a:solidFill>
            <a:effectLst/>
          </c:spPr>
          <c:invertIfNegative val="0"/>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5.49</c:v>
                </c:pt>
                <c:pt idx="1">
                  <c:v>8</c:v>
                </c:pt>
                <c:pt idx="2">
                  <c:v>5</c:v>
                </c:pt>
              </c:numCache>
            </c:numRef>
          </c:val>
        </c:ser>
        <c:dLbls>
          <c:numFmt formatCode="0.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2019–2022</c:v>
                </c:pt>
              </c:strCache>
            </c:strRef>
          </c:tx>
          <c:spPr>
            <a:solidFill>
              <a:srgbClr val="94A3B8"/>
            </a:solidFill>
            <a:effectLst/>
          </c:spPr>
          <c:invertIfNegative val="0"/>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Sheet1!$B$2:$B$4</c:f>
              <c:numCache>
                <c:formatCode>General</c:formatCode>
                <c:ptCount val="3"/>
                <c:pt idx="0">
                  <c:v>145.3</c:v>
                </c:pt>
                <c:pt idx="1">
                  <c:v>245</c:v>
                </c:pt>
                <c:pt idx="2">
                  <c:v>152.8</c:v>
                </c:pt>
              </c:numCache>
            </c:numRef>
          </c:val>
        </c:ser>
        <c:ser>
          <c:idx val="1"/>
          <c:order val="1"/>
          <c:tx>
            <c:strRef>
              <c:f>Sheet1!$C$1</c:f>
              <c:strCache>
                <c:ptCount val="1"/>
                <c:pt idx="0">
                  <c:v>Objetivo RCM</c:v>
                </c:pt>
              </c:strCache>
            </c:strRef>
          </c:tx>
          <c:spPr>
            <a:solidFill>
              <a:srgbClr val="B45309"/>
            </a:solidFill>
            <a:effectLst/>
          </c:spPr>
          <c:invertIfNegative val="0"/>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GI500-16</c:v>
                  </c:pt>
                  <c:pt idx="1">
                    <c:v>GI500-19</c:v>
                  </c:pt>
                  <c:pt idx="2">
                    <c:v>GI500-20</c:v>
                  </c:pt>
                </c:lvl>
              </c:multiLvlStrCache>
            </c:multiLvlStrRef>
          </c:cat>
          <c:val>
            <c:numRef>
              <c:f>Sheet1!$C$2:$C$4</c:f>
              <c:numCache>
                <c:formatCode>General</c:formatCode>
                <c:ptCount val="3"/>
                <c:pt idx="0">
                  <c:v>250</c:v>
                </c:pt>
                <c:pt idx="1">
                  <c:v>250</c:v>
                </c:pt>
                <c:pt idx="2">
                  <c:v>220</c:v>
                </c:pt>
              </c:numCache>
            </c:numRef>
          </c:val>
        </c:ser>
        <c:dLbls>
          <c:numFmt formatCode="0" sourceLinked="0"/>
          <c:txPr>
            <a:bodyPr/>
            <a:lstStyle/>
            <a:p>
              <a:pPr>
                <a:defRPr b="1" i="0" strike="noStrike" sz="1050" u="none">
                  <a:solidFill>
                    <a:srgbClr val="33415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c:v>
                </c:pt>
              </c:strCache>
            </c:strRef>
          </c:tx>
          <c:spPr>
            <a:solidFill>
              <a:srgbClr val="94A3B8"/>
            </a:solidFill>
            <a:effectLst/>
          </c:spPr>
          <c:invertIfNegative val="0"/>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E3A8A"/>
              </a:solidFill>
              <a:effectLst/>
            </c:spPr>
          </c:dPt>
          <c:dPt>
            <c:idx val="2"/>
            <c:invertIfNegative val="0"/>
            <c:bubble3D val="0"/>
            <c:spPr>
              <a:solidFill>
                <a:srgbClr val="1E3A8A"/>
              </a:solidFill>
              <a:effectLst/>
            </c:spPr>
          </c:dPt>
          <c:dPt>
            <c:idx val="3"/>
            <c:invertIfNegative val="0"/>
            <c:bubble3D val="0"/>
            <c:spPr>
              <a:solidFill>
                <a:srgbClr val="B45309"/>
              </a:solidFill>
              <a:effectLst/>
            </c:spPr>
          </c:dPt>
          <c:cat>
            <c:multiLvlStrRef>
              <c:f>Sheet1!$A$2:$A$5</c:f>
              <c:multiLvlStrCache>
                <c:ptCount val="4"/>
                <c:lvl>
                  <c:pt idx="0">
                    <c:v>Inversión en herramientas e insumos</c:v>
                  </c:pt>
                  <c:pt idx="1">
                    <c:v>Ahorro por horas recuperadas</c:v>
                  </c:pt>
                  <c:pt idx="2">
                    <c:v>Ahorro por eventos evitados</c:v>
                  </c:pt>
                  <c:pt idx="3">
                    <c:v>Beneficio total anual</c:v>
                  </c:pt>
                </c:lvl>
              </c:multiLvlStrCache>
            </c:multiLvlStrRef>
          </c:cat>
          <c:val>
            <c:numRef>
              <c:f>Sheet1!$B$2:$B$5</c:f>
              <c:numCache>
                <c:formatCode>General</c:formatCode>
                <c:ptCount val="4"/>
                <c:pt idx="0">
                  <c:v>54709</c:v>
                </c:pt>
                <c:pt idx="1">
                  <c:v>220400</c:v>
                </c:pt>
                <c:pt idx="2">
                  <c:v>11910</c:v>
                </c:pt>
                <c:pt idx="3">
                  <c:v>232310</c:v>
                </c:pt>
              </c:numCache>
            </c:numRef>
          </c:val>
        </c:ser>
        <c:dLbls>
          <c:numFmt formatCode="#,##0" sourceLinked="0"/>
          <c:txPr>
            <a:bodyPr/>
            <a:lstStyle/>
            <a:p>
              <a:pPr>
                <a:defRPr b="1" i="0" strike="noStrike" sz="11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29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0:30]
GUION (≈ 25 s · 59 palabras)
«Buenos días, señores miembros del jurado. Soy Nilthon Chite Vilca y presento la tesis "Implementación de la metodología RCM para la reducción de fallas y maximización de la disponibilidad operativa del grupo electrógeno Rivera Diesel de 500 kW, Moquegua 2024", asesorada por el magíster Erick Araca Berrios. En pocas palabras: cómo dejar de reparar fallas y empezar a prevenirlas.»
TRANSICIÓN → El problema.
QUÉ ES HECHO, CÁLCULO Y PROYECCIÓN
• Hechos de la tesis: título, autor y asesor (portada de la tesis).
• Cálculos propios: ninguno.
• Proyección: ninguna.
ADVERTENCIAS PARA DEFENDER
• La foto es un equipo Rivera Diesel de la flota (RCS 228), no uno de los tres estudiados.
PLAN DE ANIMACIONES (no implementado; Animaciones → «Al hacer clic»)
1. Sin animaciones.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GUION (≈ 50 s · 111 palabras)
[Señala las tres cifras.]
«La empresa alquila grupos electrógenos a la minería. Sus tres grupos más críticos, de 500 kW, tuvieron 113 fallas en cuatro años. Por eso estuvieron disponibles entre 92,7 y 93,9 % del tiempo, cuando la meta es 97 %. Y solo en uno de ellos las fallas costaron más de 17 750 dólares.
[Señala las causas.]
¿Por qué pasa esto? Primero, porque se repara cuando el equipo ya falló. Segundo, porque se sacan piezas de un equipo para reparar otro, lo que se llama canibalización. Y tercero, porque las fallas se registran tarde y no se analizan.
[Banda.]
Mi propuesta es aplicar el mantenimiento centrado en la confiabilidad, RCM, para prevenir en vez de reparar.»
TRANSICIÓN → Objetivos.
QUÉ ES HECHO, CÁLCULO Y PROYECCIÓN
• Hechos de la tesis: 113 fallas (43 + 49 + 21); D 92,65–93,94 %; meta 97 %; US$ 15 000 + US$ 2 752 (GI500-19); canibalización, registros hasta 30 días después, análisis de falla omitido (Cap. I y IV).
• Cálculos propios: 113 = 43 + 49 + 21; rango redondeado.
• Proyección: ninguna.
ADVERTENCIAS PARA DEFENDER
• No cites las «172 horas» del Cap. I: no cuadran con 49 × 15,8 ≈ 774 h.
PREGUNTAS PROBABLES DEL JURADO
1. «¿Qué es la canibalización?» → Retirar componentes de un equipo para reparar otro; vuelven en peor estado y causan nuevas fallas.
PLAN DE ANIMACIONES (no implementado; Animaciones → «Al hacer clic»)
1. Cifras al entrar.
2. Clic 1: foto y causas.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0:50]
GUION (≈ 35 s · 75 palabras)
«Mi objetivo general es implementar la metodología RCM para reducir las fallas del grupo electrógeno de 500 kW y maximizar su disponibilidad.
[Señala OE1.]
Para lograrlo, primero apliqué el RCM para identificar las fallas críticas, con el análisis de modos y efectos de falla y el árbol de decisiones.
[Señala OE2.]
Luego determiné cuánto mejora la disponibilidad con un plan basado en confiabilidad.
[Banda.]
Mi hipótesis es que con RCM sí es posible reducir las fallas y maximizar la disponibilidad.»
TRANSICIÓN → Cómo lo investigué.
QUÉ ES HECHO, CÁLCULO Y PROYECCIÓN
• Hechos de la tesis: objetivos e hipótesis del Cap. I (resumidos sin cambiar su sentido).
• Cálculos propios: ninguno.
• Proyección: ninguna.
ADVERTENCIAS PARA DEFENDER
• Si preguntan por la hipótesis b) «significativamente»: no hubo prueba estadística; es mejora práctica proyectada.
PLAN DE ANIMACIONES (no implementado; Animaciones → «Al hacer clic»)
1. Objetivo general al entrar.
2. Clic 1: OE1.
3. Clic 2: OE2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0:55]
GUION (≈ 50 s · 105 palabras)
[Señala las fichas.]
«La investigación es aplicada, porque resuelve un problema real; cuantitativa, porque trabaja con datos numéricos; y no experimental, porque observé la situación sin intervenir los equipos. De los 20 grupos de la empresa, estudié los 3 más críticos.
[Recorre los pasos.]
Trabajé en seis pasos: diagnóstico de los equipos; selección de los críticos; identificación de dónde fallan; priorización de las fallas con el AMEF; elección de la tarea para cada falla con el árbol de decisiones; y finalmente el plan y sus resultados.
[Banda.]
Usé datos reales de la empresa de 2019 a 2022. Los resultados del plan son proyectados: el plan se diseñó, pero aún no se ejecuta.»
TRANSICIÓN → Conceptos clave.
QUÉ ES HECHO, CÁLCULO Y PROYECCIÓN
• Hechos de la tesis: tipo aplicada, enfoque cuantitativo, diseño no experimental (3.2), población 20 y muestra 3, técnicas (Cap. III).
• Cálculos propios: ninguno.
• Proyección: ninguna.
ADVERTENCIAS PARA DEFENDER
• La tesis dice «cuasi-experimental» en 3.1.1: es un error de redacción; sostén «no experimental» (3.2).
PLAN DE ANIMACIONES (no implementado; Animaciones → «Al hacer clic»)
1. Fichas al entrar.
2. Clic 1: pasos (Barrido desde la izquierda).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1:10]
GUION (≈ 60 s · 131 palabras)
[Señala la tarjeta RCM.]
«El RCM, o mantenimiento centrado en la confiabilidad, es una metodología de Moubray. No repara por costumbre ni cambia piezas solo por calendario: analiza cómo falla cada componente y elige la tarea que conviene: medir su estado, renovarlo o cambiarlo cada cierto tiempo, o rediseñar.
[Señala los tres indicadores.]
Para medir el resultado uso tres indicadores. El MTBF dice cada cuántas horas falla un equipo. El MTTR, cuánto demora repararlo. Y la disponibilidad combina ambos: es el porcentaje del tiempo en que el equipo está listo para trabajar.
[Señala la fórmula.]
Por ejemplo, el GI500-16 falla cada 145 horas y demora 11,5 en repararse: su disponibilidad es 92,67 %.
[Señala el antecedente y la banda.]
Un estudio similar en alquiler para minería logró subir la disponibilidad 7,48 %. La idea es clara: para subir la disponibilidad hay que fallar menos y reparar más rápido.»
TRANSICIÓN → Diagnóstico.
QUÉ ES HECHO, CÁLCULO Y PROYECCIÓN
• Hechos de la tesis: definición de RCM (Moubray), ecuaciones (2), (3) y (4); antecedente Illesca y Ureta (2024): +7,48 %.
• Cálculos propios: 145,3/156,8 = 92,67 %.
• Proyección: ninguna.
PREGUNTAS PROBABLES DEL JURADO
1. «¿En qué se diferencia el RCM del preventivo?» → El preventivo programa tareas por tiempo; el RCM elige la tarea según cómo falla cada componente y qué consecuencia tiene.
PLAN DE ANIMACIONES (no implementado; Animaciones → «Al hacer clic»)
1. RCM al entrar.
2. Clic 1: indicadores.
3. Clic 2: fórmula y antecedente.
4. Clic 3: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1:00]
GUION (≈ 45 s · 101 palabras)
[Recorre las tres tarjetas.]
«Este es el punto de partida. Ninguno de los tres equipos llega a la meta. El GI500-16 estuvo disponible 92,65 % del tiempo, le faltan 4,4 puntos; tuvo 43 fallas, falla cada 145 horas y demora 11,5 en repararse. El GI500-19 llega a 93,94 %; el GI500-20, a 93,34 %.
[Señala las paradas.]
Algunas paradas fueron muy largas: rebobinar el estator del alternador tomó 120 horas; una bomba de alta presión contaminada con agua, 72.
[Banda.]
Y al revisar el historial encontré un patrón: piezas que se sacan y se reinstalan sin control. El problema no es solo el desgaste; es la forma de mantener.»
TRANSICIÓN → ¿Por qué estos tres equipos?
QUÉ ES HECHO, CÁLCULO Y PROYECCIÓN
• Hechos de la tesis: fallas, D, MTBF y MTTR por equipo; paradas de 120, 96, 72 y 50 h; extracciones sin trazabilidad (Cap. IV, 4.1).
• Cálculos propios: brecha = 97 − D.
• Proyección: ninguna.
ADVERTENCIAS PARA DEFENDER
• 92,65 % (tabla base) vs 92,67 % (ecuación): es redondeo.
PLAN DE ANIMACIONES (no implementado; Animaciones → «Al hacer clic»)
1. Tarjetas al entrar.
2. Clic 1: paradas.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0:55]
GUION (≈ 35 s · 75 palabras)
[Señala el gráfico.]
«¿Por qué estudié estos tres equipos? Porque evalué los 20 grupos de la flota con una matriz de criticidad, que multiplica qué tan seguido falla un equipo por qué tan grave es su falla: tiempo de reparación, impacto en la operación, costo, ambiente y seguridad.
[Señala las barras ámbar.]
Solo tres equipos quedaron en criticidad alta: GI500-19 con 150 puntos, GI500-16 con 140 y GI500-20 con 130. El siguiente apenas llega a 84.
[Banda.]
Esos tres equipos son mi muestra.»
TRANSICIÓN → ¿Dónde fallan?
QUÉ ES HECHO, CÁLCULO Y PROYECCIÓN
• Hechos de la tesis: criticidades de los 20 equipos; rangos 90–200 alta, 40–89 media, 5–39 baja (Cap. II y IV).
• Cálculos propios: conteo por nivel: 3 alta, 14 media, 3 baja.
• Proyección: ninguna.
ADVERTENCIAS PARA DEFENDER
• El texto de la tesis dice «16 consecuencias» para el GI500-20: son 26 (5 × 26 = 130).
• Si piden la fórmula completa: Consecuencia = TPR × impacto operacional + costo + ambiente + seguridad (reconstruida y verificada en los 20 equipos; ver anexo).
PLAN DE ANIMACIONES (no implementado; Animaciones → «Al hacer clic»)
1. Gráfico al entrar.
2. Clic 1: fórmula.
3. Clic 2: niveles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0:45]
GUION (≈ 25 s · 50 palabras)
[Señala el gráfico.]
«Luego busqué dónde fallan. Dividí el equipo en sistemas y conté las fallas. El resultado es claro: el motor diésel tiene 79 de 102 fallas, el 77 %. Le siguen el generador y el control.
[Banda.]
Por eso el análisis detallado empieza por el motor diésel y sigue con el generador.»
TRANSICIÓN → Cómo priorizo las fallas.
QUÉ ES HECHO, CÁLCULO Y PROYECCIÓN
• Hechos de la tesis: 79, 8, 7, 5, 2, 1 fallas por sistema (Pareto 2021–2022).
• Cálculos propios: 79/102 = 77 %; 94/102 = 92 %.
• Proyección: ninguna.
ADVERTENCIAS PARA DEFENDER
• La tesis escribe «80 %» y titula la figura «horas acumuladas», pero el eje es número de fallas: di 77 % de las fallas.
• 102 fallas (2021–2022) ≠ 113 (2019–2022): son periodos distintos.
PLAN DE ANIMACIONES (no implementado; Animaciones → «Al hacer clic»)
1. Gráfico al entrar.
2. Clic 1: cifras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GUION (≈ 55 s · 117 palabras)
[Señala los tres factores.]
«Para decidir qué falla atender primero usé el número de prioridad de riesgo, NPR. Se multiplican tres notas: la severidad, qué tan grave es la falla; la ocurrencia, qué tan seguido pasa; y la detección, qué tan difícil es verla a tiempo. El máximo es 800 y fijé como prioritarias las que superan 180.
[Señala el título.]
Analicé 93 formas de falla y 47 resultaron prioritarias.
[Señala la lista, empezando por las ámbar.]
Lo más interesante está arriba: la falla más riesgosa, con 336, es instalar un filtro de combustible incorrecto o vencido. Y el filtro de aceite incorrecto también aparece. No son desgaste: son errores de instalación que casi no se ven hasta que el motor falla.
[Banda.]
Por eso el plan incluye controles al reinstalar piezas.»
TRANSICIÓN → Un ejemplo completo.
QUÉ ES HECHO, CÁLCULO Y PROYECCIÓN
• Hechos de la tesis: S, O, D y NPR de los 93 modos; umbral 180; nombres de los modos (Matriz del NPR, AMEF).
• Cálculos propios: 47 de 93 con NPR &gt; 180; 12 modos tienen exactamente 180.
• Proyección: ninguna.
ADVERTENCIAS PARA DEFENDER
• El umbral 180 es un criterio de la tesis, no una norma.
• La severidad llega a 8 porque se adaptó a la duración de la parada (8 h o más = máxima).
PREGUNTAS PROBABLES DEL JURADO
1. «¿Qué limitaciones tiene el NPR?» → Multiplica escalas ordinales y no incluye costo; por eso lo combino con criticidad y el árbol de decisiones.
PLAN DE ANIMACIONES (no implementado; Animaciones → «Al hacer clic»)
1. Factores al entrar.
2. Clic 1: fórmula.
3. Clic 2: lista de mayores riesgos.
4. Clic 3: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1:20]
GUION (≈ 55 s · 117 palabras)
[Recorre la cadena de izquierda a derecha.]
«Así se analizó cada falla con el AMEF. Tomemos el caso más riesgoso. ¿Qué debe hacer el componente? El filtro debe quitar agua y partículas del combustible. ¿Cómo falla? Deja pasar partículas finas. ¿Por qué? Porque se instaló un filtro incorrecto o vencido. ¿Qué pasa entonces? Se desgastan los inyectores. Su riesgo es 7 por 6 por 8: 336.
[Señala las dos tarjetas.]
Repetí este análisis en todo el equipo. En el motor diésel, 31 de 67 formas de falla son prioritarias, sobre todo en la admisión de aire y la refrigeración. En el generador, 7 de 8, casi todas en la excitación: el regulador de voltaje AVR, los diodos y el varistor, que es justo lo que muestra el historial.»
TRANSICIÓN → Cómo se elige la tarea.
QUÉ ES HECHO, CÁLCULO Y PROYECCIÓN
• Hechos de la tesis: función 9, falla funcional B, modo 1 y efecto (Anexo 01); NPR 336 = 7 × 6 × 8; AMEF del generador.
• Cálculos propios: 31 de 67 (motor), 20 de 31 en admisión y refrigeración, 7 de 8 (generador).
• Proyección: ninguna.
ADVERTENCIAS PARA DEFENDER
• Diferencia clave: la falla funcional es el «qué» (deja pasar partículas); el modo de falla es el «por qué» (filtro incorrecto).
• El AMEF del generador menciona «HCI444C1»; el alternador es HCI544E1 (errata).
PREGUNTAS PROBABLES DEL JURADO
1. «¿Qué hacen el AVR, los diodos y el varistor?» → El AVR regula la corriente de excitación y con ella el voltaje; los diodos rotativos rectifican esa corriente en el rotor; el varistor protege los diodos de sobretensiones.
PLAN DE ANIMACIONES (no implementado; Animaciones → «Al hacer clic»)
1. Cadena al entrar (Barrido desde la izquierda).
2. Clic 1: tarjeta del motor.
3. Clic 2: tarjeta del generador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1:10]
GUION (≈ 55 s · 119 palabras)
[Recorre las preguntas de arriba abajo.]
«Una vez priorizadas las fallas, el árbol de decisiones de Moubray elige qué hacer con cada una. Hace las preguntas en orden. Primero: ¿se puede medir el estado del componente? Si sí, se le hace una tarea a condición: se mide y solo se interviene si la medición lo indica. Si no, ¿se puede renovar cada cierto tiempo? Si no, ¿conviene cambiarlo cada cierto tiempo? Y si nada de eso sirve, se buscan fallas ocultas o se rediseña.
[Señala las cifras.]
De las 93 formas de falla, 55 quedaron con tareas a condición, 20 con reacondicionamiento, 12 con sustitución y 2 con tareas a falta de.
[Banda.]
La regla es simple: primero medir; cambiar piezas por tiempo solo cuando medir no es posible.»
TRANSICIÓN → El plan de mantenimiento.
QUÉ ES HECHO, CÁLCULO Y PROYECCIÓN
• Hechos de la tesis: lógica de la hoja de decisión (Moubray); tareas y frecuencias de los ejemplos (Anexo).
• Cálculos propios: 55 / 20 / 12 / 2 (+4 sin marcar): clasificación propia por la primera columna «S».
• Proyección: ninguna.
ADVERTENCIAS PARA DEFENDER
• No des conteos por tipo de consecuencia: las columnas S/E/O del Anexo están incompletas.
PLAN DE ANIMACIONES (no implementado; Animaciones → «Al hacer clic»)
1. Pregunta 1 al entrar.
2. Clics 1 a 3: preguntas siguientes.
3. Clic 4: ejemplos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GUION (≈ 60 s · 134 palabras)
[Señala la tabla, fila por fila, sin leerla completa.]
«Con esas decisiones armé el plan de mantenimiento: qué hacer, cada cuánto y quién. Algunos ejemplos. El filtro de combustible se cambia según su caída de presión, y se agrega un sensor que detecta agua. El filtro de aceite debe ser de 30 micras o menos. El radiador y el intercooler se revisan y limpian. Al regulador de voltaje se le vigila el voltaje y la frecuencia cada semana. Y la protección por temperatura se prueba cada 500 horas, porque es una falla que no se ve hasta que se necesita.
[Señala las fichas.]
En total son 93 actividades; la mitad de las del motor se hacen a diario o cada 250 horas o menos, y el técnico electromecánico participa en 67 de ellas.
[Banda.]
Cada tarea tiene un valor que medir, así el técnico decide con datos.»
TRANSICIÓN → Recursos.
QUÉ ES HECHO, CÁLCULO Y PROYECCIÓN
• Hechos de la tesis: actividades, frecuencias y personal de los planes (Cap. IV y Anexo).
• Cálculos propios: 93 actividades; 34 de 67 del motor diarias o ≤ 250 h; técnico en 67 de 93.
• Proyección: ninguna.
ADVERTENCIAS PARA DEFENDER
• El error de instalación del filtro se ataca además con kits de repuestos y checklist de reinstalación (justificación del MTTR).
PLAN DE ANIMACIONES (no implementado; Animaciones → «Al hacer clic»)
1. Tabla al entrar.
2. Clic 1: fichas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0:40]
GUION (≈ 35 s · 75 palabras)
[Señala el personal.]
«Para ejecutar el plan se necesitan cinco perfiles: el técnico electromecánico, que mide, prueba y repara; el operario, que inspecciona; el planner, que programa y registra; el personal predictivo; y servicios externos para laboratorio y limpiezas químicas.
[Señala la inversión.]
La inversión en equipos es de 54 709 dólares. El 85 % son instrumentos de medición, porque sin medir no hay mantenimiento a condición. Además, este equipamiento sirve para toda la flota, no solo para estos tres grupos.»
TRANSICIÓN → Resultados proyectados.
QUÉ ES HECHO, CÁLCULO Y PROYECCIÓN
• Hechos de la tesis: cinco perfiles; 91 ítems por US$ 54 709 para toda la flota (Cap. IV).
• Cálculos propios: instrumentación = US$ 46 530 (85 %).
• Proyección: ninguna.
ADVERTENCIAS PARA DEFENDER
• Los precios son referenciales; la tesis no cita cotizaciones.
PLAN DE ANIMACIONES (no implementado; Animaciones → «Al hacer clic»)
1. Personal al entrar.
2. Clic 1: inversión.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1:00]
GUION (≈ 35 s · 79 palabras)
[Señala el gráfico.]
«Este es el resultado principal. Con el plan, la disponibilidad proyectada sube de 92,7 a 97,9 % en el GI500-16, de 93,9 a 96,9 % en el GI500-19 y de 93,3 a 97,8 % en el GI500-20. Son entre 3 y 5 puntos de mejora.
[Señala la tarjeta ámbar.]
Lo digo con transparencia: el GI500-19 queda en 96,9 %, una décima por debajo de la meta.
[Banda.]
Son proyecciones, calculadas con la fórmula de disponibilidad; se confirmarán midiendo los indicadores al aplicar el plan.»
TRANSICIÓN → ¿De dónde sale la mejora?
QUÉ ES HECHO, CÁLCULO Y PROYECCIÓN
• Hechos de la tesis: D base 92,67/93,94/93,34 % y proyectada 97,85/96,90/97,78 % (Cap. IV).
• Cálculos propios: 250/(250+5,49) = 97,85 %; 250/(250+8) = 96,90 %; 220/(220+5) = 97,78 %.
• Proyección: toda la disponibilidad proyectada.
ADVERTENCIAS PARA DEFENDER
• No digas «los tres superan la meta».
PLAN DE ANIMACIONES (no implementado; Animaciones → «Al hacer clic»)
1. Barras «antes» al entrar.
2. Clic 1: barras proyectadas.
3. Clic 2: tarjetas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0:55]
GUION (≈ 50 s · 112 palabras)
[Señala el gráfico de MTTR.]
«¿De dónde sale la mejora? Sobre todo de reparar más rápido: el tiempo de reparación baja casi a la mitad en los tres equipos, gracias a diagnosticar con mediciones, tener los repuestos listos en kits y usar un checklist al reinstalar.
[Señala el gráfico de MTBF.]
También de fallar menos: el tiempo entre fallas sube de 145 a 250 horas en el GI500-16 y de 153 a 220 en el GI500-20.
[Banda.]
¿Cuántas horas se recuperan? La tesis estima 1 102 horas al año, suponiendo que los equipos operan casi todo el año. Si lo ajusto a las horas que realmente registraron los equipos, son unas 226 al año. Por eso, en la evaluación económica muestro ambos escenarios.»
TRANSICIÓN → Evaluación económica.
QUÉ ES HECHO, CÁLCULO Y PROYECCIÓN
• Hechos de la tesis: MTTR 11,5/15,8/10,9 → 5,49/8/5 h; MTBF 145,3/245/152,8 → 250/250/220 h; 1 102 h/año (Cap. IV).
• Cálculos propios: parada histórica ≈ 374 h/año; recuperable acotado ≈ 226 h/año.
• Proyección: MTTR, MTBF y horas recuperadas.
ADVERTENCIAS PARA DEFENDER
• No se pueden recuperar más horas de las que se pierden: nombra tú el supuesto de operación continua (riesgo R1 de la guía).
PLAN DE ANIMACIONES (no implementado; Animaciones → «Al hacer clic»)
1. Gráfico MTTR al entrar.
2. Clic 1: gráfico MTBF.
3. Clic 2: palancas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1:20]
GUION (≈ 60 s · 136 palabras)
[Señala las tres cifras de arriba.]
«La inversión es de 54 709 dólares, una sola vez, y sirve para toda la flota. Según la tesis, el beneficio es de 232 310 dólares al año, porque valora cada hora de parada evitada en 200 dólares. Con eso, la inversión se recupera en menos de tres meses.
[Señala los escenarios.]
Pero quise ser prudente. Si la hora de parada vale solo 16 dólares, que es el costo que muestra el capítulo I, el retorno es de 1,9 años. Si uso las horas que realmente registraron los equipos, 1,2 años. Y si combino ambos supuestos bajos, el retorno solo es corto si repartimos la inversión entre toda la flota: unos 1,5 años.
[Banda.]
En resumen: el proyecto es viable, pero el resultado real depende de cuántas horas operen los equipos y de cuánto cueste realmente una hora de parada.»
TRANSICIÓN → Conclusiones.
QUÉ ES HECHO, CÁLCULO Y PROYECCIÓN
• Hechos de la tesis: Cd US$ 200/h, Ce US$ 300/evento, 8 000 h/año, US$ 232 310, US$ 54 709 para toda la flota (Cap. IV, 4.5); US$ 2 752 / 172 h (Cap. I).
• Cálculos propios: 54 709/232 310 = 0,235 años; 29 542/año → 1,85 años; 47 071/año → 1,16 años; 5 518/año → 9,9 años o 1,49 años con inversión 3/20 (US$ 8 206).
• Proyección: beneficios y retornos.
ADVERTENCIAS PARA DEFENDER
• El valor de US$ 200/h no tiene fuente en la tesis: es un supuesto (hora de alquiler no facturada).
• Si piden VAN o TIR: no se calcularon porque no se tuvo el flujo de caja de la empresa.
PLAN DE ANIMACIONES (no implementado; Animaciones → «Al hacer clic»)
1. Cifras al entrar.
2. Clic 1: escenarios prudentes.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1:15]
GUION (≈ 50 s · 114 palabras)
[Conclusión 1.]
«Concluyo en tres puntos. Primero: el RCM permitió priorizar las fallas críticas. El AMEF y el árbol de decisiones ordenaron 93 formas de falla, y los focos son el combustible, la excitación del generador y la refrigeración.
[Conclusión 2.]
Segundo: al cambiar tareas por calendario por tareas que miden la condición, la disponibilidad proyectada sube entre 3 y 5 puntos, hasta 96,9–97,9 %.
[Conclusión 3.]
Tercero: el plan permite reparar más rápido y fallar menos, con un tiempo de reparación de 5 a 8 horas y de 220 a 250 horas entre fallas.
[Recomendaciones y banda.]
Recomiendo profundizar el diagnóstico, simular escenarios y justificar mejor los supuestos. Y reconozco el límite principal: son proyecciones que deben medirse al aplicar el plan.»
TRANSICIÓN → Cierre.
QUÉ ES HECHO, CÁLCULO Y PROYECCIÓN
• Hechos de la tesis: conclusiones 1–3 y recomendaciones 1–3 (resumidas).
• Cálculos propios: ninguno.
• Proyección: cifras de las conclusiones 2 y 3.
ADVERTENCIAS PARA DEFENDER
• Di «permite» y «proyecta», no «logró».
PLAN DE ANIMACIONES (no implementado; Animaciones → «Al hacer clic»)
1. Título al entrar.
2. Clics 1 a 3: conclusiones.
3. Clic 4: recomendaciones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0:20]
GUION (≈ 15 s · 31 palabras)
«En resumen: analicé 93 formas de falla, prioricé 47 y propuse un plan que proyecta llevar la disponibilidad a 96,9–97,9 %. Muchas gracias por su atención; quedo atento a sus preguntas.»
QUÉ ES HECHO, CÁLCULO Y PROYECCIÓN
• Hechos de la tesis: 93 modos, 47 &gt; 180, D proyectada 96,90–97,85 %.
• Cálculos propios: ninguno.
• Proyección: ninguna.
ADVERTENCIAS PARA DEFENDER
• Después de esta diapositiva están los anexos de respaldo: úsalos solo para responder preguntas.
PLAN DE ANIMACIONES (no implementado; Animaciones → «Al hacer clic»)
1. Sin animaciones.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Anexos de respaldo. No se exponen; ir directo a la diapositiva que responda la pregunta (clic derecho → Ver todas las diapositivas, o escribir el número y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 (diapositiva 8 de la v9).
GUION (≈ 60 s · 128 palabras)
[Señala las tarjetas de arriba.]
«Entre los antecedentes nacionales, Tuesta aplicó un plan basado en confiabilidad a motores de grupos electrógenos y obtuvo mejoras de 2 a 4 %. Sayre Llana llegó a 95 % de disponibilidad en un consorcio naval.
[Señala la tarjeta ámbar.]
El más cercano a mi caso es el de Illesca y Ureta, en una empresa de alquiler para minería: combinando RCM y TPM elevaron la disponibilidad 7,48 % y redujeron el correctivo 15 %.
[Señala la cuarta tarjeta.]
En el ámbito local, Achahuanco aplicó RCM en la subestación San José, en Arequipa, con una matriz de criticidad similar a la mía.
[Señala la franja inferior.]
La base metodológica viene de Campos-López, que integra SAE JA1011, ISO 14224 y el NPR, y de Jaramillo, que explica por qué fracasan los proyectos RCM: falta de facilitador y de compromiso de la dirección.»
TRANSICIÓN → Tipos de mantenimiento.
QUÉ ES HECHO, CÁLCULO Y PROYECCIÓN
• Hechos de la tesis: autores, contexto y cifras de cada antecedente (Cap. II, 2.1).
• Cálculos propios: ninguno.
• Proyección: ninguna.
ADVERTENCIAS PARA DEFENDER
• La diapositiva anterior citaba a «Martínez Farfán (2021), EUROLIFT S.A.» (disponibilidad 68,86 → 95,15 %). Ese antecedente NO figura en la tesis ni en sus referencias, por eso se reemplazó. Si quieres usarlo, primero agrégalo al Cap. II con su referencia completa.
• La mejora de «2 a 4 %» de Tuesta no especifica el indicador en la tesis; si preguntan, di «mejora reportada por el autor en los años siguientes».
• Achahuanco reporta confiabilidad estimada del SEIN al 95 %, no disponibilidad.
PREGUNTAS PROBABLES DEL JURADO
1. «¿Qué diferencia su trabajo de Illesca y Ureta?» → El foco en la canibalización y en controles de reinstalación, y la priorización por NPR de 93 modos en el modelo Volvo Penta–Stamford.
2. «¿Por qué ningún antecedente usa Weibull?» → Varios usan solo MTBF/MTTR; en esta tesis las curvas de confiabilidad se muestran por equipo en el diagnóstico.
PLAN DE ANIMACIONES (no implementado; Animaciones → «Al hacer clic»)
1. Tarjetas superiores al entrar.
2. Clic 1: tarjetas inferiores (la ámbar con énfasis).
3. Clic 2: base internacional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(diapositiva 13 de la v9).
GUION (≈ 50 s · 106 palabras)
[Señala el gráfico.]
«Para elegir dónde aplicar el RCM evalué los 20 grupos de la flota con una matriz de criticidad. Solo tres alcanzan criticidad alta: los de 500 kW GI500-19, GI500-16 y GI500-20, con 150, 140 y 130 puntos. El siguiente, el GI250-01, se queda en 84.
[Señala la fórmula.]
La criticidad es la frecuencia de falla por la consecuencia. La consecuencia combina el tiempo de reparación multiplicado por el impacto operacional, más el costo, el impacto ambiental y la seguridad. Para el GI500-19: 5 por 30, 150.
[Señala los rangos.]
Con los rangos de la tesis quedan 3 equipos de criticidad alta, 14 media y 3 baja.
[Banda.]
Esos tres equipos son la muestra.»
TRANSICIÓN → Pareto y confiabilidad por equipo.
QUÉ ES HECHO, CÁLCULO Y PROYECCIÓN
• Hechos de la tesis: puntajes de frecuencia, tiempo promedio de reparación, impacto operacional, costo, ambiental y seguridad de los 20 equipos; consecuencia total, criticidad y nivel (figura «Criticidad de equipos en servicio»); rangos 05–39, 40–89 y 90–200 (Cap. II).
• Cálculos propios: la fórmula Consecuencia = TPR × IO + Costo + Ambiental + Seguridad no está escrita en la tesis: la reconstruí y reproduce los 20 totales y las 20 criticidades. Conteo por nivel: 3 C, 14 SC, 3 NC.
• Proyección: ninguna.
ADVERTENCIAS PARA DEFENDER
• El texto de la tesis dice «16 consecuencias y una criticidad de 130» para el GI500-20: son 26 consecuencias (5 × 26 = 130). Corrígelo.
• La tesis solo escribe Criticidad = Frecuencia × Consecuencia; si el jurado pregunta cómo se obtiene 30, explica la fórmula de la diapositiva (modelo de criticidad de frecuencia por consecuencia con flexibilidad operacional).
• La frecuencia 5 corresponde a «más de 20 fallas al año», pero el GI500-20 tuvo 21 fallas en cuatro años (≈ 5/año). Si preguntan, explica el criterio usado o reconoce la inconsistencia.
PREGUNTAS PROBABLES DEL JURADO
1. «¿Por qué el tiempo de reparación multiplica al impacto operacional?» → Porque una parada larga en un equipo sin reserva multiplica la pérdida; es el término de flexibilidad operacional del modelo.
2. «¿Quién asignó los puntajes?» → El equipo de trabajo propuesto, con base en el histórico y en entrevistas al personal (análisis documental y entrevista).
PLAN DE ANIMACIONES (no implementado; Animaciones → «Al hacer clic»)
1. Gráfico al entrar.
2. Clic 1: fórmula y ejemplo.
3. Clic 2: rangos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(diapositiva 14 de la v9).
GUION (≈ 50 s · 113 palabras)
[Señala las curvas.]
«La confiabilidad responde a una pregunta simple: ¿qué probabilidad tiene un equipo de operar cierto tiempo sin fallar? Con el MTBF de cada grupo y la ecuación de la tesis, R de t igual a e a la menos t sobre MTBF, a las 200 horas el GI500-16 solo tiene 25 % de probabilidad, el GI500-20 27 % y el GI500-19, el mejor, 44 %.
[Señala las tarjetas.]
Estos valores coinciden con las curvas que presenta la tesis por equipo.
[Banda.]
La conclusión práctica: si los equipos difícilmente pasan 200 horas sin fallar, las inspecciones tienen que estar por debajo de ese horizonte. Por eso el plan concentra sus tareas en intervalos de 250 horas o menos.»
TRANSICIÓN → Taxonomía del activo.
QUÉ ES HECHO, CÁLCULO Y PROYECCIÓN
• Hechos de la tesis: ecuación (5) R(t) = e^(−λt); MTBF base 145,3/245/152,8 h; 43/49/21 fallas; lectura de las figuras de confiabilidad (≈ 30 % a 200 h en GI500-16; &lt; 50 % en GI500-19; &lt; 30 % en GI500-20); recomendación de intervalos &lt; 200 h (Cap. IV, 4.1).
• Cálculos propios: R(200 h) = e^(−200/MTBF): GI500-16 25,2 %, GI500-19 44,2 %, GI500-20 27,0 %. Curvas cada 100 h hasta 1 000 h.
• Proyección: ninguna.
ADVERTENCIAS PARA DEFENDER
• La tesis llama «Weibull» a la curva del GI500-19, pero no reporta parámetros β y η. La diapositiva usa el modelo exponencial (ecuación 5), que es el que la tesis sí formula. Si preguntan por β, di que con un modelo exponencial se asume β = 1 (tasa de falla constante) y que estimar β requiere los tiempos entre fallas individuales.
• El modelo exponencial supone fallas aleatorias; con desgaste (β &gt; 1) la caída sería más lenta al inicio y más rápida después.
PREGUNTAS PROBABLES DEL JURADO
1. «¿Por qué exponencial si hay desgaste?» → Porque solo se dispone del MTBF agregado; es una aproximación conservadora para fijar intervalos de inspección.
2. «¿Qué intervalo recomendaría?» → Por debajo de 200 h para las inspecciones críticas: el plan del motor pone 34 de 67 actividades en ≤ 250 h o diario.
PLAN DE ANIMACIONES (no implementado; Animaciones → «Al hacer clic»)
1. Curvas al entrar (Barrido desde la izquierda).
2. Clic 1: tarjetas R(200 h).
3. Clic 2: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A4 (diapositiva 19 de la v9).
GUION (≈ 60 s · 129 palabras)
[Señala la cadena.]
«El AMEF del generador se lee igual que el del motor. La función 1 es proteger los diodos rotativos y los varistores contra picos de tensión. Su falla funcional es que no protegen; el modo, un varistor en cortocircuito por una descarga transitoria; y el efecto, que el varistor se quema y arriesga los diodos y la tarjeta AVR. Severidad 7, ocurrencia 8, detección 5: NPR 280.
[Señala la tabla.]
El generador tiene solo 8 modos, pero 7 superan 180. Seis de ellos están en la excitación: el AVR, los diodos y el varistor. Coincide con el histórico: averías del AVR por humedad y diodos dañados.
[Señala las tarjetas y la banda.]
Además, los 8 modos tienen detección 5: se descubren tarde. Por eso, mejorar la detección con monitoreo baja todos los NPR del generador a la vez.»
TRANSICIÓN → Árbol de decisiones.
QUÉ ES HECHO, CÁLCULO Y PROYECCIÓN
• Hechos de la tesis: funciones, fallas funcionales, modos y efectos (tabla AMEF del generador); S, O, D y NPR de los 8 modos (Matriz del NPR).
• Cálculos propios: conteo de modos con NPR &gt; 180: 7 de 8; 6 de 7 en excitación; D = 5 en los 8.
• Proyección: ninguna.
ADVERTENCIAS PARA DEFENDER
• El modo 4A2 (bobinado de excitación abierto) tiene ocurrencia 1 y NPR 35: es el único bajo el umbral.
• El AMEF menciona el alternador «STAMFORD HCI444C1» en la función 5, mientras el activo es HCI544E1. Corrige la errata en el documento.
• El efecto del modo 5A1 cita una parada real de 8 h (13/12/2021): es evidencia del histórico, úsala si preguntan por la severidad 8.
PREGUNTAS PROBABLES DEL JURADO
1. «¿Por qué la severidad máxima es 8?» → Por la escala adaptada a la duración de la interrupción: 8 h o más es «muy catastrófica».
2. «¿Cómo bajaría la detección?» → Con el monitoreo de rizado DC y V/f del plan: la falla se ve antes de que el voltaje caiga.
PLAN DE ANIMACIONES (no implementado; Animaciones → «Al hacer clic»)
1. Título y cadena al entrar.
2. Clic 1: tabla.
3. Clic 2: tarjetas.
4. Clic 3: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A5 (diapositiva 21 de la v9).
GUION (≈ 50 s · 112 palabras)
[Señala el gráfico.]
«En el motor diésel, 39 de los 67 modos quedaron con tarea a condición. Pero el patrón cambia por subsistema: admisión, lubricación y combustible se controlan sobre todo midiendo; la refrigeración, en cambio, se controla con reacondicionamientos cíclicos: limpiezas de intercooler, cambio de refrigerante y reacondicionamiento de la bomba.
[Señala las tarjetas de la derecha, de arriba abajo.]
Para los modos de mayor NPR: el filtro de combustible fuera de especificación se reemplaza cada 250 horas; el sensor de nivel de aceite se verifica y recalibra cada 500; el radiador se revisa y limpia cada 250 horas, o cada semana si hay polvo; y el intercooler se limpia por dentro con solvente.
[Banda.]
Las tareas cíclicas aparecen donde el deterioro es predecible.»
TRANSICIÓN → Árbol de decisiones del generador.
QUÉ ES HECHO, CÁLCULO Y PROYECCIÓN
• Hechos de la tesis: tareas propuestas y frecuencias de cada modo del motor (Anexo, árbol de decisiones del motor diésel); NPR de los modos citados (Matriz del NPR).
• Cálculos propios: conteo por subsistema (a condición / reacondicionamiento / sustitución / a falta de o sin marcar): Admisión de aire 11/1/7/0; Lubricación 11/1/1/1; Combustible 11/0/1/2; Refrigeración 2/8/0/1; Control (EMS2) 4/1/3/1.
• Proyección: ninguna.
ADVERTENCIAS PARA DEFENDER
• Para 9B1 la hoja de decisión dice «sustitución cíclica cada 250 h», pero el plan de mantenimiento cambia a «cambio de filtros por ΔP y sensor WIF» (a condición). Explícalo como mejora del plan o unifícalo en el documento.
• El modo 15A1 (intercooler obstruido, NPR 280) no tiene columna marcada en la hoja; por eso se muestra 15A2, que sí la tiene.
• La tarea del 9B1 (reemplazar el filtro) no ataca por sí sola la causa «filtro de especificación incorrecta»: la ataca el checklist de reinstalación y el kitting del plan. Tenlo listo.
PREGUNTAS PROBABLES DEL JURADO
1. «¿Por qué la refrigeración no es a condición si se puede medir ΔT?» → Porque la obstrucción por polvo e hidrocarburos avanza de forma predecible en el entorno minero; la limpieza cíclica es más barata que monitorear cada núcleo.
2. «¿Cómo fijó las frecuencias?» → Con las recomendaciones del fabricante, el histórico de fallas y la severidad del entorno (polvo, humedad).
PLAN DE ANIMACIONES (no implementado; Animaciones → «Al hacer clic»)
1. Gráfico al entrar.
2. Clics 1 a 4: tarjetas de la derecha.
3. Clic 5: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(diapositiva 22 de la v9).
GUION (≈ 45 s · 104 palabras)
[Señala la tabla.]
«En el generador, el árbol de decisiones asignó tarea a condición a los ocho modos. No se cambian piezas por tiempo: se mide la continuidad del varistor, la caída de voltaje en los diodos, el estado del AVR, la resistencia del bobinado y las vibraciones de los rodamientos, y se interviene solo si la medición lo indica.
[Señala las filas ámbar.]
Dos de los modos son fallas ocultas: el varistor en cortocircuito y la interrupción del puente de diodos. No se ven en operación normal; por eso necesitan pruebas periódicas.
[Señala las frecuencias.]
Las frecuencias van de 250 a 3 000 horas, con una lectura semanal de voltaje en el tablero.»
TRANSICIÓN → Plan de mantenimiento del motor diésel.
QUÉ ES HECHO, CÁLCULO Y PROYECCIÓN
• Hechos de la tesis: tareas propuestas y frecuencias de los 8 modos; columnas H (evidente) y H1/O1 (tarea a condición) marcadas en la hoja (tabla «Árbol de decisiones RCM Sistema Generador»).
• Cálculos propios: clasificación: 8 de 8 a condición; fallas ocultas (H = N): 1A1 y 4A3.
• Proyección: ninguna.
ADVERTENCIAS PARA DEFENDER
• Una falla oculta, según Moubray, se gestiona con tareas de búsqueda de fallas (H4). La hoja las marca como «a condición» (H1). Si el jurado lo observa, explica que la prueba periódica del varistor y de la lectura de voltaje cumple esa función de detección.
PREGUNTAS PROBABLES DEL JURADO
1. «¿Por qué no sustituir el AVR cada cierto tiempo, si falla tanto?» → Porque su falla depende de la humedad, no de la edad: medir y proteger del ambiente es más eficaz y barato que cambiarlo por calendario.
2. «¿Cómo se mide el estado del varistor?» → Fuera de línea, con continuidad o resistencia; el plan agrega el ensayo de tensión de clamp y termografía.
PLAN DE ANIMACIONES (no implementado; Animaciones → «Al hacer clic»)
1. Tabla al entrar.
2. Clic 1: énfasis en filas ámbar (fallas ocultas).
3. Clic 2: tarjetas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(diapositiva 23 de la v9).
GUION (≈ 45 s · 103 palabras)
[Señala el gráfico de frecuencias.]
«El plan del motor diésel traduce cada uno de los 67 modos en una actividad concreta, con frecuencia, personal y justificación. 34 de las 67 se ejecutan a diario o cada 250 horas o menos: son inspecciones cortas y frecuentes, coherentes con un equipo que difícilmente pasa 200 horas sin fallar. Solo 7 son de 1 500 horas o más: inyectores, turbocompresor y calefactores.
[Señala el gráfico de responsables.]
El técnico electromecánico lidera 44 actividades; el operario, 13, sobre todo inspecciones visuales y de nivel; y los servicios externos, 9, en limpiezas químicas y análisis de laboratorio.
[Banda.]
Esto convierte al técnico electromecánico en el recurso crítico del plan.»
TRANSICIÓN → Las tareas que atacan los modos de mayor NPR.
QUÉ ES HECHO, CÁLCULO Y PROYECCIÓN
• Hechos de la tesis: actividad, frecuencia, personal y cantidad de cada uno de los 67 modos (Plan de mantenimiento del motor, Anexo).
• Cálculos propios: agrupación por frecuencia (Diario o por jornada 2; Hasta 250 h (semanal a mensual) 32; 300 a 1 000 h 24; 1 500 h o más 7; A condición (por umbral) 1; Tras cada servicio 1) y por responsable principal (Técnico electromecánico 44; Operario 13; Servicios externos 9; Personal predictivo 1). La frecuencia se agrupa por el primer valor en horas de cada actividad.
• Proyección: ninguna.
ADVERTENCIAS PARA DEFENDER
• Algunas actividades tienen frecuencias dobles («cada 250 h / mensual»); se agruparon por el primer valor en horas.
• El plan del motor se presenta en dos tablas: un extracto en el cuerpo del Cap. IV y la versión completa (67 actividades) en el Anexo. Esta diapositiva usa la completa.
PREGUNTAS PROBABLES DEL JURADO
1. «¿El operario está capacitado para esas inspecciones?» → Sus tareas son visuales y de nivel (aceite 30–48 L, Racor, tapa del tanque); el plan prevé al técnico para mediciones y ajustes.
2. «¿Cómo se controla el cumplimiento?» → Con el planner de planta y órdenes de trabajo en CMMS con checklist; es una de las causas del incumplimiento actual.
PLAN DE ANIMACIONES (no implementado; Animaciones → «Al hacer clic»)
1. Gráfico de frecuencias al entrar.
2. Clic 1: gráfico de responsables.
3. Clic 2: fichas resumen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A8 (diapositiva 24 de la v9).
GUION (≈ 60 s · 134 palabras)
[Señala la primera fila.]
«El plan no se queda en "inspeccionar". Para el modo de mayor riesgo, el filtro de combustible fuera de especificación con NPR 336, el plan cambia los filtros según la caída de presión e instala un sensor de agua en el Racor con drenaje automático.
[Recorre las filas.]
El sensor de nivel de aceite se verifica y recalibra cada 500 horas; el filtro de aceite debe ser de 30 micras o menos; el tren de ventilación del radiador se alinea y tensa cada 500 horas; el intercooler se limpia cada 1 000 horas para mantener el aire de carga bajo 113 °C; y la protección térmica, que es una falla oculta, se prueba simulando la alarma a 98 °C y el apagado a 105 °C.
[Señala la fila de umbrales y la banda.]
Cada tarea tiene un umbral verificable: así el técnico decide con datos.»
TRANSICIÓN → Plan de mantenimiento del generador.
QUÉ ES HECHO, CÁLCULO Y PROYECCIÓN
• Hechos de la tesis: actividades, frecuencias y personal de los modos 9B1, 5B2, 8A1, 13A1, 15A1 y 20A1 (Plan del motor, Anexo); NPR 336, 294, 280, 280, 280 y 245 (Matriz del NPR); umbrales ΔP ≤ 5 kPa, ≤ 113 °C, 30–48 L, 250–300 kPa, 0,12 L/h y 98/105 °C (justificación de las actividades).
• Cálculos propios: ninguno.
• Proyección: ninguna.
ADVERTENCIAS PARA DEFENDER
• La actividad del plan para 13A1 (radiador obstruido) es la verificación de fajas y rodamientos del ventilador, mientras su justificación habla de limpieza del radiador. Si te lo preguntan: ambas atacan la falta de flujo de aire; la limpieza está en la hoja de decisión (cada 250 h).
• Ninguna fila ataca directamente el «filtro de especificación incorrecta» del 9B1: eso lo cubren los checklists de reinstalación y el kitting (justificación del MTTR proyectado). Dilo antes de que lo pregunten.
PREGUNTAS PROBABLES DEL JURADO
1. «¿Qué es el sensor WIF?» → Water-in-fuel: detecta agua en el separador Racor y permite drenarla antes de que llegue a la bomba de alta presión.
2. «¿De dónde salen los umbrales?» → De la ficha técnica del motor Volvo Penta TAD1642GE y de la experiencia del equipo; están en la justificación de cada actividad.
PLAN DE ANIMACIONES (no implementado; Animaciones → «Al hacer clic»)
1. Encabezado y primera fila al entrar.
2. Clic 1: resto de filas.
3. Clic 2: umbrales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A9 (diapositiva 25 de la v9).
GUION (≈ 50 s · 113 palabras)
[Señala la tabla.]
«El plan del generador se apoya en mediciones. Para el varistor, un ensayo de tensión de clamp y termografía: si se desvía más de 10 % del nominal o hay un punto 20 °C más caliente, se cambia.
[Señala la fila ámbar de diodos.]
Para los diodos rotativos, se sigue la tendencia del rizado DC y del desbalance de corriente de campo; solo si supera el umbral se abre y se mide.
[Señala el AVR y la segunda fila ámbar.]
El AVR se evalúa con un step-test cada 1 000 horas, y su falla y la del puente de diodos se vigilan con monitoreo continuo de voltaje y frecuencia, con alarmas por excepción.
[Banda.]
Así, una falla que hoy aparece de golpe se convierte en una alarma temprana.»
TRANSICIÓN → Recursos para el mantenimiento.
QUÉ ES HECHO, CÁLCULO Y PROYECCIÓN
• Hechos de la tesis: actividades, criterios (±10 %, ΔT &gt; 20 °C, &gt; 1 MΩ), frecuencias y personal de los 8 modos (Plan de mantenimiento del generador).
• Cálculos propios: ninguno.
• Proyección: ninguna.
ADVERTENCIAS PARA DEFENDER
• Las frecuencias del plan del generador no siempre coinciden con las de la hoja de decisión (por ejemplo, 2A1: 2 000 h en la hoja y 500 h según tendencia en el plan). El plan es la versión vigente.
• Algunas tareas requieren instrumentos del presupuesto: osciloscopio (rizado DC), analizador de armónicos (THD), megóhmetro y analizador de vibraciones.
PREGUNTAS PROBABLES DEL JURADO
1. «¿Qué es el rizado DC del campo?» → La componente alterna en la corriente de excitación; crece cuando un diodo del puente rotativo se abre o se pone en corto.
2. «¿Qué es el step-test del AVR?» → Un cambio brusco de carga para ver cómo responde el regulador: estabilidad, droop y distorsión armónica.
PLAN DE ANIMACIONES (no implementado; Animaciones → «Al hacer clic»)
1. Encabezado al entrar.
2. Clic 1: filas 1–4.
3. Clic 2: filas 5–8.
4. Clic 3: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A10 (diapositiva 26 de la v9).
GUION (≈ 55 s · 123 palabras)
[Señala el gráfico.]
«El plan necesita cinco perfiles. El técnico electromecánico participa en 67 de las 93 actividades: mediciones, calibraciones, pruebas y sustituciones. Le siguen el operario, con 21, en inspecciones visuales y de nivel; el planner, que programa y registra las órdenes de trabajo; el personal predictivo; y los servicios externos para análisis de laboratorio y limpiezas químicas.
[Señala la columna derecha.]
Para el análisis RCM propongo un equipo multidisciplinario, como recomienda Moubray: un facilitador, que en este caso soy yo; el supervisor de producción, que representa al cliente; el operador de campo, que conoce las fallas reales; el técnico de taller, que evalúa si las tareas son factibles; y el supervisor de ingeniería, que decide rediseños.
[Banda.]
Esto ataca una causa del problema: las decisiones informales y no trazables.»
TRANSICIÓN → Recursos materiales.
QUÉ ES HECHO, CÁLCULO Y PROYECCIÓN
• Hechos de la tesis: cinco tipos de personal y su justificación (tabla «Cantidad de personal solicitada»); equipo de trabajo RCM de cinco roles con el autor como facilitador (4.3.1 y 2.2.3.3); personal de cada actividad en los planes del motor, generador y demás sistemas.
• Cálculos propios: participación (actividades en que figura cada perfil, de 93): Técnico electromecánico 67, Operario 21, Planner de planta 7, Servicios externos 12, Personal predictivo 6, Jefe de taller 4.
• Proyección: ninguna.
ADVERTENCIAS PARA DEFENDER
• La tabla de personal de la tesis no indica número de personas ni horas-hombre por año; si el jurado pide dimensionar la plantilla, reconoce que es un paso pendiente.
• «Jefe de taller» aparece en el plan (supervisión de turbo, inyectores y calefactor), pero no en la tabla de cinco perfiles.
PREGUNTAS PROBABLES DEL JURADO
1. «¿Cuántos técnicos necesita la empresa?» → La tesis define perfiles y participación por actividad; el número exacto depende de la carga anual por equipo, que conviene calcular al implementar.
2. «¿Por qué un facilitador interno?» → Porque conoce el contexto y la empresa carece de jefatura técnica; Moubray recomienda un facilitador formado en RCM2.
PLAN DE ANIMACIONES (no implementado; Animaciones → «Al hacer clic»)
1. Gráfico al entrar.
2. Clic 1: perfiles.
3. Clic 2: equipo de análisis (Barrido desde arriba).
4. Clic 3: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A11 (diapositiva 27 de la v9).
GUION (≈ 40 s · 84 palabras)
[Señala el gráfico.]
«El plan requiere 91 recursos materiales por 54 709 dólares. El 85 % es instrumentación: equipos para medir vibraciones, temperatura, presión, calidad del combustible, aislamiento eléctrico, armónicos, y para leer la electrónica del motor con VODIA. Herramientas, insumos y repuestos suman el resto.
[Señala la tarjeta ámbar.]
Esto tiene una lógica: sin instrumentos no hay mantenimiento a condición. La inversión compra capacidad de diagnóstico.
[Señala la tercera tarjeta.]
Y una precisión importante: la tesis indica que este equipamiento es de empleo general para toda la flota, no solo para los tres grupos.»
TRANSICIÓN → Análisis de costos.
QUÉ ES HECHO, CÁLCULO Y PROYECCIÓN
• Hechos de la tesis: 91 ítems con cantidad, precio unitario y subtotal; total US$ 54 709; aclaración de uso para toda la flota y equivalente de S/ 190 397 al cambio de 09/2025 (Cap. IV, 4.5).
• Cálculos propios: agrupación: Medición mecánica, térmica y de fluidos 19 ítems, US$ 17 170; Medición eléctrica 10 ítems, US$ 15 960; Diagnóstico electrónico 6 ítems, US$ 13 400; Herramientas e insumos 45 ítems, US$ 4 589; Repuestos 11 ítems, US$ 3 590. Instrumentación = 85,0 %.
• Proyección: ninguna.
ADVERTENCIAS PARA DEFENDER
• La tabla de recursos (sin precios) y la presupuestal (con precios) no tienen exactamente los mismos ítems: la presupuestal agrega 12 ítems nuevos (data loggers, alineador láser, osciloscopio, contador de partículas…). Usa la presupuestal (91 ítems).
• Los precios unitarios no tienen fuente (cotización, proveedor); si el jurado pregunta, indica de dónde salen o reconoce que son referenciales.
PREGUNTAS PROBABLES DEL JURADO
1. «¿Por qué tantos scanners VODIA?» → Cinco scanners y tres PC permiten diagnosticar el EMS2 en varias obras a la vez; el equipamiento es para toda la flota.
2. «¿Es razonable cargar toda la inversión a tres equipos?» → No del todo: por eso en la evaluación económica muestro también la sensibilidad (diapositiva 33).
PLAN DE ANIMACIONES (no implementado; Animaciones → «Al hacer clic»)
1. Gráfico al entrar.
2. Clics 1 a 3: tarjetas.
3. Clic 4: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A12 (diapositiva 29 de la v9).
GUION (≈ 40 s · 89 palabras)
[Señala el gráfico.]
«De los 54 709 dólares, diez ítems concentran el 66 %. Los dos mayores, el analizador de armónicos y los scanners VODIA, cuestan 6 000 dólares cada uno; siguen los megóhmetros, el analizador de vibraciones y el contador de partículas para la calidad del diésel.
[Señala la columna derecha.]
Cada uno responde a un modo de falla prioritario: armónicos y aislamiento para la excitación del generador; VODIA para la electrónica del motor; vibraciones para rodamientos; partículas para el combustible, donde está el NPR más alto.
[Banda.]
La inversión se concentra donde está el riesgo.»
TRANSICIÓN → Disponibilidad proyectada.
QUÉ ES HECHO, CÁLCULO Y PROYECCIÓN
• Hechos de la tesis: ítems, cantidades, precios y subtotales; descripciones de uso de cada ítem (tabla presupuestal, Cap. IV, 4.5).
• Cálculos propios: top 10 = US$ 36 200 (66,2 % de US$ 54 709); resto US$ 18 509.
• Proyección: ninguna.
ADVERTENCIAS PARA DEFENDER
• La diapositiva anterior tenía una columna «Por qué es relevante según tu tesis» redactada por un chatbot, con afirmaciones que no están en la tesis o son incorrectas (por ejemplo, «Refrigeración concentra el 80 % del Pareto»: el 77 % es del motor diésel completo). Se eliminó; usa solo las descripciones de la tesis.
• La relación instrumento → modo de falla de la banda es una lectura propia; la tesis solo describe para qué sirve cada instrumento.
PREGUNTAS PROBABLES DEL JURADO
1. «¿Cotizó los precios?» → Son precios referenciales de la tabla presupuestal; conviene citar el proveedor o la fecha de cotización.
2. «¿Qué compraría primero si el presupuesto fuera menor?» → Lo que cubre los NPR más altos: contador de partículas y medidor de agua (combustible) y osciloscopio y megóhmetro (excitación).
PLAN DE ANIMACIONES (no implementado; Animaciones → «Al hacer clic»)
1. Gráfico al entrar.
2. Clic 1: usos.
3. Clic 2: resto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A13 (diapositiva 31 de la v9).
GUION (≈ 65 s · 144 palabras)
[Señala el gráfico de MTTR.]
«El plan actúa sobre las dos palancas. El MTTR baja casi a la mitad en los tres equipos: de 11,5 a 5,5 horas, de 15,8 a 8 y de 10,9 a 5.
[Señala el gráfico de MTBF.]
El MTBF sube donde era bajo: de 145 a 250 horas en el GI500-16 y de 153 a 220 en el GI500-20; en el GI500-19 apenas cambia, porque ya estaba en 245.
[Señala las tres fichas, de izquierda a derecha.]
Ahora, ¿cuántas horas significa eso? La tesis estima unas 1 102 horas al año, pero ese cálculo supone que cada equipo opera de forma casi continua. El registro 2019–2022 muestra unas 374 horas de parada al año en total. Si acoto la proyección a lo que realmente registran los equipos, las horas recuperables son unas 226 al año.
[Banda.]
La mejora de disponibilidad es la misma; lo que cambia es su traducción en horas, que depende de la demanda de operación.»
TRANSICIÓN → Inversión vs. beneficio.
QUÉ ES HECHO, CÁLCULO Y PROYECCIÓN
• Hechos de la tesis: MTTR base y deseado; MTBF base y objetivo; 454 + 259 + 389 ≈ 1 102 h/año (ΔA × 8 760 h); 39,7 eventos evitados con 8 000 h/año (Cap. IV).
• Cálculos propios: parada histórica por año = fallas/4 × MTTR base: GI500-16 123,6 h, GI500-19 193,6 h, GI500-20 57,2 h → 374,4 h/año. Escenario acotado: horas recuperables = parada histórica − (fallas/4 × MTBF base/MTBF objetivo) × MTTR objetivo: GI500-16 89,3 h, GI500-19 97,5 h, GI500-20 39,0 h → 225,8 h/año; eventos evitados ≈ 6,4/año. Horas de operación registradas (fallas × MTBF): 6 248 / 12 005 / 3 209 h. Supone que el registro cubre los 4 años completos.
• Proyección: MTTR y MTBF objetivo, horas recuperadas (ambos escenarios) y eventos evitados.
ADVERTENCIAS PARA DEFENDER
• No se pueden recuperar más horas de las que se pierden: con 374 h/año de parada registrada, las 1 102 h/año de la tesis solo son posibles si los equipos operan mucho más que en el registro. Dilo tú antes de que lo pregunte el jurado.
• Si el jurado dice que el registro está incompleto (hojas tardías, horómetros con erratas), acéptalo: entonces la cifra real está entre ambos escenarios y debe medirse.
PREGUNTAS PROBABLES DEL JURADO
1. «¿Cómo recupera 1 102 h si solo se pararon unas 374 h al año?» → No es posible con la demanda registrada: las 1 102 h suponen operación continua. Acotado al registro, son unas 226 h/año; la mejora porcentual de D se mantiene.
2. «¿Por qué el GI500-19 no mejora su MTBF?» → Porque ya era 245 h; su problema son las reparaciones largas (rebobinado, bomba de alta, excitación): por eso su objetivo es MTTR 8 h.
PLAN DE ANIMACIONES (no implementado; Animaciones → «Al hacer clic»)
1. Gráfico MTTR al entrar.
2. Clic 1: gráfico MTBF.
3. Clic 2: ficha de la tesis.
4. Clic 3: fichas del registro y del escenario acotado.
5. Clic 4: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A14 (diapositiva 32 de la v9).
GUION (≈ 50 s · 113 palabras)
[Señala el gráfico.]
«La inversión es de 54 709 dólares. El beneficio anual que estima la tesis, 232 310 dólares, tiene dos componentes: 220 400 por horas recuperadas, 1 102 horas a 200 dólares cada una, y 11 910 por eventos evitados, 39,7 a 300 dólares.
[Señala el recuadro de supuestos.]
Quiero ser transparente con el jurado: el 95 % de ese beneficio depende de dos supuestos. Primero, que cada equipo opere unas 8 000 horas al año; el registro muestra mucha menos demanda, unas 374 horas de parada al año en total. Segundo, que la hora de parada valga 200 dólares; el capítulo I implica unos 16.
[Banda.]
Por eso, en la siguiente diapositiva muestro el retorno con escenarios más conservadores.»
TRANSICIÓN → Periodo de retorno por escenario.
QUÉ ES HECHO, CÁLCULO Y PROYECCIÓN
• Hechos de la tesis: Cd = USD 200/h, Ce = USD 300/evento, 8 000 h/año; USD 220 400 + 11 910 = 232 310; inversión USD 54 709 (Cap. IV, 4.5); US$ 2 752 por 172 h (Cap. I).
• Cálculos propios: participación de las horas en el beneficio: 220 400/232 310 = 94,9 %; costo horario del Cap. I: 2 752/172 = 16,0 US$/h; parada histórica 374,4 h/año.
• Proyección: beneficio anual.
ADVERTENCIAS PARA DEFENDER
• El valor de US$ 200/h no tiene fuente en la tesis. La tesis lo justifica como ahorro por hora de parada que, en el alquiler, puede facturarse (4.5): úsalo así y reconoce que falta la fuente (tarifa o contrato).
• El resumen de la tesis habla de «ahorro superior a US$ 12 000 anuales»; coincide con el componente de eventos evitados (US$ 11 910), no con el beneficio total.
PREGUNTAS PROBABLES DEL JURADO
1. «¿De dónde sale el valor de US$ 200 por hora?» → Es un supuesto de la tesis: la hora de alquiler que deja de facturarse. No tiene cotización citada; por eso presento escenarios con US$ 16/h.
2. «¿Por qué US$ 300 por evento?» → Es un supuesto de la tesis sin desglose; conviene sustentarlo con el costo medio de una orden de trabajo correctiva.
PLAN DE ANIMACIONES (no implementado; Animaciones → «Al hacer clic»)
1. Barra de inversión al entrar.
2. Clic 1: barras de ahorro y total.
3. Clic 2: cálculos.
4. Clic 3: supuestos críticos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A15 (diapositiva 33 de la v9).
GUION (≈ 70 s · 150 palabras)
[Señala la fila 1.]
«Con los supuestos de la tesis, la inversión de 54 709 dólares se recupera en unos 2,8 meses.
[Señala las filas 2 y 3.]
Hice dos verificaciones conservadoras. Si valoro la hora de parada en los 16 dólares que resultan del capítulo I, el retorno sube a 1,9 años. Si mantengo los 200 dólares pero uso las horas que realmente muestra el registro, unas 226 recuperables al año, el beneficio baja a unos 47 000 dólares y el retorno es de 1,2 años.
[Señala las filas 4 y 5.]
Si combino ambos supuestos bajos, el retorno sería de unos 10 años cargando toda la inversión a tres equipos. Pero ese equipamiento sirve a los 20 grupos de la flota; asignando a estos tres solo su parte, el retorno es de 1,5 años.
[Señala la tarjeta derecha.]
La conclusión prudente es que la propuesta es viable en casi todos los escenarios, pero su retorno real debe confirmarse midiendo las horas de operación y el costo de parada.»
TRANSICIÓN → Conclusiones y recomendaciones.
QUÉ ES HECHO, CÁLCULO Y PROYECCIÓN
• Hechos de la tesis: USD 232 310/año e inversión USD 54 709 para toda la flota (S/ 190 397, 09/2025) (Cap. IV, 4.5); US$ 2 752 por 172 h (Cap. I); 20 grupos en la población.
• Cálculos propios: 1) 54 709/232 310 = 0,235 años. 2) 1 102 × 16 + 11 910 = 29 542 → 1,85 años. 3) 225,8 h × 200 + 6,35 eventos × 300 = 47 071 → 1,16 años. 4) 225,8 × 16 + 1 905 = 5 518 → 9,9 años. 5) inversión 3/20 = 8 206 → 1,49 años. Ningún escenario salvo el 1 está en la tesis.
• Proyección: beneficios y retornos de los cinco escenarios.
ADVERTENCIAS PARA DEFENDER
• El retorno simple no descuenta flujos ni incluye el costo del personal adicional; si piden VAN o TIR, reconoce que no se calcularon (la tesis no tuvo acceso al flujo de caja).
• La asignación 3/20 es un criterio propio y simple (por número de equipos); un jurado puede proponer otro criterio. Lo importante es que la inversión no es exclusiva de estos tres equipos.
• El escenario acotado supone que el registro cubre los cuatro años completos de 2019–2022.
PREGUNTAS PROBABLES DEL JURADO
1. «¿Entonces el proyecto es rentable o no?» → Con los supuestos de la tesis, claramente; con supuestos conservadores, el retorno está entre 1,2 y 1,9 años, y solo en el caso más bajo depende de repartir la inversión en la flota. Lo que falta es medir la demanda y el costo reales.
2. «¿Por qué no calculó VAN y TIR?» → Porque la tesis plantea el análisis como ahorro y no se tuvo el flujo de caja de la empresa (4.5); en la implementación recomendaría un flujo descontado con datos medidos.
PLAN DE ANIMACIONES (no implementado; Animaciones → «Al hacer clic»)
1. Encabezado y fila 1 al entrar.
2. Clic 1: filas 2 y 3.
3. Clic 2: filas 4 y 5.
4. Clic 3: tarjetas y banda.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1" Type="http://schemas.openxmlformats.org/officeDocument/2006/relationships/image" Target="../media/image-15-1.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9.xml"/><Relationship Id="rId3" Type="http://schemas.openxmlformats.org/officeDocument/2006/relationships/chart" Target="/ppt/charts/chart10.xml"/><Relationship Id="rId1" Type="http://schemas.openxmlformats.org/officeDocument/2006/relationships/image" Target="../media/image-26-1.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chart" Target="/ppt/charts/chart12.xm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chart" Target="/ppt/charts/chart13.xm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chart" Target="/ppt/charts/chart14.xml"/><Relationship Id="rId3" Type="http://schemas.openxmlformats.org/officeDocument/2006/relationships/chart" Target="/ppt/charts/chart15.xml"/><Relationship Id="rId1" Type="http://schemas.openxmlformats.org/officeDocument/2006/relationships/image" Target="../media/image-32-1.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chart" Target="/ppt/charts/chart16.xml"/><Relationship Id="rId1" Type="http://schemas.openxmlformats.org/officeDocument/2006/relationships/image" Target="../media/image-33-1.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Foto portada" descr="Grupo electrógeno insonorizado Rivera Diesel (placa RCS 228) sobre losa de concreto en una faena minera, al atardecer">    </p:cNvPr>
          <p:cNvPicPr>
            <a:picLocks noChangeAspect="1"/>
          </p:cNvPicPr>
          <p:nvPr/>
        </p:nvPicPr>
        <p:blipFill>
          <a:blip r:embed="rId1"/>
          <a:stretch>
            <a:fillRect/>
          </a:stretch>
        </p:blipFill>
        <p:spPr>
          <a:xfrm>
            <a:off x="4846320" y="0"/>
            <a:ext cx="4297680" cy="6858000"/>
          </a:xfrm>
          <a:prstGeom prst="rect">
            <a:avLst/>
          </a:prstGeom>
        </p:spPr>
      </p:pic>
      <p:sp>
        <p:nvSpPr>
          <p:cNvPr id="3" name="Pie de foto fondo"/>
          <p:cNvSpPr/>
          <p:nvPr/>
        </p:nvSpPr>
        <p:spPr>
          <a:xfrm>
            <a:off x="4846320" y="6327648"/>
            <a:ext cx="4297680" cy="530352"/>
          </a:xfrm>
          <a:prstGeom prst="rect">
            <a:avLst/>
          </a:prstGeom>
          <a:solidFill>
            <a:srgbClr val="0F172A">
              <a:alpha val="65000"/>
            </a:srgbClr>
          </a:solidFill>
          <a:ln w="12700">
            <a:solidFill>
              <a:srgbClr val="0F172A">
                <a:alpha val="0"/>
              </a:srgbClr>
            </a:solidFill>
            <a:prstDash val="solid"/>
          </a:ln>
        </p:spPr>
      </p:sp>
      <p:sp>
        <p:nvSpPr>
          <p:cNvPr id="4" name="Pie de foto"/>
          <p:cNvSpPr txBox="1"/>
          <p:nvPr/>
        </p:nvSpPr>
        <p:spPr>
          <a:xfrm>
            <a:off x="4983480" y="6327648"/>
            <a:ext cx="4023360" cy="53035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Grupo electrógeno Rivera Diesel insonorizado (RCS 228) en faena minera · foto de campo del autor</a:t>
            </a:r>
            <a:endParaRPr lang="en-US" sz="900" dirty="0"/>
          </a:p>
        </p:txBody>
      </p:sp>
      <p:pic>
        <p:nvPicPr>
          <p:cNvPr id="5" name="Logo Universidad Continental" descr="Logo Universidad Continental">    </p:cNvPr>
          <p:cNvPicPr>
            <a:picLocks noChangeAspect="1"/>
          </p:cNvPicPr>
          <p:nvPr/>
        </p:nvPicPr>
        <p:blipFill>
          <a:blip r:embed="rId2"/>
          <a:stretch>
            <a:fillRect/>
          </a:stretch>
        </p:blipFill>
        <p:spPr>
          <a:xfrm>
            <a:off x="457200" y="457200"/>
            <a:ext cx="1463040" cy="306324"/>
          </a:xfrm>
          <a:prstGeom prst="rect">
            <a:avLst/>
          </a:prstGeom>
        </p:spPr>
      </p:pic>
      <p:sp>
        <p:nvSpPr>
          <p:cNvPr id="6" name="Kicker"/>
          <p:cNvSpPr txBox="1"/>
          <p:nvPr/>
        </p:nvSpPr>
        <p:spPr>
          <a:xfrm>
            <a:off x="457200" y="1234440"/>
            <a:ext cx="4114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TESIS · INGENIERÍA ELÉCTRICA</a:t>
            </a:r>
            <a:endParaRPr lang="en-US" sz="1100" dirty="0"/>
          </a:p>
        </p:txBody>
      </p:sp>
      <p:sp>
        <p:nvSpPr>
          <p:cNvPr id="7" name="Título"/>
          <p:cNvSpPr txBox="1"/>
          <p:nvPr/>
        </p:nvSpPr>
        <p:spPr>
          <a:xfrm>
            <a:off x="457200" y="1554480"/>
            <a:ext cx="4160520" cy="22402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Implementación de la metodología RCM para la reducción de fallas y maximización de la disponibilidad operativa</a:t>
            </a:r>
            <a:endParaRPr lang="en-US" sz="2500" dirty="0"/>
          </a:p>
        </p:txBody>
      </p:sp>
      <p:sp>
        <p:nvSpPr>
          <p:cNvPr id="8" name="Subtítulo"/>
          <p:cNvSpPr txBox="1"/>
          <p:nvPr/>
        </p:nvSpPr>
        <p:spPr>
          <a:xfrm>
            <a:off x="457200" y="3886200"/>
            <a:ext cx="4160520" cy="548640"/>
          </a:xfrm>
          <a:prstGeom prst="rect">
            <a:avLst/>
          </a:prstGeom>
          <a:noFill/>
          <a:ln/>
        </p:spPr>
        <p:txBody>
          <a:bodyPr wrap="square" lIns="0" tIns="0" rIns="0" bIns="0" rtlCol="0" anchor="t"/>
          <a:lstStyle/>
          <a:p>
            <a:pPr indent="0" marL="0">
              <a:buNone/>
            </a:pPr>
            <a:r>
              <a:rPr lang="en-US" sz="1500" b="1" dirty="0">
                <a:solidFill>
                  <a:srgbClr val="B45309"/>
                </a:solidFill>
                <a:latin typeface="Calibri" pitchFamily="34" charset="0"/>
                <a:ea typeface="Calibri" pitchFamily="34" charset="-122"/>
                <a:cs typeface="Calibri" pitchFamily="34" charset="-120"/>
              </a:rPr>
              <a:t>Grupo electrógeno Rivera Diesel de 500 kW · Moquegua, 2024</a:t>
            </a:r>
            <a:endParaRPr lang="en-US" sz="1500" dirty="0"/>
          </a:p>
        </p:txBody>
      </p:sp>
      <p:sp>
        <p:nvSpPr>
          <p:cNvPr id="9" name="Separador"/>
          <p:cNvSpPr/>
          <p:nvPr/>
        </p:nvSpPr>
        <p:spPr>
          <a:xfrm>
            <a:off x="457200" y="4572000"/>
            <a:ext cx="1097280" cy="0"/>
          </a:xfrm>
          <a:prstGeom prst="line">
            <a:avLst/>
          </a:prstGeom>
          <a:noFill/>
          <a:ln w="25400">
            <a:solidFill>
              <a:srgbClr val="B45309"/>
            </a:solidFill>
            <a:prstDash val="solid"/>
          </a:ln>
        </p:spPr>
      </p:sp>
      <p:sp>
        <p:nvSpPr>
          <p:cNvPr id="10" name="Autor etiqueta"/>
          <p:cNvSpPr txBox="1"/>
          <p:nvPr/>
        </p:nvSpPr>
        <p:spPr>
          <a:xfrm>
            <a:off x="457200" y="4754880"/>
            <a:ext cx="411480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AUTOR</a:t>
            </a:r>
            <a:endParaRPr lang="en-US" sz="950" dirty="0"/>
          </a:p>
        </p:txBody>
      </p:sp>
      <p:sp>
        <p:nvSpPr>
          <p:cNvPr id="11" name="Autor"/>
          <p:cNvSpPr txBox="1"/>
          <p:nvPr/>
        </p:nvSpPr>
        <p:spPr>
          <a:xfrm>
            <a:off x="457200" y="4965192"/>
            <a:ext cx="4114800" cy="292608"/>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Nilthon Rosinaldo Chite Vilca</a:t>
            </a:r>
            <a:endParaRPr lang="en-US" sz="1500" dirty="0"/>
          </a:p>
        </p:txBody>
      </p:sp>
      <p:sp>
        <p:nvSpPr>
          <p:cNvPr id="12" name="Asesor etiqueta"/>
          <p:cNvSpPr txBox="1"/>
          <p:nvPr/>
        </p:nvSpPr>
        <p:spPr>
          <a:xfrm>
            <a:off x="457200" y="5394960"/>
            <a:ext cx="411480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ASESOR</a:t>
            </a:r>
            <a:endParaRPr lang="en-US" sz="950" dirty="0"/>
          </a:p>
        </p:txBody>
      </p:sp>
      <p:sp>
        <p:nvSpPr>
          <p:cNvPr id="13" name="Asesor"/>
          <p:cNvSpPr txBox="1"/>
          <p:nvPr/>
        </p:nvSpPr>
        <p:spPr>
          <a:xfrm>
            <a:off x="457200" y="5605272"/>
            <a:ext cx="4114800" cy="292608"/>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Mg. Erick Hans Araca Berrios</a:t>
            </a:r>
            <a:endParaRPr lang="en-US" sz="1500" dirty="0"/>
          </a:p>
        </p:txBody>
      </p:sp>
      <p:sp>
        <p:nvSpPr>
          <p:cNvPr id="14" name="Grado"/>
          <p:cNvSpPr txBox="1"/>
          <p:nvPr/>
        </p:nvSpPr>
        <p:spPr>
          <a:xfrm>
            <a:off x="457200" y="6263640"/>
            <a:ext cx="420624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Para optar el Título Profesional de Ingeniero Electricista · Arequipa,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EL PROBLEMA</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Tres grupos de 500 kW fallan seguido y no llegan a la meta de 97 %</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Propuesta: aplicar RCM para prevenir las fallas en lugar de repararlas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 y Cap. IV (indicadores base 2019–2022). Foto: grupo Rivera Diesel RCS 228 de la flota, registro de campo del autor (no es un equipo de la muestra).</a:t>
            </a:r>
            <a:endParaRPr lang="en-US" sz="900" dirty="0"/>
          </a:p>
        </p:txBody>
      </p:sp>
      <p:sp>
        <p:nvSpPr>
          <p:cNvPr id="8" name="Cifra 1 fondo"/>
          <p:cNvSpPr/>
          <p:nvPr/>
        </p:nvSpPr>
        <p:spPr>
          <a:xfrm>
            <a:off x="457200" y="1600200"/>
            <a:ext cx="2606040" cy="1508760"/>
          </a:xfrm>
          <a:prstGeom prst="roundRect">
            <a:avLst>
              <a:gd name="adj" fmla="val 4242"/>
            </a:avLst>
          </a:prstGeom>
          <a:solidFill>
            <a:srgbClr val="EEF2FA"/>
          </a:solidFill>
          <a:ln w="9525">
            <a:solidFill>
              <a:srgbClr val="EEF2FA"/>
            </a:solidFill>
            <a:prstDash val="solid"/>
          </a:ln>
        </p:spPr>
      </p:sp>
      <p:sp>
        <p:nvSpPr>
          <p:cNvPr id="9" name="Cifra 1 cifra"/>
          <p:cNvSpPr txBox="1"/>
          <p:nvPr/>
        </p:nvSpPr>
        <p:spPr>
          <a:xfrm>
            <a:off x="621792" y="1709928"/>
            <a:ext cx="2331720" cy="640080"/>
          </a:xfrm>
          <a:prstGeom prst="rect">
            <a:avLst/>
          </a:prstGeom>
          <a:noFill/>
          <a:ln/>
        </p:spPr>
        <p:txBody>
          <a:bodyPr wrap="square" lIns="0" tIns="0" rIns="0" bIns="0" rtlCol="0" anchor="ctr"/>
          <a:lstStyle/>
          <a:p>
            <a:pPr indent="0" marL="0">
              <a:buNone/>
            </a:pPr>
            <a:r>
              <a:rPr lang="en-US" sz="3400" b="1" dirty="0">
                <a:solidFill>
                  <a:srgbClr val="1E3A8A"/>
                </a:solidFill>
                <a:latin typeface="Calibri" pitchFamily="34" charset="0"/>
                <a:ea typeface="Calibri" pitchFamily="34" charset="-122"/>
                <a:cs typeface="Calibri" pitchFamily="34" charset="-120"/>
              </a:rPr>
              <a:t>113</a:t>
            </a:r>
            <a:endParaRPr lang="en-US" sz="3400" dirty="0"/>
          </a:p>
        </p:txBody>
      </p:sp>
      <p:sp>
        <p:nvSpPr>
          <p:cNvPr id="10" name="Cifra 1 texto"/>
          <p:cNvSpPr txBox="1"/>
          <p:nvPr/>
        </p:nvSpPr>
        <p:spPr>
          <a:xfrm>
            <a:off x="621792" y="2377440"/>
            <a:ext cx="233172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fallas en 4 años (2019–2022) en los 3 equipos</a:t>
            </a:r>
            <a:endParaRPr lang="en-US" sz="1300" dirty="0"/>
          </a:p>
        </p:txBody>
      </p:sp>
      <p:sp>
        <p:nvSpPr>
          <p:cNvPr id="11" name="Cifra 2 fondo"/>
          <p:cNvSpPr/>
          <p:nvPr/>
        </p:nvSpPr>
        <p:spPr>
          <a:xfrm>
            <a:off x="3268980" y="1600200"/>
            <a:ext cx="2606040" cy="1508760"/>
          </a:xfrm>
          <a:prstGeom prst="roundRect">
            <a:avLst>
              <a:gd name="adj" fmla="val 4242"/>
            </a:avLst>
          </a:prstGeom>
          <a:solidFill>
            <a:srgbClr val="FDF1E1"/>
          </a:solidFill>
          <a:ln w="15875">
            <a:solidFill>
              <a:srgbClr val="B45309"/>
            </a:solidFill>
            <a:prstDash val="solid"/>
          </a:ln>
        </p:spPr>
      </p:sp>
      <p:sp>
        <p:nvSpPr>
          <p:cNvPr id="12" name="Cifra 2 cifra"/>
          <p:cNvSpPr txBox="1"/>
          <p:nvPr/>
        </p:nvSpPr>
        <p:spPr>
          <a:xfrm>
            <a:off x="3433572" y="1709928"/>
            <a:ext cx="2331720" cy="64008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92,7–93,9 %</a:t>
            </a:r>
            <a:endParaRPr lang="en-US" sz="2600" dirty="0"/>
          </a:p>
        </p:txBody>
      </p:sp>
      <p:sp>
        <p:nvSpPr>
          <p:cNvPr id="13" name="Cifra 2 texto"/>
          <p:cNvSpPr txBox="1"/>
          <p:nvPr/>
        </p:nvSpPr>
        <p:spPr>
          <a:xfrm>
            <a:off x="3433572" y="2377440"/>
            <a:ext cx="233172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de disponibilidad; la meta es 97 %</a:t>
            </a:r>
            <a:endParaRPr lang="en-US" sz="1300" dirty="0"/>
          </a:p>
        </p:txBody>
      </p:sp>
      <p:sp>
        <p:nvSpPr>
          <p:cNvPr id="14" name="Cifra 3 fondo"/>
          <p:cNvSpPr/>
          <p:nvPr/>
        </p:nvSpPr>
        <p:spPr>
          <a:xfrm>
            <a:off x="6080760" y="1600200"/>
            <a:ext cx="2606040" cy="1508760"/>
          </a:xfrm>
          <a:prstGeom prst="roundRect">
            <a:avLst>
              <a:gd name="adj" fmla="val 4242"/>
            </a:avLst>
          </a:prstGeom>
          <a:solidFill>
            <a:srgbClr val="EEF2FA"/>
          </a:solidFill>
          <a:ln w="9525">
            <a:solidFill>
              <a:srgbClr val="EEF2FA"/>
            </a:solidFill>
            <a:prstDash val="solid"/>
          </a:ln>
        </p:spPr>
      </p:sp>
      <p:sp>
        <p:nvSpPr>
          <p:cNvPr id="15" name="Cifra 3 cifra"/>
          <p:cNvSpPr txBox="1"/>
          <p:nvPr/>
        </p:nvSpPr>
        <p:spPr>
          <a:xfrm>
            <a:off x="6245352" y="1709928"/>
            <a:ext cx="2331720" cy="6400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&gt; US$ 17 750</a:t>
            </a:r>
            <a:endParaRPr lang="en-US" sz="2400" dirty="0"/>
          </a:p>
        </p:txBody>
      </p:sp>
      <p:sp>
        <p:nvSpPr>
          <p:cNvPr id="16" name="Cifra 3 texto"/>
          <p:cNvSpPr txBox="1"/>
          <p:nvPr/>
        </p:nvSpPr>
        <p:spPr>
          <a:xfrm>
            <a:off x="6245352" y="2377440"/>
            <a:ext cx="2331720" cy="6400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costo de fallas de un solo equipo (GI500-19) en 4 años</a:t>
            </a:r>
            <a:endParaRPr lang="en-US" sz="1300" dirty="0"/>
          </a:p>
        </p:txBody>
      </p:sp>
      <p:pic>
        <p:nvPicPr>
          <p:cNvPr id="17" name="Foto grupo electrógeno" descr="Grupo electrógeno Rivera Diesel insonorizado (RCS 228) en faena minera">    </p:cNvPr>
          <p:cNvPicPr>
            <a:picLocks noChangeAspect="1"/>
          </p:cNvPicPr>
          <p:nvPr/>
        </p:nvPicPr>
        <p:blipFill>
          <a:blip r:embed="rId2"/>
          <a:stretch>
            <a:fillRect/>
          </a:stretch>
        </p:blipFill>
        <p:spPr>
          <a:xfrm>
            <a:off x="457200" y="3383280"/>
            <a:ext cx="4023360" cy="1691640"/>
          </a:xfrm>
          <a:prstGeom prst="rect">
            <a:avLst/>
          </a:prstGeom>
        </p:spPr>
      </p:pic>
      <p:sp>
        <p:nvSpPr>
          <p:cNvPr id="18" name="Pie de foto"/>
          <p:cNvSpPr txBox="1"/>
          <p:nvPr/>
        </p:nvSpPr>
        <p:spPr>
          <a:xfrm>
            <a:off x="457200" y="5120640"/>
            <a:ext cx="4023360" cy="228600"/>
          </a:xfrm>
          <a:prstGeom prst="rect">
            <a:avLst/>
          </a:prstGeom>
          <a:noFill/>
          <a:ln/>
        </p:spPr>
        <p:txBody>
          <a:bodyPr wrap="square" lIns="0" tIns="0" rIns="0" bIns="0" rtlCol="0" anchor="t"/>
          <a:lstStyle/>
          <a:p>
            <a:pPr indent="0" marL="0">
              <a:buNone/>
            </a:pPr>
            <a:r>
              <a:rPr lang="en-US" sz="1000" i="1" dirty="0">
                <a:solidFill>
                  <a:srgbClr val="64748B"/>
                </a:solidFill>
                <a:latin typeface="Calibri" pitchFamily="34" charset="0"/>
                <a:ea typeface="Calibri" pitchFamily="34" charset="-122"/>
                <a:cs typeface="Calibri" pitchFamily="34" charset="-120"/>
              </a:rPr>
              <a:t>Grupo de la flota en faena minera</a:t>
            </a:r>
            <a:endParaRPr lang="en-US" sz="1000" dirty="0"/>
          </a:p>
        </p:txBody>
      </p:sp>
      <p:sp>
        <p:nvSpPr>
          <p:cNvPr id="19" name="Etiqueta ¿POR QUÉ OCURRE?"/>
          <p:cNvSpPr txBox="1"/>
          <p:nvPr/>
        </p:nvSpPr>
        <p:spPr>
          <a:xfrm>
            <a:off x="4754880" y="338328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¿POR QUÉ OCURRE?</a:t>
            </a:r>
            <a:endParaRPr lang="en-US" sz="1100" dirty="0"/>
          </a:p>
        </p:txBody>
      </p:sp>
      <p:sp>
        <p:nvSpPr>
          <p:cNvPr id="20" name="Causa 1 círculo"/>
          <p:cNvSpPr/>
          <p:nvPr/>
        </p:nvSpPr>
        <p:spPr>
          <a:xfrm>
            <a:off x="4754880" y="3730752"/>
            <a:ext cx="384048" cy="384048"/>
          </a:xfrm>
          <a:prstGeom prst="ellipse">
            <a:avLst/>
          </a:prstGeom>
          <a:solidFill>
            <a:srgbClr val="1E3A8A"/>
          </a:solidFill>
          <a:ln w="12700">
            <a:solidFill>
              <a:srgbClr val="1E3A8A"/>
            </a:solidFill>
            <a:prstDash val="solid"/>
          </a:ln>
        </p:spPr>
      </p:sp>
      <p:sp>
        <p:nvSpPr>
          <p:cNvPr id="21" name="Causa 1 cifra"/>
          <p:cNvSpPr txBox="1"/>
          <p:nvPr/>
        </p:nvSpPr>
        <p:spPr>
          <a:xfrm>
            <a:off x="4754880"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Causa 1 texto"/>
          <p:cNvSpPr txBox="1"/>
          <p:nvPr/>
        </p:nvSpPr>
        <p:spPr>
          <a:xfrm>
            <a:off x="5257800" y="3657600"/>
            <a:ext cx="34290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 repara cuando ya falló (mantenimiento reactivo)</a:t>
            </a:r>
            <a:endParaRPr lang="en-US" sz="1300" dirty="0"/>
          </a:p>
        </p:txBody>
      </p:sp>
      <p:sp>
        <p:nvSpPr>
          <p:cNvPr id="23" name="Causa 2 círculo"/>
          <p:cNvSpPr/>
          <p:nvPr/>
        </p:nvSpPr>
        <p:spPr>
          <a:xfrm>
            <a:off x="4754880" y="4416552"/>
            <a:ext cx="384048" cy="384048"/>
          </a:xfrm>
          <a:prstGeom prst="ellipse">
            <a:avLst/>
          </a:prstGeom>
          <a:solidFill>
            <a:srgbClr val="1E3A8A"/>
          </a:solidFill>
          <a:ln w="12700">
            <a:solidFill>
              <a:srgbClr val="1E3A8A"/>
            </a:solidFill>
            <a:prstDash val="solid"/>
          </a:ln>
        </p:spPr>
      </p:sp>
      <p:sp>
        <p:nvSpPr>
          <p:cNvPr id="24" name="Causa 2 cifra"/>
          <p:cNvSpPr txBox="1"/>
          <p:nvPr/>
        </p:nvSpPr>
        <p:spPr>
          <a:xfrm>
            <a:off x="4754880" y="44165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Causa 2 texto"/>
          <p:cNvSpPr txBox="1"/>
          <p:nvPr/>
        </p:nvSpPr>
        <p:spPr>
          <a:xfrm>
            <a:off x="5257800" y="4343400"/>
            <a:ext cx="34290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Se sacan piezas de un equipo para otro (canibalización)</a:t>
            </a:r>
            <a:endParaRPr lang="en-US" sz="1300" dirty="0"/>
          </a:p>
        </p:txBody>
      </p:sp>
      <p:sp>
        <p:nvSpPr>
          <p:cNvPr id="26" name="Causa 3 círculo"/>
          <p:cNvSpPr/>
          <p:nvPr/>
        </p:nvSpPr>
        <p:spPr>
          <a:xfrm>
            <a:off x="4754880" y="5102352"/>
            <a:ext cx="384048" cy="384048"/>
          </a:xfrm>
          <a:prstGeom prst="ellipse">
            <a:avLst/>
          </a:prstGeom>
          <a:solidFill>
            <a:srgbClr val="1E3A8A"/>
          </a:solidFill>
          <a:ln w="12700">
            <a:solidFill>
              <a:srgbClr val="1E3A8A"/>
            </a:solidFill>
            <a:prstDash val="solid"/>
          </a:ln>
        </p:spPr>
      </p:sp>
      <p:sp>
        <p:nvSpPr>
          <p:cNvPr id="27" name="Causa 3 cifra"/>
          <p:cNvSpPr txBox="1"/>
          <p:nvPr/>
        </p:nvSpPr>
        <p:spPr>
          <a:xfrm>
            <a:off x="4754880" y="51023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Causa 3 texto"/>
          <p:cNvSpPr txBox="1"/>
          <p:nvPr/>
        </p:nvSpPr>
        <p:spPr>
          <a:xfrm>
            <a:off x="5257800" y="5029200"/>
            <a:ext cx="3429000" cy="54864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La falla no se registra a tiempo ni se analiza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OBJETIVOS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Objetivo: reducir fallas y subir la disponibilidad aplicando RCM</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Hipótesis: con RCM es posible reducir las fallas y maximizar la disponibilidad</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 (objetivo general, objetivos específicos e hipótesis). Redacción resumida.</a:t>
            </a:r>
            <a:endParaRPr lang="en-US" sz="900" dirty="0"/>
          </a:p>
        </p:txBody>
      </p:sp>
      <p:sp>
        <p:nvSpPr>
          <p:cNvPr id="8" name="General fondo"/>
          <p:cNvSpPr/>
          <p:nvPr/>
        </p:nvSpPr>
        <p:spPr>
          <a:xfrm>
            <a:off x="457200" y="1600200"/>
            <a:ext cx="8229600" cy="1188720"/>
          </a:xfrm>
          <a:prstGeom prst="roundRect">
            <a:avLst>
              <a:gd name="adj" fmla="val 5385"/>
            </a:avLst>
          </a:prstGeom>
          <a:solidFill>
            <a:srgbClr val="1E3A8A"/>
          </a:solidFill>
          <a:ln w="9525">
            <a:solidFill>
              <a:srgbClr val="1E3A8A"/>
            </a:solidFill>
            <a:prstDash val="solid"/>
          </a:ln>
        </p:spPr>
      </p:sp>
      <p:sp>
        <p:nvSpPr>
          <p:cNvPr id="9" name="General etiqueta"/>
          <p:cNvSpPr txBox="1"/>
          <p:nvPr/>
        </p:nvSpPr>
        <p:spPr>
          <a:xfrm>
            <a:off x="685800" y="1719072"/>
            <a:ext cx="4572000" cy="237744"/>
          </a:xfrm>
          <a:prstGeom prst="rect">
            <a:avLst/>
          </a:prstGeom>
          <a:noFill/>
          <a:ln/>
        </p:spPr>
        <p:txBody>
          <a:bodyPr wrap="square" lIns="0" tIns="0" rIns="0" bIns="0" rtlCol="0" anchor="t"/>
          <a:lstStyle/>
          <a:p>
            <a:pPr indent="0" marL="0">
              <a:buNone/>
            </a:pPr>
            <a:r>
              <a:rPr lang="en-US" sz="1100" b="1" spc="100" kern="0" dirty="0">
                <a:solidFill>
                  <a:srgbClr val="C7D2FE"/>
                </a:solidFill>
                <a:latin typeface="Calibri" pitchFamily="34" charset="0"/>
                <a:ea typeface="Calibri" pitchFamily="34" charset="-122"/>
                <a:cs typeface="Calibri" pitchFamily="34" charset="-120"/>
              </a:rPr>
              <a:t>OBJETIVO GENERAL</a:t>
            </a:r>
            <a:endParaRPr lang="en-US" sz="1100" dirty="0"/>
          </a:p>
        </p:txBody>
      </p:sp>
      <p:sp>
        <p:nvSpPr>
          <p:cNvPr id="10" name="General texto"/>
          <p:cNvSpPr txBox="1"/>
          <p:nvPr/>
        </p:nvSpPr>
        <p:spPr>
          <a:xfrm>
            <a:off x="685800" y="1993392"/>
            <a:ext cx="777240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Implementar la metodología RCM para reducir las fallas del grupo electrógeno de 500 kW y maximizar su disponibilidad en Moquegua</a:t>
            </a:r>
            <a:endParaRPr lang="en-US" sz="1600" dirty="0"/>
          </a:p>
        </p:txBody>
      </p:sp>
      <p:sp>
        <p:nvSpPr>
          <p:cNvPr id="11" name="OE1 fondo"/>
          <p:cNvSpPr/>
          <p:nvPr/>
        </p:nvSpPr>
        <p:spPr>
          <a:xfrm>
            <a:off x="457200" y="3017520"/>
            <a:ext cx="4023360" cy="2788920"/>
          </a:xfrm>
          <a:prstGeom prst="roundRect">
            <a:avLst>
              <a:gd name="adj" fmla="val 2295"/>
            </a:avLst>
          </a:prstGeom>
          <a:solidFill>
            <a:srgbClr val="EEF2FA"/>
          </a:solidFill>
          <a:ln w="9525">
            <a:solidFill>
              <a:srgbClr val="EEF2FA"/>
            </a:solidFill>
            <a:prstDash val="solid"/>
          </a:ln>
        </p:spPr>
      </p:sp>
      <p:sp>
        <p:nvSpPr>
          <p:cNvPr id="12" name="OE1 círculo"/>
          <p:cNvSpPr/>
          <p:nvPr/>
        </p:nvSpPr>
        <p:spPr>
          <a:xfrm>
            <a:off x="640080" y="3200400"/>
            <a:ext cx="457200" cy="457200"/>
          </a:xfrm>
          <a:prstGeom prst="ellipse">
            <a:avLst/>
          </a:prstGeom>
          <a:solidFill>
            <a:srgbClr val="B45309"/>
          </a:solidFill>
          <a:ln w="12700">
            <a:solidFill>
              <a:srgbClr val="B45309"/>
            </a:solidFill>
            <a:prstDash val="solid"/>
          </a:ln>
        </p:spPr>
      </p:sp>
      <p:sp>
        <p:nvSpPr>
          <p:cNvPr id="13" name="OE1 cifra"/>
          <p:cNvSpPr txBox="1"/>
          <p:nvPr/>
        </p:nvSpPr>
        <p:spPr>
          <a:xfrm>
            <a:off x="64008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OE1 etiqueta"/>
          <p:cNvSpPr txBox="1"/>
          <p:nvPr/>
        </p:nvSpPr>
        <p:spPr>
          <a:xfrm>
            <a:off x="1234440" y="3200400"/>
            <a:ext cx="3108960" cy="457200"/>
          </a:xfrm>
          <a:prstGeom prst="rect">
            <a:avLst/>
          </a:prstGeom>
          <a:noFill/>
          <a:ln/>
        </p:spPr>
        <p:txBody>
          <a:bodyPr wrap="square" lIns="0" tIns="0" rIns="0" bIns="0" rtlCol="0" anchor="ctr"/>
          <a:lstStyle/>
          <a:p>
            <a:pPr indent="0" marL="0">
              <a:buNone/>
            </a:pPr>
            <a:r>
              <a:rPr lang="en-US" sz="1100" b="1" spc="50" kern="0" dirty="0">
                <a:solidFill>
                  <a:srgbClr val="1E3A8A"/>
                </a:solidFill>
                <a:latin typeface="Calibri" pitchFamily="34" charset="0"/>
                <a:ea typeface="Calibri" pitchFamily="34" charset="-122"/>
                <a:cs typeface="Calibri" pitchFamily="34" charset="-120"/>
              </a:rPr>
              <a:t>OBJETIVO ESPECÍFICO 1</a:t>
            </a:r>
            <a:endParaRPr lang="en-US" sz="1100" dirty="0"/>
          </a:p>
        </p:txBody>
      </p:sp>
      <p:sp>
        <p:nvSpPr>
          <p:cNvPr id="15" name="OE1 texto"/>
          <p:cNvSpPr txBox="1"/>
          <p:nvPr/>
        </p:nvSpPr>
        <p:spPr>
          <a:xfrm>
            <a:off x="640080" y="3794760"/>
            <a:ext cx="3657600" cy="1005840"/>
          </a:xfrm>
          <a:prstGeom prst="rect">
            <a:avLst/>
          </a:prstGeom>
          <a:noFill/>
          <a:ln/>
        </p:spPr>
        <p:txBody>
          <a:bodyPr wrap="square" lIns="0" tIns="0" rIns="0" bIns="0" rtlCol="0" anchor="t"/>
          <a:lstStyle/>
          <a:p>
            <a:pPr indent="0" marL="0">
              <a:buNone/>
            </a:pPr>
            <a:r>
              <a:rPr lang="en-US" sz="1600" b="1" dirty="0">
                <a:solidFill>
                  <a:srgbClr val="1E3A8A"/>
                </a:solidFill>
                <a:latin typeface="Calibri" pitchFamily="34" charset="0"/>
                <a:ea typeface="Calibri" pitchFamily="34" charset="-122"/>
                <a:cs typeface="Calibri" pitchFamily="34" charset="-120"/>
              </a:rPr>
              <a:t>Aplicar RCM para identificar y reducir las fallas críticas</a:t>
            </a:r>
            <a:endParaRPr lang="en-US" sz="1600" dirty="0"/>
          </a:p>
        </p:txBody>
      </p:sp>
      <p:sp>
        <p:nvSpPr>
          <p:cNvPr id="16" name="OE1 respuesta"/>
          <p:cNvSpPr txBox="1"/>
          <p:nvPr/>
        </p:nvSpPr>
        <p:spPr>
          <a:xfrm>
            <a:off x="640080" y="4892040"/>
            <a:ext cx="3657600" cy="777240"/>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Se responde con: AMEF, prioridad de riesgo y árbol de decisiones</a:t>
            </a:r>
            <a:endParaRPr lang="en-US" sz="1250" dirty="0"/>
          </a:p>
        </p:txBody>
      </p:sp>
      <p:sp>
        <p:nvSpPr>
          <p:cNvPr id="17" name="OE2 fondo"/>
          <p:cNvSpPr/>
          <p:nvPr/>
        </p:nvSpPr>
        <p:spPr>
          <a:xfrm>
            <a:off x="4663440" y="3017520"/>
            <a:ext cx="4023360" cy="2788920"/>
          </a:xfrm>
          <a:prstGeom prst="roundRect">
            <a:avLst>
              <a:gd name="adj" fmla="val 2295"/>
            </a:avLst>
          </a:prstGeom>
          <a:solidFill>
            <a:srgbClr val="EEF2FA"/>
          </a:solidFill>
          <a:ln w="9525">
            <a:solidFill>
              <a:srgbClr val="EEF2FA"/>
            </a:solidFill>
            <a:prstDash val="solid"/>
          </a:ln>
        </p:spPr>
      </p:sp>
      <p:sp>
        <p:nvSpPr>
          <p:cNvPr id="18" name="OE2 círculo"/>
          <p:cNvSpPr/>
          <p:nvPr/>
        </p:nvSpPr>
        <p:spPr>
          <a:xfrm>
            <a:off x="4846320" y="3200400"/>
            <a:ext cx="457200" cy="457200"/>
          </a:xfrm>
          <a:prstGeom prst="ellipse">
            <a:avLst/>
          </a:prstGeom>
          <a:solidFill>
            <a:srgbClr val="B45309"/>
          </a:solidFill>
          <a:ln w="12700">
            <a:solidFill>
              <a:srgbClr val="B45309"/>
            </a:solidFill>
            <a:prstDash val="solid"/>
          </a:ln>
        </p:spPr>
      </p:sp>
      <p:sp>
        <p:nvSpPr>
          <p:cNvPr id="19" name="OE2 cifra"/>
          <p:cNvSpPr txBox="1"/>
          <p:nvPr/>
        </p:nvSpPr>
        <p:spPr>
          <a:xfrm>
            <a:off x="484632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OE2 etiqueta"/>
          <p:cNvSpPr txBox="1"/>
          <p:nvPr/>
        </p:nvSpPr>
        <p:spPr>
          <a:xfrm>
            <a:off x="5440680" y="3200400"/>
            <a:ext cx="3108960" cy="457200"/>
          </a:xfrm>
          <a:prstGeom prst="rect">
            <a:avLst/>
          </a:prstGeom>
          <a:noFill/>
          <a:ln/>
        </p:spPr>
        <p:txBody>
          <a:bodyPr wrap="square" lIns="0" tIns="0" rIns="0" bIns="0" rtlCol="0" anchor="ctr"/>
          <a:lstStyle/>
          <a:p>
            <a:pPr indent="0" marL="0">
              <a:buNone/>
            </a:pPr>
            <a:r>
              <a:rPr lang="en-US" sz="1100" b="1" spc="50" kern="0" dirty="0">
                <a:solidFill>
                  <a:srgbClr val="1E3A8A"/>
                </a:solidFill>
                <a:latin typeface="Calibri" pitchFamily="34" charset="0"/>
                <a:ea typeface="Calibri" pitchFamily="34" charset="-122"/>
                <a:cs typeface="Calibri" pitchFamily="34" charset="-120"/>
              </a:rPr>
              <a:t>OBJETIVO ESPECÍFICO 2</a:t>
            </a:r>
            <a:endParaRPr lang="en-US" sz="1100" dirty="0"/>
          </a:p>
        </p:txBody>
      </p:sp>
      <p:sp>
        <p:nvSpPr>
          <p:cNvPr id="21" name="OE2 texto"/>
          <p:cNvSpPr txBox="1"/>
          <p:nvPr/>
        </p:nvSpPr>
        <p:spPr>
          <a:xfrm>
            <a:off x="4846320" y="3794760"/>
            <a:ext cx="3657600" cy="1005840"/>
          </a:xfrm>
          <a:prstGeom prst="rect">
            <a:avLst/>
          </a:prstGeom>
          <a:noFill/>
          <a:ln/>
        </p:spPr>
        <p:txBody>
          <a:bodyPr wrap="square" lIns="0" tIns="0" rIns="0" bIns="0" rtlCol="0" anchor="t"/>
          <a:lstStyle/>
          <a:p>
            <a:pPr indent="0" marL="0">
              <a:buNone/>
            </a:pPr>
            <a:r>
              <a:rPr lang="en-US" sz="1600" b="1" dirty="0">
                <a:solidFill>
                  <a:srgbClr val="1E3A8A"/>
                </a:solidFill>
                <a:latin typeface="Calibri" pitchFamily="34" charset="0"/>
                <a:ea typeface="Calibri" pitchFamily="34" charset="-122"/>
                <a:cs typeface="Calibri" pitchFamily="34" charset="-120"/>
              </a:rPr>
              <a:t>Determinar cuánto mejora la disponibilidad con un plan basado en confiabilidad</a:t>
            </a:r>
            <a:endParaRPr lang="en-US" sz="1600" dirty="0"/>
          </a:p>
        </p:txBody>
      </p:sp>
      <p:sp>
        <p:nvSpPr>
          <p:cNvPr id="22" name="OE2 respuesta"/>
          <p:cNvSpPr txBox="1"/>
          <p:nvPr/>
        </p:nvSpPr>
        <p:spPr>
          <a:xfrm>
            <a:off x="4846320" y="4892040"/>
            <a:ext cx="3657600" cy="777240"/>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Se responde con: plan de mantenimiento y disponibilidad proyectada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METODOLOGÍA</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Estudio aplicado y no experimental sobre los 3 equipos más críticos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Usé datos reales de la empresa (2019–2022); los resultados del plan son proyectados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III (tipo, enfoque, diseño, población, muestra, técnicas) y secuencia de análisis del Cap. IV.</a:t>
            </a:r>
            <a:endParaRPr lang="en-US" sz="900" dirty="0"/>
          </a:p>
        </p:txBody>
      </p:sp>
      <p:sp>
        <p:nvSpPr>
          <p:cNvPr id="8" name="Ficha 1 fondo"/>
          <p:cNvSpPr/>
          <p:nvPr/>
        </p:nvSpPr>
        <p:spPr>
          <a:xfrm>
            <a:off x="457200" y="1645920"/>
            <a:ext cx="1920240" cy="1234440"/>
          </a:xfrm>
          <a:prstGeom prst="roundRect">
            <a:avLst>
              <a:gd name="adj" fmla="val 5185"/>
            </a:avLst>
          </a:prstGeom>
          <a:solidFill>
            <a:srgbClr val="EEF2FA"/>
          </a:solidFill>
          <a:ln w="9525">
            <a:solidFill>
              <a:srgbClr val="EEF2FA"/>
            </a:solidFill>
            <a:prstDash val="solid"/>
          </a:ln>
        </p:spPr>
      </p:sp>
      <p:sp>
        <p:nvSpPr>
          <p:cNvPr id="9" name="Ficha 1 título"/>
          <p:cNvSpPr txBox="1"/>
          <p:nvPr/>
        </p:nvSpPr>
        <p:spPr>
          <a:xfrm>
            <a:off x="566928" y="1755648"/>
            <a:ext cx="1737360" cy="502920"/>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Aplicada</a:t>
            </a:r>
            <a:endParaRPr lang="en-US" sz="1700" dirty="0"/>
          </a:p>
        </p:txBody>
      </p:sp>
      <p:sp>
        <p:nvSpPr>
          <p:cNvPr id="10" name="Ficha 1 texto"/>
          <p:cNvSpPr txBox="1"/>
          <p:nvPr/>
        </p:nvSpPr>
        <p:spPr>
          <a:xfrm>
            <a:off x="566928" y="2286000"/>
            <a:ext cx="1737360" cy="5029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resuelve un problema real</a:t>
            </a:r>
            <a:endParaRPr lang="en-US" sz="1200" dirty="0"/>
          </a:p>
        </p:txBody>
      </p:sp>
      <p:sp>
        <p:nvSpPr>
          <p:cNvPr id="11" name="Ficha 2 fondo"/>
          <p:cNvSpPr/>
          <p:nvPr/>
        </p:nvSpPr>
        <p:spPr>
          <a:xfrm>
            <a:off x="2560320" y="1645920"/>
            <a:ext cx="1920240" cy="1234440"/>
          </a:xfrm>
          <a:prstGeom prst="roundRect">
            <a:avLst>
              <a:gd name="adj" fmla="val 5185"/>
            </a:avLst>
          </a:prstGeom>
          <a:solidFill>
            <a:srgbClr val="EEF2FA"/>
          </a:solidFill>
          <a:ln w="9525">
            <a:solidFill>
              <a:srgbClr val="EEF2FA"/>
            </a:solidFill>
            <a:prstDash val="solid"/>
          </a:ln>
        </p:spPr>
      </p:sp>
      <p:sp>
        <p:nvSpPr>
          <p:cNvPr id="12" name="Ficha 2 título"/>
          <p:cNvSpPr txBox="1"/>
          <p:nvPr/>
        </p:nvSpPr>
        <p:spPr>
          <a:xfrm>
            <a:off x="2670048" y="1755648"/>
            <a:ext cx="1737360" cy="502920"/>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Cuantitativa</a:t>
            </a:r>
            <a:endParaRPr lang="en-US" sz="1700" dirty="0"/>
          </a:p>
        </p:txBody>
      </p:sp>
      <p:sp>
        <p:nvSpPr>
          <p:cNvPr id="13" name="Ficha 2 texto"/>
          <p:cNvSpPr txBox="1"/>
          <p:nvPr/>
        </p:nvSpPr>
        <p:spPr>
          <a:xfrm>
            <a:off x="2670048" y="2286000"/>
            <a:ext cx="1737360" cy="5029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trabaja con números</a:t>
            </a:r>
            <a:endParaRPr lang="en-US" sz="1200" dirty="0"/>
          </a:p>
        </p:txBody>
      </p:sp>
      <p:sp>
        <p:nvSpPr>
          <p:cNvPr id="14" name="Ficha 3 fondo"/>
          <p:cNvSpPr/>
          <p:nvPr/>
        </p:nvSpPr>
        <p:spPr>
          <a:xfrm>
            <a:off x="4663440" y="1645920"/>
            <a:ext cx="1920240" cy="1234440"/>
          </a:xfrm>
          <a:prstGeom prst="roundRect">
            <a:avLst>
              <a:gd name="adj" fmla="val 5185"/>
            </a:avLst>
          </a:prstGeom>
          <a:solidFill>
            <a:srgbClr val="EEF2FA"/>
          </a:solidFill>
          <a:ln w="9525">
            <a:solidFill>
              <a:srgbClr val="EEF2FA"/>
            </a:solidFill>
            <a:prstDash val="solid"/>
          </a:ln>
        </p:spPr>
      </p:sp>
      <p:sp>
        <p:nvSpPr>
          <p:cNvPr id="15" name="Ficha 3 título"/>
          <p:cNvSpPr txBox="1"/>
          <p:nvPr/>
        </p:nvSpPr>
        <p:spPr>
          <a:xfrm>
            <a:off x="4773168" y="1755648"/>
            <a:ext cx="1737360" cy="502920"/>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No experimental</a:t>
            </a:r>
            <a:endParaRPr lang="en-US" sz="1700" dirty="0"/>
          </a:p>
        </p:txBody>
      </p:sp>
      <p:sp>
        <p:nvSpPr>
          <p:cNvPr id="16" name="Ficha 3 texto"/>
          <p:cNvSpPr txBox="1"/>
          <p:nvPr/>
        </p:nvSpPr>
        <p:spPr>
          <a:xfrm>
            <a:off x="4773168" y="2286000"/>
            <a:ext cx="1737360" cy="5029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observa sin intervenir</a:t>
            </a:r>
            <a:endParaRPr lang="en-US" sz="1200" dirty="0"/>
          </a:p>
        </p:txBody>
      </p:sp>
      <p:sp>
        <p:nvSpPr>
          <p:cNvPr id="17" name="Ficha 4 fondo"/>
          <p:cNvSpPr/>
          <p:nvPr/>
        </p:nvSpPr>
        <p:spPr>
          <a:xfrm>
            <a:off x="6766560" y="1645920"/>
            <a:ext cx="1920240" cy="1234440"/>
          </a:xfrm>
          <a:prstGeom prst="roundRect">
            <a:avLst>
              <a:gd name="adj" fmla="val 5185"/>
            </a:avLst>
          </a:prstGeom>
          <a:solidFill>
            <a:srgbClr val="FDF1E1"/>
          </a:solidFill>
          <a:ln w="15875">
            <a:solidFill>
              <a:srgbClr val="B45309"/>
            </a:solidFill>
            <a:prstDash val="solid"/>
          </a:ln>
        </p:spPr>
      </p:sp>
      <p:sp>
        <p:nvSpPr>
          <p:cNvPr id="18" name="Ficha 4 título"/>
          <p:cNvSpPr txBox="1"/>
          <p:nvPr/>
        </p:nvSpPr>
        <p:spPr>
          <a:xfrm>
            <a:off x="6876288" y="1755648"/>
            <a:ext cx="1737360" cy="502920"/>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20 → 3 equipos</a:t>
            </a:r>
            <a:endParaRPr lang="en-US" sz="1700" dirty="0"/>
          </a:p>
        </p:txBody>
      </p:sp>
      <p:sp>
        <p:nvSpPr>
          <p:cNvPr id="19" name="Ficha 4 texto"/>
          <p:cNvSpPr txBox="1"/>
          <p:nvPr/>
        </p:nvSpPr>
        <p:spPr>
          <a:xfrm>
            <a:off x="6876288" y="2286000"/>
            <a:ext cx="1737360" cy="5029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los 3 más críticos de la flota</a:t>
            </a:r>
            <a:endParaRPr lang="en-US" sz="1200" dirty="0"/>
          </a:p>
        </p:txBody>
      </p:sp>
      <p:sp>
        <p:nvSpPr>
          <p:cNvPr id="20" name="Etiqueta CÓMO TRABAJÉ: 6 PASOS"/>
          <p:cNvSpPr txBox="1"/>
          <p:nvPr/>
        </p:nvSpPr>
        <p:spPr>
          <a:xfrm>
            <a:off x="457200" y="315468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TRABAJÉ: 6 PASOS</a:t>
            </a:r>
            <a:endParaRPr lang="en-US" sz="1100" dirty="0"/>
          </a:p>
        </p:txBody>
      </p:sp>
      <p:sp>
        <p:nvSpPr>
          <p:cNvPr id="21" name="Paso 1 conector"/>
          <p:cNvSpPr/>
          <p:nvPr/>
        </p:nvSpPr>
        <p:spPr>
          <a:xfrm>
            <a:off x="1435608" y="3749040"/>
            <a:ext cx="786384" cy="0"/>
          </a:xfrm>
          <a:prstGeom prst="line">
            <a:avLst/>
          </a:prstGeom>
          <a:noFill/>
          <a:ln w="19050">
            <a:solidFill>
              <a:srgbClr val="CBD5E1"/>
            </a:solidFill>
            <a:prstDash val="solid"/>
          </a:ln>
        </p:spPr>
      </p:sp>
      <p:sp>
        <p:nvSpPr>
          <p:cNvPr id="22" name="Paso 1 círculo"/>
          <p:cNvSpPr/>
          <p:nvPr/>
        </p:nvSpPr>
        <p:spPr>
          <a:xfrm>
            <a:off x="868680" y="3474720"/>
            <a:ext cx="548640" cy="548640"/>
          </a:xfrm>
          <a:prstGeom prst="ellipse">
            <a:avLst/>
          </a:prstGeom>
          <a:solidFill>
            <a:srgbClr val="1E3A8A"/>
          </a:solidFill>
          <a:ln w="12700">
            <a:solidFill>
              <a:srgbClr val="1E3A8A"/>
            </a:solidFill>
            <a:prstDash val="solid"/>
          </a:ln>
        </p:spPr>
      </p:sp>
      <p:sp>
        <p:nvSpPr>
          <p:cNvPr id="23" name="Paso 1 cifra"/>
          <p:cNvSpPr txBox="1"/>
          <p:nvPr/>
        </p:nvSpPr>
        <p:spPr>
          <a:xfrm>
            <a:off x="8686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4" name="Paso 1 título"/>
          <p:cNvSpPr txBox="1"/>
          <p:nvPr/>
        </p:nvSpPr>
        <p:spPr>
          <a:xfrm>
            <a:off x="4846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Diagnóstico</a:t>
            </a:r>
            <a:endParaRPr lang="en-US" sz="1300" dirty="0"/>
          </a:p>
        </p:txBody>
      </p:sp>
      <p:sp>
        <p:nvSpPr>
          <p:cNvPr id="25" name="Paso 1 texto"/>
          <p:cNvSpPr txBox="1"/>
          <p:nvPr/>
        </p:nvSpPr>
        <p:spPr>
          <a:xfrm>
            <a:off x="4846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fallas, MTBF, MTTR</a:t>
            </a:r>
            <a:endParaRPr lang="en-US" sz="1100" dirty="0"/>
          </a:p>
        </p:txBody>
      </p:sp>
      <p:sp>
        <p:nvSpPr>
          <p:cNvPr id="26" name="Paso 2 conector"/>
          <p:cNvSpPr/>
          <p:nvPr/>
        </p:nvSpPr>
        <p:spPr>
          <a:xfrm>
            <a:off x="2807208" y="3749040"/>
            <a:ext cx="786384" cy="0"/>
          </a:xfrm>
          <a:prstGeom prst="line">
            <a:avLst/>
          </a:prstGeom>
          <a:noFill/>
          <a:ln w="19050">
            <a:solidFill>
              <a:srgbClr val="CBD5E1"/>
            </a:solidFill>
            <a:prstDash val="solid"/>
          </a:ln>
        </p:spPr>
      </p:sp>
      <p:sp>
        <p:nvSpPr>
          <p:cNvPr id="27" name="Paso 2 círculo"/>
          <p:cNvSpPr/>
          <p:nvPr/>
        </p:nvSpPr>
        <p:spPr>
          <a:xfrm>
            <a:off x="2240280" y="3474720"/>
            <a:ext cx="548640" cy="548640"/>
          </a:xfrm>
          <a:prstGeom prst="ellipse">
            <a:avLst/>
          </a:prstGeom>
          <a:solidFill>
            <a:srgbClr val="1E3A8A"/>
          </a:solidFill>
          <a:ln w="12700">
            <a:solidFill>
              <a:srgbClr val="1E3A8A"/>
            </a:solidFill>
            <a:prstDash val="solid"/>
          </a:ln>
        </p:spPr>
      </p:sp>
      <p:sp>
        <p:nvSpPr>
          <p:cNvPr id="28" name="Paso 2 cifra"/>
          <p:cNvSpPr txBox="1"/>
          <p:nvPr/>
        </p:nvSpPr>
        <p:spPr>
          <a:xfrm>
            <a:off x="22402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Paso 2 título"/>
          <p:cNvSpPr txBox="1"/>
          <p:nvPr/>
        </p:nvSpPr>
        <p:spPr>
          <a:xfrm>
            <a:off x="18562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Equipos críticos</a:t>
            </a:r>
            <a:endParaRPr lang="en-US" sz="1300" dirty="0"/>
          </a:p>
        </p:txBody>
      </p:sp>
      <p:sp>
        <p:nvSpPr>
          <p:cNvPr id="30" name="Paso 2 texto"/>
          <p:cNvSpPr txBox="1"/>
          <p:nvPr/>
        </p:nvSpPr>
        <p:spPr>
          <a:xfrm>
            <a:off x="18562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matriz de criticidad</a:t>
            </a:r>
            <a:endParaRPr lang="en-US" sz="1100" dirty="0"/>
          </a:p>
        </p:txBody>
      </p:sp>
      <p:sp>
        <p:nvSpPr>
          <p:cNvPr id="31" name="Paso 3 conector"/>
          <p:cNvSpPr/>
          <p:nvPr/>
        </p:nvSpPr>
        <p:spPr>
          <a:xfrm>
            <a:off x="4178808" y="3749040"/>
            <a:ext cx="786384" cy="0"/>
          </a:xfrm>
          <a:prstGeom prst="line">
            <a:avLst/>
          </a:prstGeom>
          <a:noFill/>
          <a:ln w="19050">
            <a:solidFill>
              <a:srgbClr val="CBD5E1"/>
            </a:solidFill>
            <a:prstDash val="solid"/>
          </a:ln>
        </p:spPr>
      </p:sp>
      <p:sp>
        <p:nvSpPr>
          <p:cNvPr id="32" name="Paso 3 círculo"/>
          <p:cNvSpPr/>
          <p:nvPr/>
        </p:nvSpPr>
        <p:spPr>
          <a:xfrm>
            <a:off x="3611880" y="3474720"/>
            <a:ext cx="548640" cy="548640"/>
          </a:xfrm>
          <a:prstGeom prst="ellipse">
            <a:avLst/>
          </a:prstGeom>
          <a:solidFill>
            <a:srgbClr val="1E3A8A"/>
          </a:solidFill>
          <a:ln w="12700">
            <a:solidFill>
              <a:srgbClr val="1E3A8A"/>
            </a:solidFill>
            <a:prstDash val="solid"/>
          </a:ln>
        </p:spPr>
      </p:sp>
      <p:sp>
        <p:nvSpPr>
          <p:cNvPr id="33" name="Paso 3 cifra"/>
          <p:cNvSpPr txBox="1"/>
          <p:nvPr/>
        </p:nvSpPr>
        <p:spPr>
          <a:xfrm>
            <a:off x="36118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Paso 3 título"/>
          <p:cNvSpPr txBox="1"/>
          <p:nvPr/>
        </p:nvSpPr>
        <p:spPr>
          <a:xfrm>
            <a:off x="32278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Dónde fallan</a:t>
            </a:r>
            <a:endParaRPr lang="en-US" sz="1300" dirty="0"/>
          </a:p>
        </p:txBody>
      </p:sp>
      <p:sp>
        <p:nvSpPr>
          <p:cNvPr id="35" name="Paso 3 texto"/>
          <p:cNvSpPr txBox="1"/>
          <p:nvPr/>
        </p:nvSpPr>
        <p:spPr>
          <a:xfrm>
            <a:off x="32278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Pareto por sistema</a:t>
            </a:r>
            <a:endParaRPr lang="en-US" sz="1100" dirty="0"/>
          </a:p>
        </p:txBody>
      </p:sp>
      <p:sp>
        <p:nvSpPr>
          <p:cNvPr id="36" name="Paso 4 conector"/>
          <p:cNvSpPr/>
          <p:nvPr/>
        </p:nvSpPr>
        <p:spPr>
          <a:xfrm>
            <a:off x="5550408" y="3749040"/>
            <a:ext cx="786384" cy="0"/>
          </a:xfrm>
          <a:prstGeom prst="line">
            <a:avLst/>
          </a:prstGeom>
          <a:noFill/>
          <a:ln w="19050">
            <a:solidFill>
              <a:srgbClr val="CBD5E1"/>
            </a:solidFill>
            <a:prstDash val="solid"/>
          </a:ln>
        </p:spPr>
      </p:sp>
      <p:sp>
        <p:nvSpPr>
          <p:cNvPr id="37" name="Paso 4 círculo"/>
          <p:cNvSpPr/>
          <p:nvPr/>
        </p:nvSpPr>
        <p:spPr>
          <a:xfrm>
            <a:off x="4983480" y="3474720"/>
            <a:ext cx="548640" cy="548640"/>
          </a:xfrm>
          <a:prstGeom prst="ellipse">
            <a:avLst/>
          </a:prstGeom>
          <a:solidFill>
            <a:srgbClr val="B45309"/>
          </a:solidFill>
          <a:ln w="12700">
            <a:solidFill>
              <a:srgbClr val="B45309"/>
            </a:solidFill>
            <a:prstDash val="solid"/>
          </a:ln>
        </p:spPr>
      </p:sp>
      <p:sp>
        <p:nvSpPr>
          <p:cNvPr id="38" name="Paso 4 cifra"/>
          <p:cNvSpPr txBox="1"/>
          <p:nvPr/>
        </p:nvSpPr>
        <p:spPr>
          <a:xfrm>
            <a:off x="49834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Paso 4 título"/>
          <p:cNvSpPr txBox="1"/>
          <p:nvPr/>
        </p:nvSpPr>
        <p:spPr>
          <a:xfrm>
            <a:off x="45994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Priorizar fallas</a:t>
            </a:r>
            <a:endParaRPr lang="en-US" sz="1300" dirty="0"/>
          </a:p>
        </p:txBody>
      </p:sp>
      <p:sp>
        <p:nvSpPr>
          <p:cNvPr id="40" name="Paso 4 texto"/>
          <p:cNvSpPr txBox="1"/>
          <p:nvPr/>
        </p:nvSpPr>
        <p:spPr>
          <a:xfrm>
            <a:off x="45994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AMEF y NPR</a:t>
            </a:r>
            <a:endParaRPr lang="en-US" sz="1100" dirty="0"/>
          </a:p>
        </p:txBody>
      </p:sp>
      <p:sp>
        <p:nvSpPr>
          <p:cNvPr id="41" name="Paso 5 conector"/>
          <p:cNvSpPr/>
          <p:nvPr/>
        </p:nvSpPr>
        <p:spPr>
          <a:xfrm>
            <a:off x="6922008" y="3749040"/>
            <a:ext cx="786384" cy="0"/>
          </a:xfrm>
          <a:prstGeom prst="line">
            <a:avLst/>
          </a:prstGeom>
          <a:noFill/>
          <a:ln w="19050">
            <a:solidFill>
              <a:srgbClr val="CBD5E1"/>
            </a:solidFill>
            <a:prstDash val="solid"/>
          </a:ln>
        </p:spPr>
      </p:sp>
      <p:sp>
        <p:nvSpPr>
          <p:cNvPr id="42" name="Paso 5 círculo"/>
          <p:cNvSpPr/>
          <p:nvPr/>
        </p:nvSpPr>
        <p:spPr>
          <a:xfrm>
            <a:off x="6355080" y="3474720"/>
            <a:ext cx="548640" cy="548640"/>
          </a:xfrm>
          <a:prstGeom prst="ellipse">
            <a:avLst/>
          </a:prstGeom>
          <a:solidFill>
            <a:srgbClr val="B45309"/>
          </a:solidFill>
          <a:ln w="12700">
            <a:solidFill>
              <a:srgbClr val="B45309"/>
            </a:solidFill>
            <a:prstDash val="solid"/>
          </a:ln>
        </p:spPr>
      </p:sp>
      <p:sp>
        <p:nvSpPr>
          <p:cNvPr id="43" name="Paso 5 cifra"/>
          <p:cNvSpPr txBox="1"/>
          <p:nvPr/>
        </p:nvSpPr>
        <p:spPr>
          <a:xfrm>
            <a:off x="63550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4" name="Paso 5 título"/>
          <p:cNvSpPr txBox="1"/>
          <p:nvPr/>
        </p:nvSpPr>
        <p:spPr>
          <a:xfrm>
            <a:off x="59710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Elegir tareas</a:t>
            </a:r>
            <a:endParaRPr lang="en-US" sz="1300" dirty="0"/>
          </a:p>
        </p:txBody>
      </p:sp>
      <p:sp>
        <p:nvSpPr>
          <p:cNvPr id="45" name="Paso 5 texto"/>
          <p:cNvSpPr txBox="1"/>
          <p:nvPr/>
        </p:nvSpPr>
        <p:spPr>
          <a:xfrm>
            <a:off x="59710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árbol de decisiones</a:t>
            </a:r>
            <a:endParaRPr lang="en-US" sz="1100" dirty="0"/>
          </a:p>
        </p:txBody>
      </p:sp>
      <p:sp>
        <p:nvSpPr>
          <p:cNvPr id="46" name="Paso 6 círculo"/>
          <p:cNvSpPr/>
          <p:nvPr/>
        </p:nvSpPr>
        <p:spPr>
          <a:xfrm>
            <a:off x="7726680" y="3474720"/>
            <a:ext cx="548640" cy="548640"/>
          </a:xfrm>
          <a:prstGeom prst="ellipse">
            <a:avLst/>
          </a:prstGeom>
          <a:solidFill>
            <a:srgbClr val="B45309"/>
          </a:solidFill>
          <a:ln w="12700">
            <a:solidFill>
              <a:srgbClr val="B45309"/>
            </a:solidFill>
            <a:prstDash val="solid"/>
          </a:ln>
        </p:spPr>
      </p:sp>
      <p:sp>
        <p:nvSpPr>
          <p:cNvPr id="47" name="Paso 6 cifra"/>
          <p:cNvSpPr txBox="1"/>
          <p:nvPr/>
        </p:nvSpPr>
        <p:spPr>
          <a:xfrm>
            <a:off x="7726680" y="347472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8" name="Paso 6 título"/>
          <p:cNvSpPr txBox="1"/>
          <p:nvPr/>
        </p:nvSpPr>
        <p:spPr>
          <a:xfrm>
            <a:off x="7342632" y="4160520"/>
            <a:ext cx="1316736" cy="548640"/>
          </a:xfrm>
          <a:prstGeom prst="rect">
            <a:avLst/>
          </a:prstGeom>
          <a:noFill/>
          <a:ln/>
        </p:spPr>
        <p:txBody>
          <a:bodyPr wrap="square" lIns="0" tIns="0" rIns="0" bIns="0" rtlCol="0" anchor="t"/>
          <a:lstStyle/>
          <a:p>
            <a:pPr algn="ctr" indent="0" marL="0">
              <a:buNone/>
            </a:pPr>
            <a:r>
              <a:rPr lang="en-US" sz="1300" b="1" dirty="0">
                <a:solidFill>
                  <a:srgbClr val="1E3A8A"/>
                </a:solidFill>
                <a:latin typeface="Calibri" pitchFamily="34" charset="0"/>
                <a:ea typeface="Calibri" pitchFamily="34" charset="-122"/>
                <a:cs typeface="Calibri" pitchFamily="34" charset="-120"/>
              </a:rPr>
              <a:t>Plan y resultados</a:t>
            </a:r>
            <a:endParaRPr lang="en-US" sz="1300" dirty="0"/>
          </a:p>
        </p:txBody>
      </p:sp>
      <p:sp>
        <p:nvSpPr>
          <p:cNvPr id="49" name="Paso 6 texto"/>
          <p:cNvSpPr txBox="1"/>
          <p:nvPr/>
        </p:nvSpPr>
        <p:spPr>
          <a:xfrm>
            <a:off x="7342632" y="4709160"/>
            <a:ext cx="1316736" cy="548640"/>
          </a:xfrm>
          <a:prstGeom prst="rect">
            <a:avLst/>
          </a:prstGeom>
          <a:noFill/>
          <a:ln/>
        </p:spPr>
        <p:txBody>
          <a:bodyPr wrap="square" lIns="0" tIns="0" rIns="0" bIns="0" rtlCol="0" anchor="t"/>
          <a:lstStyle/>
          <a:p>
            <a:pPr algn="ctr" indent="0" marL="0">
              <a:buNone/>
            </a:pPr>
            <a:r>
              <a:rPr lang="en-US" sz="1100" dirty="0">
                <a:solidFill>
                  <a:srgbClr val="334155"/>
                </a:solidFill>
                <a:latin typeface="Calibri" pitchFamily="34" charset="0"/>
                <a:ea typeface="Calibri" pitchFamily="34" charset="-122"/>
                <a:cs typeface="Calibri" pitchFamily="34" charset="-120"/>
              </a:rPr>
              <a:t>plan, proyección y costos</a:t>
            </a:r>
            <a:endParaRPr lang="en-US" sz="1100" dirty="0"/>
          </a:p>
        </p:txBody>
      </p:sp>
      <p:sp>
        <p:nvSpPr>
          <p:cNvPr id="50" name="Técnicas"/>
          <p:cNvSpPr txBox="1"/>
          <p:nvPr/>
        </p:nvSpPr>
        <p:spPr>
          <a:xfrm>
            <a:off x="457200" y="5440680"/>
            <a:ext cx="8229600" cy="365760"/>
          </a:xfrm>
          <a:prstGeom prst="rect">
            <a:avLst/>
          </a:prstGeom>
          <a:noFill/>
          <a:ln/>
        </p:spPr>
        <p:txBody>
          <a:bodyPr wrap="square" lIns="0" tIns="0" rIns="0" bIns="0" rtlCol="0" anchor="t"/>
          <a:lstStyle/>
          <a:p>
            <a:pPr algn="ctr" indent="0" marL="0">
              <a:buNone/>
            </a:pPr>
            <a:r>
              <a:rPr lang="en-US" sz="1200" i="1" dirty="0">
                <a:solidFill>
                  <a:srgbClr val="334155"/>
                </a:solidFill>
                <a:latin typeface="Calibri" pitchFamily="34" charset="0"/>
                <a:ea typeface="Calibri" pitchFamily="34" charset="-122"/>
                <a:cs typeface="Calibri" pitchFamily="34" charset="-120"/>
              </a:rPr>
              <a:t>Técnicas: análisis de registros de fallas y órdenes de trabajo · entrevistas al personal · observación en campo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CONCEPTOS CLAVE</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RCM: para cada forma de falla, la tarea que más conviene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Para subir la disponibilidad hay que fallar menos (↑ MTBF) y reparar más rápido (↓ MTTR)</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(RCM según Moubray; ecuaciones 2, 3 y 4) y antecedentes (Illesca Cangalaya y Ureta Cirineo, 2024). Ejemplo: cálculo con los datos base del GI500-16.</a:t>
            </a:r>
            <a:endParaRPr lang="en-US" sz="900" dirty="0"/>
          </a:p>
        </p:txBody>
      </p:sp>
      <p:sp>
        <p:nvSpPr>
          <p:cNvPr id="8" name="RCM fondo"/>
          <p:cNvSpPr/>
          <p:nvPr/>
        </p:nvSpPr>
        <p:spPr>
          <a:xfrm>
            <a:off x="457200" y="1600200"/>
            <a:ext cx="3840480" cy="2743200"/>
          </a:xfrm>
          <a:prstGeom prst="roundRect">
            <a:avLst>
              <a:gd name="adj" fmla="val 2333"/>
            </a:avLst>
          </a:prstGeom>
          <a:solidFill>
            <a:srgbClr val="FDF1E1"/>
          </a:solidFill>
          <a:ln w="15875">
            <a:solidFill>
              <a:srgbClr val="B45309"/>
            </a:solidFill>
            <a:prstDash val="solid"/>
          </a:ln>
        </p:spPr>
      </p:sp>
      <p:sp>
        <p:nvSpPr>
          <p:cNvPr id="9" name="RCM título"/>
          <p:cNvSpPr txBox="1"/>
          <p:nvPr/>
        </p:nvSpPr>
        <p:spPr>
          <a:xfrm>
            <a:off x="640080" y="1691640"/>
            <a:ext cx="3474720" cy="457200"/>
          </a:xfrm>
          <a:prstGeom prst="rect">
            <a:avLst/>
          </a:prstGeom>
          <a:noFill/>
          <a:ln/>
        </p:spPr>
        <p:txBody>
          <a:bodyPr wrap="square" lIns="0" tIns="0" rIns="0" bIns="0" rtlCol="0" anchor="t"/>
          <a:lstStyle/>
          <a:p>
            <a:pPr indent="0" marL="0">
              <a:buNone/>
            </a:pPr>
            <a:r>
              <a:rPr lang="en-US" sz="2200" b="1" dirty="0">
                <a:solidFill>
                  <a:srgbClr val="B45309"/>
                </a:solidFill>
                <a:latin typeface="Calibri" pitchFamily="34" charset="0"/>
                <a:ea typeface="Calibri" pitchFamily="34" charset="-122"/>
                <a:cs typeface="Calibri" pitchFamily="34" charset="-120"/>
              </a:rPr>
              <a:t>RCM</a:t>
            </a:r>
            <a:endParaRPr lang="en-US" sz="2200" dirty="0"/>
          </a:p>
        </p:txBody>
      </p:sp>
      <p:sp>
        <p:nvSpPr>
          <p:cNvPr id="10" name="RCM texto"/>
          <p:cNvSpPr txBox="1"/>
          <p:nvPr/>
        </p:nvSpPr>
        <p:spPr>
          <a:xfrm>
            <a:off x="640080" y="2148840"/>
            <a:ext cx="3520440" cy="1097280"/>
          </a:xfrm>
          <a:prstGeom prst="rect">
            <a:avLst/>
          </a:prstGeom>
          <a:noFill/>
          <a:ln/>
        </p:spPr>
        <p:txBody>
          <a:bodyPr wrap="square" lIns="0" tIns="0" rIns="0" bIns="0" rtlCol="0" anchor="t"/>
          <a:lstStyle/>
          <a:p>
            <a:pPr indent="0" marL="0">
              <a:buNone/>
            </a:pPr>
            <a:r>
              <a:rPr lang="en-US" sz="1250" dirty="0">
                <a:solidFill>
                  <a:srgbClr val="334155"/>
                </a:solidFill>
                <a:latin typeface="Calibri" pitchFamily="34" charset="0"/>
                <a:ea typeface="Calibri" pitchFamily="34" charset="-122"/>
                <a:cs typeface="Calibri" pitchFamily="34" charset="-120"/>
              </a:rPr>
              <a:t>Mantenimiento centrado en la confiabilidad (Moubray). No repara por costumbre: analiza cómo falla cada componente y elige la tarea adecuada:</a:t>
            </a:r>
            <a:endParaRPr lang="en-US" sz="1250" dirty="0"/>
          </a:p>
        </p:txBody>
      </p:sp>
      <p:sp>
        <p:nvSpPr>
          <p:cNvPr id="11" name="RCM opciones"/>
          <p:cNvSpPr txBox="1"/>
          <p:nvPr/>
        </p:nvSpPr>
        <p:spPr>
          <a:xfrm>
            <a:off x="640080" y="3246120"/>
            <a:ext cx="3520440" cy="1005840"/>
          </a:xfrm>
          <a:prstGeom prst="rect">
            <a:avLst/>
          </a:prstGeom>
          <a:noFill/>
          <a:ln/>
        </p:spPr>
        <p:txBody>
          <a:bodyPr wrap="square" lIns="0" tIns="0" rIns="0" bIns="0" rtlCol="0" anchor="t"/>
          <a:lstStyle/>
          <a:p>
            <a:pPr marL="342900" indent="-342900">
              <a:buSzPct val="100000"/>
              <a:buChar char="•"/>
            </a:pPr>
            <a:r>
              <a:rPr lang="en-US" sz="1250" b="1" dirty="0">
                <a:solidFill>
                  <a:srgbClr val="1E3A8A"/>
                </a:solidFill>
                <a:latin typeface="Calibri" pitchFamily="34" charset="0"/>
                <a:ea typeface="Calibri" pitchFamily="34" charset="-122"/>
                <a:cs typeface="Calibri" pitchFamily="34" charset="-120"/>
              </a:rPr>
              <a:t>medir su estado,</a:t>
            </a:r>
            <a:endParaRPr lang="en-US" sz="1250" dirty="0"/>
          </a:p>
          <a:p>
            <a:pPr marL="342900" indent="-342900">
              <a:buSzPct val="100000"/>
              <a:buChar char="•"/>
            </a:pPr>
            <a:r>
              <a:rPr lang="en-US" sz="1250" b="1" dirty="0">
                <a:solidFill>
                  <a:srgbClr val="1E3A8A"/>
                </a:solidFill>
                <a:latin typeface="Calibri" pitchFamily="34" charset="0"/>
                <a:ea typeface="Calibri" pitchFamily="34" charset="-122"/>
                <a:cs typeface="Calibri" pitchFamily="34" charset="-120"/>
              </a:rPr>
              <a:t>renovarlo o cambiarlo cada cierto tiempo,</a:t>
            </a:r>
            <a:endParaRPr lang="en-US" sz="1250" dirty="0"/>
          </a:p>
          <a:p>
            <a:pPr marL="342900" indent="-342900">
              <a:buSzPct val="100000"/>
              <a:buChar char="•"/>
            </a:pPr>
            <a:r>
              <a:rPr lang="en-US" sz="1250" b="1" dirty="0">
                <a:solidFill>
                  <a:srgbClr val="1E3A8A"/>
                </a:solidFill>
                <a:latin typeface="Calibri" pitchFamily="34" charset="0"/>
                <a:ea typeface="Calibri" pitchFamily="34" charset="-122"/>
                <a:cs typeface="Calibri" pitchFamily="34" charset="-120"/>
              </a:rPr>
              <a:t>o rediseñar.</a:t>
            </a:r>
            <a:endParaRPr lang="en-US" sz="1250" dirty="0"/>
          </a:p>
        </p:txBody>
      </p:sp>
      <p:sp>
        <p:nvSpPr>
          <p:cNvPr id="12" name="MTBF fondo"/>
          <p:cNvSpPr/>
          <p:nvPr/>
        </p:nvSpPr>
        <p:spPr>
          <a:xfrm>
            <a:off x="4526280" y="1600200"/>
            <a:ext cx="4160520" cy="822960"/>
          </a:xfrm>
          <a:prstGeom prst="roundRect">
            <a:avLst>
              <a:gd name="adj" fmla="val 7778"/>
            </a:avLst>
          </a:prstGeom>
          <a:solidFill>
            <a:srgbClr val="EEF2FA"/>
          </a:solidFill>
          <a:ln w="9525">
            <a:solidFill>
              <a:srgbClr val="EEF2FA"/>
            </a:solidFill>
            <a:prstDash val="solid"/>
          </a:ln>
        </p:spPr>
      </p:sp>
      <p:sp>
        <p:nvSpPr>
          <p:cNvPr id="13" name="MTBF sigla"/>
          <p:cNvSpPr txBox="1"/>
          <p:nvPr/>
        </p:nvSpPr>
        <p:spPr>
          <a:xfrm>
            <a:off x="4663440" y="1600200"/>
            <a:ext cx="1097280" cy="82296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MTBF</a:t>
            </a:r>
            <a:endParaRPr lang="en-US" sz="2200" dirty="0"/>
          </a:p>
        </p:txBody>
      </p:sp>
      <p:sp>
        <p:nvSpPr>
          <p:cNvPr id="14" name="MTBF texto"/>
          <p:cNvSpPr txBox="1"/>
          <p:nvPr/>
        </p:nvSpPr>
        <p:spPr>
          <a:xfrm>
            <a:off x="5760720" y="1600200"/>
            <a:ext cx="283464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cada cuántas horas falla, en promedio</a:t>
            </a:r>
            <a:endParaRPr lang="en-US" sz="1300" dirty="0"/>
          </a:p>
        </p:txBody>
      </p:sp>
      <p:sp>
        <p:nvSpPr>
          <p:cNvPr id="15" name="MTTR fondo"/>
          <p:cNvSpPr/>
          <p:nvPr/>
        </p:nvSpPr>
        <p:spPr>
          <a:xfrm>
            <a:off x="4526280" y="2532888"/>
            <a:ext cx="4160520" cy="822960"/>
          </a:xfrm>
          <a:prstGeom prst="roundRect">
            <a:avLst>
              <a:gd name="adj" fmla="val 7778"/>
            </a:avLst>
          </a:prstGeom>
          <a:solidFill>
            <a:srgbClr val="EEF2FA"/>
          </a:solidFill>
          <a:ln w="9525">
            <a:solidFill>
              <a:srgbClr val="EEF2FA"/>
            </a:solidFill>
            <a:prstDash val="solid"/>
          </a:ln>
        </p:spPr>
      </p:sp>
      <p:sp>
        <p:nvSpPr>
          <p:cNvPr id="16" name="MTTR sigla"/>
          <p:cNvSpPr txBox="1"/>
          <p:nvPr/>
        </p:nvSpPr>
        <p:spPr>
          <a:xfrm>
            <a:off x="4663440" y="2532888"/>
            <a:ext cx="1097280" cy="82296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MTTR</a:t>
            </a:r>
            <a:endParaRPr lang="en-US" sz="2200" dirty="0"/>
          </a:p>
        </p:txBody>
      </p:sp>
      <p:sp>
        <p:nvSpPr>
          <p:cNvPr id="17" name="MTTR texto"/>
          <p:cNvSpPr txBox="1"/>
          <p:nvPr/>
        </p:nvSpPr>
        <p:spPr>
          <a:xfrm>
            <a:off x="5760720" y="2532888"/>
            <a:ext cx="283464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cuántas horas demora repararlo</a:t>
            </a:r>
            <a:endParaRPr lang="en-US" sz="1300" dirty="0"/>
          </a:p>
        </p:txBody>
      </p:sp>
      <p:sp>
        <p:nvSpPr>
          <p:cNvPr id="18" name="D fondo"/>
          <p:cNvSpPr/>
          <p:nvPr/>
        </p:nvSpPr>
        <p:spPr>
          <a:xfrm>
            <a:off x="4526280" y="3465576"/>
            <a:ext cx="4160520" cy="822960"/>
          </a:xfrm>
          <a:prstGeom prst="roundRect">
            <a:avLst>
              <a:gd name="adj" fmla="val 7778"/>
            </a:avLst>
          </a:prstGeom>
          <a:solidFill>
            <a:srgbClr val="EEF2FA"/>
          </a:solidFill>
          <a:ln w="9525">
            <a:solidFill>
              <a:srgbClr val="EEF2FA"/>
            </a:solidFill>
            <a:prstDash val="solid"/>
          </a:ln>
        </p:spPr>
      </p:sp>
      <p:sp>
        <p:nvSpPr>
          <p:cNvPr id="19" name="D sigla"/>
          <p:cNvSpPr txBox="1"/>
          <p:nvPr/>
        </p:nvSpPr>
        <p:spPr>
          <a:xfrm>
            <a:off x="4663440" y="3465576"/>
            <a:ext cx="1097280" cy="82296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D</a:t>
            </a:r>
            <a:endParaRPr lang="en-US" sz="2200" dirty="0"/>
          </a:p>
        </p:txBody>
      </p:sp>
      <p:sp>
        <p:nvSpPr>
          <p:cNvPr id="20" name="D texto"/>
          <p:cNvSpPr txBox="1"/>
          <p:nvPr/>
        </p:nvSpPr>
        <p:spPr>
          <a:xfrm>
            <a:off x="5760720" y="3465576"/>
            <a:ext cx="2834640" cy="8229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porcentaje del tiempo listo para operar</a:t>
            </a:r>
            <a:endParaRPr lang="en-US" sz="1300" dirty="0"/>
          </a:p>
        </p:txBody>
      </p:sp>
      <p:sp>
        <p:nvSpPr>
          <p:cNvPr id="21" name="Fórmula fondo"/>
          <p:cNvSpPr/>
          <p:nvPr/>
        </p:nvSpPr>
        <p:spPr>
          <a:xfrm>
            <a:off x="457200" y="4526280"/>
            <a:ext cx="8229600" cy="685800"/>
          </a:xfrm>
          <a:prstGeom prst="roundRect">
            <a:avLst>
              <a:gd name="adj" fmla="val 9333"/>
            </a:avLst>
          </a:prstGeom>
          <a:solidFill>
            <a:srgbClr val="FFFFFF"/>
          </a:solidFill>
          <a:ln w="9525">
            <a:solidFill>
              <a:srgbClr val="CBD5E1"/>
            </a:solidFill>
            <a:prstDash val="solid"/>
          </a:ln>
        </p:spPr>
      </p:sp>
      <p:sp>
        <p:nvSpPr>
          <p:cNvPr id="22" name="Fórmula"/>
          <p:cNvSpPr txBox="1"/>
          <p:nvPr/>
        </p:nvSpPr>
        <p:spPr>
          <a:xfrm>
            <a:off x="640080" y="4526280"/>
            <a:ext cx="7863840" cy="685800"/>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D = MTBF / (MTBF + MTTR)    </a:t>
            </a:r>
            <a:pPr indent="0" marL="0">
              <a:buNone/>
            </a:pPr>
            <a:r>
              <a:rPr lang="en-US" sz="1300" dirty="0">
                <a:solidFill>
                  <a:srgbClr val="334155"/>
                </a:solidFill>
                <a:latin typeface="Calibri" pitchFamily="34" charset="0"/>
                <a:ea typeface="Calibri" pitchFamily="34" charset="-122"/>
                <a:cs typeface="Calibri" pitchFamily="34" charset="-120"/>
              </a:rPr>
              <a:t>Ejemplo GI500-16: 145,3 / (145,3 + 11,5) = </a:t>
            </a:r>
            <a:pPr indent="0" marL="0">
              <a:buNone/>
            </a:pPr>
            <a:r>
              <a:rPr lang="en-US" sz="1700" b="1" dirty="0">
                <a:solidFill>
                  <a:srgbClr val="B45309"/>
                </a:solidFill>
                <a:latin typeface="Calibri" pitchFamily="34" charset="0"/>
                <a:ea typeface="Calibri" pitchFamily="34" charset="-122"/>
                <a:cs typeface="Calibri" pitchFamily="34" charset="-120"/>
              </a:rPr>
              <a:t>92,67 %</a:t>
            </a:r>
            <a:endParaRPr lang="en-US" sz="1700" dirty="0"/>
          </a:p>
        </p:txBody>
      </p:sp>
      <p:sp>
        <p:nvSpPr>
          <p:cNvPr id="23" name="Antecedente"/>
          <p:cNvSpPr txBox="1"/>
          <p:nvPr/>
        </p:nvSpPr>
        <p:spPr>
          <a:xfrm>
            <a:off x="457200" y="5349240"/>
            <a:ext cx="8229600" cy="457200"/>
          </a:xfrm>
          <a:prstGeom prst="rect">
            <a:avLst/>
          </a:prstGeom>
          <a:noFill/>
          <a:ln/>
        </p:spPr>
        <p:txBody>
          <a:bodyPr wrap="square" lIns="0" tIns="0" rIns="0" bIns="0" rtlCol="0" anchor="t"/>
          <a:lstStyle/>
          <a:p>
            <a:pPr indent="0" marL="0">
              <a:buNone/>
            </a:pPr>
            <a:r>
              <a:rPr lang="en-US" sz="1150" i="1" dirty="0">
                <a:solidFill>
                  <a:srgbClr val="334155"/>
                </a:solidFill>
                <a:latin typeface="Calibri" pitchFamily="34" charset="0"/>
                <a:ea typeface="Calibri" pitchFamily="34" charset="-122"/>
                <a:cs typeface="Calibri" pitchFamily="34" charset="-120"/>
              </a:rPr>
              <a:t>Antecedente más cercano: Illesca y Ureta (2024), alquiler de grupos para minería con RCM + TPM: +7,48 % de disponibilidad.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DIAGNÓSTICO 2019–2022</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Ningún equipo llega a 97 %: les faltan entre 3,1 y 4,4 puntos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problema no es solo el desgaste: faltan reglas para sacar, guardar y reinstalar piezas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4.1 (tabla «Indicadores base periodo 2019-2022» e históricos por equipo). Brecha frente a 97 %: cálculo propio.</a:t>
            </a:r>
            <a:endParaRPr lang="en-US" sz="900" dirty="0"/>
          </a:p>
        </p:txBody>
      </p:sp>
      <p:sp>
        <p:nvSpPr>
          <p:cNvPr id="8" name="GI500-16 fondo"/>
          <p:cNvSpPr/>
          <p:nvPr/>
        </p:nvSpPr>
        <p:spPr>
          <a:xfrm>
            <a:off x="457200" y="1600200"/>
            <a:ext cx="2606040" cy="3200400"/>
          </a:xfrm>
          <a:prstGeom prst="roundRect">
            <a:avLst>
              <a:gd name="adj" fmla="val 2456"/>
            </a:avLst>
          </a:prstGeom>
          <a:solidFill>
            <a:srgbClr val="FDF1E1"/>
          </a:solidFill>
          <a:ln w="15875">
            <a:solidFill>
              <a:srgbClr val="B45309"/>
            </a:solidFill>
            <a:prstDash val="solid"/>
          </a:ln>
        </p:spPr>
      </p:sp>
      <p:sp>
        <p:nvSpPr>
          <p:cNvPr id="9" name="GI500-16 nombre"/>
          <p:cNvSpPr txBox="1"/>
          <p:nvPr/>
        </p:nvSpPr>
        <p:spPr>
          <a:xfrm>
            <a:off x="640080" y="1691640"/>
            <a:ext cx="2286000" cy="365760"/>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GI500-16</a:t>
            </a:r>
            <a:endParaRPr lang="en-US" sz="1500" dirty="0"/>
          </a:p>
        </p:txBody>
      </p:sp>
      <p:sp>
        <p:nvSpPr>
          <p:cNvPr id="10" name="GI500-16 disponibilidad"/>
          <p:cNvSpPr txBox="1"/>
          <p:nvPr/>
        </p:nvSpPr>
        <p:spPr>
          <a:xfrm>
            <a:off x="640080" y="2057400"/>
            <a:ext cx="2286000" cy="640080"/>
          </a:xfrm>
          <a:prstGeom prst="rect">
            <a:avLst/>
          </a:prstGeom>
          <a:noFill/>
          <a:ln/>
        </p:spPr>
        <p:txBody>
          <a:bodyPr wrap="square" lIns="0" tIns="0" rIns="0" bIns="0" rtlCol="0" anchor="ctr"/>
          <a:lstStyle/>
          <a:p>
            <a:pPr indent="0" marL="0">
              <a:buNone/>
            </a:pPr>
            <a:r>
              <a:rPr lang="en-US" sz="3000" b="1" dirty="0">
                <a:solidFill>
                  <a:srgbClr val="B45309"/>
                </a:solidFill>
                <a:latin typeface="Calibri" pitchFamily="34" charset="0"/>
                <a:ea typeface="Calibri" pitchFamily="34" charset="-122"/>
                <a:cs typeface="Calibri" pitchFamily="34" charset="-120"/>
              </a:rPr>
              <a:t>92,65 %</a:t>
            </a:r>
            <a:endParaRPr lang="en-US" sz="3000" dirty="0"/>
          </a:p>
        </p:txBody>
      </p:sp>
      <p:sp>
        <p:nvSpPr>
          <p:cNvPr id="11" name="GI500-16 brecha"/>
          <p:cNvSpPr txBox="1"/>
          <p:nvPr/>
        </p:nvSpPr>
        <p:spPr>
          <a:xfrm>
            <a:off x="640080" y="2697480"/>
            <a:ext cx="2286000" cy="2743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disponibilidad · faltan 4,4 puntos</a:t>
            </a:r>
            <a:endParaRPr lang="en-US" sz="1200" dirty="0"/>
          </a:p>
        </p:txBody>
      </p:sp>
      <p:sp>
        <p:nvSpPr>
          <p:cNvPr id="12" name="GI500-16 separador"/>
          <p:cNvSpPr/>
          <p:nvPr/>
        </p:nvSpPr>
        <p:spPr>
          <a:xfrm>
            <a:off x="640080" y="3108960"/>
            <a:ext cx="2240280" cy="0"/>
          </a:xfrm>
          <a:prstGeom prst="line">
            <a:avLst/>
          </a:prstGeom>
          <a:noFill/>
          <a:ln w="9525">
            <a:solidFill>
              <a:srgbClr val="CBD5E1"/>
            </a:solidFill>
            <a:prstDash val="solid"/>
          </a:ln>
        </p:spPr>
      </p:sp>
      <p:sp>
        <p:nvSpPr>
          <p:cNvPr id="13" name="GI500-16 datos"/>
          <p:cNvSpPr txBox="1"/>
          <p:nvPr/>
        </p:nvSpPr>
        <p:spPr>
          <a:xfrm>
            <a:off x="640080" y="3200400"/>
            <a:ext cx="2286000" cy="1463040"/>
          </a:xfrm>
          <a:prstGeom prst="rect">
            <a:avLst/>
          </a:prstGeom>
          <a:noFill/>
          <a:ln/>
        </p:spPr>
        <p:txBody>
          <a:bodyPr wrap="square" lIns="0" tIns="0" rIns="0" bIns="0" rtlCol="0" anchor="t"/>
          <a:lstStyle/>
          <a:p>
            <a:pPr indent="0" marL="0">
              <a:spcAft>
                <a:spcPts val="600"/>
              </a:spcAft>
              <a:buNone/>
            </a:pPr>
            <a:r>
              <a:rPr lang="en-US" sz="1400" b="1" dirty="0">
                <a:solidFill>
                  <a:srgbClr val="334155"/>
                </a:solidFill>
                <a:latin typeface="Calibri" pitchFamily="34" charset="0"/>
                <a:ea typeface="Calibri" pitchFamily="34" charset="-122"/>
                <a:cs typeface="Calibri" pitchFamily="34" charset="-120"/>
              </a:rPr>
              <a:t>43 fallas</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falla cada 145 h</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repara en 11,5 h</a:t>
            </a:r>
            <a:endParaRPr lang="en-US" sz="1400" dirty="0"/>
          </a:p>
        </p:txBody>
      </p:sp>
      <p:sp>
        <p:nvSpPr>
          <p:cNvPr id="14" name="GI500-19 fondo"/>
          <p:cNvSpPr/>
          <p:nvPr/>
        </p:nvSpPr>
        <p:spPr>
          <a:xfrm>
            <a:off x="3268980" y="1600200"/>
            <a:ext cx="2606040" cy="3200400"/>
          </a:xfrm>
          <a:prstGeom prst="roundRect">
            <a:avLst>
              <a:gd name="adj" fmla="val 2456"/>
            </a:avLst>
          </a:prstGeom>
          <a:solidFill>
            <a:srgbClr val="EEF2FA"/>
          </a:solidFill>
          <a:ln w="9525">
            <a:solidFill>
              <a:srgbClr val="EEF2FA"/>
            </a:solidFill>
            <a:prstDash val="solid"/>
          </a:ln>
        </p:spPr>
      </p:sp>
      <p:sp>
        <p:nvSpPr>
          <p:cNvPr id="15" name="GI500-19 nombre"/>
          <p:cNvSpPr txBox="1"/>
          <p:nvPr/>
        </p:nvSpPr>
        <p:spPr>
          <a:xfrm>
            <a:off x="3451860" y="1691640"/>
            <a:ext cx="2286000" cy="365760"/>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GI500-19</a:t>
            </a:r>
            <a:endParaRPr lang="en-US" sz="1500" dirty="0"/>
          </a:p>
        </p:txBody>
      </p:sp>
      <p:sp>
        <p:nvSpPr>
          <p:cNvPr id="16" name="GI500-19 disponibilidad"/>
          <p:cNvSpPr txBox="1"/>
          <p:nvPr/>
        </p:nvSpPr>
        <p:spPr>
          <a:xfrm>
            <a:off x="3451860" y="2057400"/>
            <a:ext cx="2286000" cy="64008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93,94 %</a:t>
            </a:r>
            <a:endParaRPr lang="en-US" sz="3000" dirty="0"/>
          </a:p>
        </p:txBody>
      </p:sp>
      <p:sp>
        <p:nvSpPr>
          <p:cNvPr id="17" name="GI500-19 brecha"/>
          <p:cNvSpPr txBox="1"/>
          <p:nvPr/>
        </p:nvSpPr>
        <p:spPr>
          <a:xfrm>
            <a:off x="3451860" y="2697480"/>
            <a:ext cx="2286000" cy="2743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disponibilidad · faltan 3,1 puntos</a:t>
            </a:r>
            <a:endParaRPr lang="en-US" sz="1200" dirty="0"/>
          </a:p>
        </p:txBody>
      </p:sp>
      <p:sp>
        <p:nvSpPr>
          <p:cNvPr id="18" name="GI500-19 separador"/>
          <p:cNvSpPr/>
          <p:nvPr/>
        </p:nvSpPr>
        <p:spPr>
          <a:xfrm>
            <a:off x="3451860" y="3108960"/>
            <a:ext cx="2240280" cy="0"/>
          </a:xfrm>
          <a:prstGeom prst="line">
            <a:avLst/>
          </a:prstGeom>
          <a:noFill/>
          <a:ln w="9525">
            <a:solidFill>
              <a:srgbClr val="CBD5E1"/>
            </a:solidFill>
            <a:prstDash val="solid"/>
          </a:ln>
        </p:spPr>
      </p:sp>
      <p:sp>
        <p:nvSpPr>
          <p:cNvPr id="19" name="GI500-19 datos"/>
          <p:cNvSpPr txBox="1"/>
          <p:nvPr/>
        </p:nvSpPr>
        <p:spPr>
          <a:xfrm>
            <a:off x="3451860" y="3200400"/>
            <a:ext cx="2286000" cy="1463040"/>
          </a:xfrm>
          <a:prstGeom prst="rect">
            <a:avLst/>
          </a:prstGeom>
          <a:noFill/>
          <a:ln/>
        </p:spPr>
        <p:txBody>
          <a:bodyPr wrap="square" lIns="0" tIns="0" rIns="0" bIns="0" rtlCol="0" anchor="t"/>
          <a:lstStyle/>
          <a:p>
            <a:pPr indent="0" marL="0">
              <a:spcAft>
                <a:spcPts val="600"/>
              </a:spcAft>
              <a:buNone/>
            </a:pPr>
            <a:r>
              <a:rPr lang="en-US" sz="1400" b="1" dirty="0">
                <a:solidFill>
                  <a:srgbClr val="334155"/>
                </a:solidFill>
                <a:latin typeface="Calibri" pitchFamily="34" charset="0"/>
                <a:ea typeface="Calibri" pitchFamily="34" charset="-122"/>
                <a:cs typeface="Calibri" pitchFamily="34" charset="-120"/>
              </a:rPr>
              <a:t>49 fallas</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falla cada 245 h</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repara en 15,8 h</a:t>
            </a:r>
            <a:endParaRPr lang="en-US" sz="1400" dirty="0"/>
          </a:p>
        </p:txBody>
      </p:sp>
      <p:sp>
        <p:nvSpPr>
          <p:cNvPr id="20" name="GI500-20 fondo"/>
          <p:cNvSpPr/>
          <p:nvPr/>
        </p:nvSpPr>
        <p:spPr>
          <a:xfrm>
            <a:off x="6080760" y="1600200"/>
            <a:ext cx="2606040" cy="3200400"/>
          </a:xfrm>
          <a:prstGeom prst="roundRect">
            <a:avLst>
              <a:gd name="adj" fmla="val 2456"/>
            </a:avLst>
          </a:prstGeom>
          <a:solidFill>
            <a:srgbClr val="EEF2FA"/>
          </a:solidFill>
          <a:ln w="9525">
            <a:solidFill>
              <a:srgbClr val="EEF2FA"/>
            </a:solidFill>
            <a:prstDash val="solid"/>
          </a:ln>
        </p:spPr>
      </p:sp>
      <p:sp>
        <p:nvSpPr>
          <p:cNvPr id="21" name="GI500-20 nombre"/>
          <p:cNvSpPr txBox="1"/>
          <p:nvPr/>
        </p:nvSpPr>
        <p:spPr>
          <a:xfrm>
            <a:off x="6263640" y="1691640"/>
            <a:ext cx="2286000" cy="365760"/>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GI500-20</a:t>
            </a:r>
            <a:endParaRPr lang="en-US" sz="1500" dirty="0"/>
          </a:p>
        </p:txBody>
      </p:sp>
      <p:sp>
        <p:nvSpPr>
          <p:cNvPr id="22" name="GI500-20 disponibilidad"/>
          <p:cNvSpPr txBox="1"/>
          <p:nvPr/>
        </p:nvSpPr>
        <p:spPr>
          <a:xfrm>
            <a:off x="6263640" y="2057400"/>
            <a:ext cx="2286000" cy="64008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93,34 %</a:t>
            </a:r>
            <a:endParaRPr lang="en-US" sz="3000" dirty="0"/>
          </a:p>
        </p:txBody>
      </p:sp>
      <p:sp>
        <p:nvSpPr>
          <p:cNvPr id="23" name="GI500-20 brecha"/>
          <p:cNvSpPr txBox="1"/>
          <p:nvPr/>
        </p:nvSpPr>
        <p:spPr>
          <a:xfrm>
            <a:off x="6263640" y="2697480"/>
            <a:ext cx="2286000" cy="2743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disponibilidad · faltan 3,7 puntos</a:t>
            </a:r>
            <a:endParaRPr lang="en-US" sz="1200" dirty="0"/>
          </a:p>
        </p:txBody>
      </p:sp>
      <p:sp>
        <p:nvSpPr>
          <p:cNvPr id="24" name="GI500-20 separador"/>
          <p:cNvSpPr/>
          <p:nvPr/>
        </p:nvSpPr>
        <p:spPr>
          <a:xfrm>
            <a:off x="6263640" y="3108960"/>
            <a:ext cx="2240280" cy="0"/>
          </a:xfrm>
          <a:prstGeom prst="line">
            <a:avLst/>
          </a:prstGeom>
          <a:noFill/>
          <a:ln w="9525">
            <a:solidFill>
              <a:srgbClr val="CBD5E1"/>
            </a:solidFill>
            <a:prstDash val="solid"/>
          </a:ln>
        </p:spPr>
      </p:sp>
      <p:sp>
        <p:nvSpPr>
          <p:cNvPr id="25" name="GI500-20 datos"/>
          <p:cNvSpPr txBox="1"/>
          <p:nvPr/>
        </p:nvSpPr>
        <p:spPr>
          <a:xfrm>
            <a:off x="6263640" y="3200400"/>
            <a:ext cx="2286000" cy="1463040"/>
          </a:xfrm>
          <a:prstGeom prst="rect">
            <a:avLst/>
          </a:prstGeom>
          <a:noFill/>
          <a:ln/>
        </p:spPr>
        <p:txBody>
          <a:bodyPr wrap="square" lIns="0" tIns="0" rIns="0" bIns="0" rtlCol="0" anchor="t"/>
          <a:lstStyle/>
          <a:p>
            <a:pPr indent="0" marL="0">
              <a:spcAft>
                <a:spcPts val="600"/>
              </a:spcAft>
              <a:buNone/>
            </a:pPr>
            <a:r>
              <a:rPr lang="en-US" sz="1400" b="1" dirty="0">
                <a:solidFill>
                  <a:srgbClr val="334155"/>
                </a:solidFill>
                <a:latin typeface="Calibri" pitchFamily="34" charset="0"/>
                <a:ea typeface="Calibri" pitchFamily="34" charset="-122"/>
                <a:cs typeface="Calibri" pitchFamily="34" charset="-120"/>
              </a:rPr>
              <a:t>21 fallas</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falla cada 153 h</a:t>
            </a:r>
            <a:endParaRPr lang="en-US" sz="1400" dirty="0"/>
          </a:p>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repara en 10,9 h</a:t>
            </a:r>
            <a:endParaRPr lang="en-US" sz="1400" dirty="0"/>
          </a:p>
        </p:txBody>
      </p:sp>
      <p:sp>
        <p:nvSpPr>
          <p:cNvPr id="26" name="Paradas fondo"/>
          <p:cNvSpPr/>
          <p:nvPr/>
        </p:nvSpPr>
        <p:spPr>
          <a:xfrm>
            <a:off x="457200" y="4983480"/>
            <a:ext cx="8229600" cy="868680"/>
          </a:xfrm>
          <a:prstGeom prst="roundRect">
            <a:avLst>
              <a:gd name="adj" fmla="val 7368"/>
            </a:avLst>
          </a:prstGeom>
          <a:solidFill>
            <a:srgbClr val="FFFFFF"/>
          </a:solidFill>
          <a:ln w="9525">
            <a:solidFill>
              <a:srgbClr val="CBD5E1"/>
            </a:solidFill>
            <a:prstDash val="solid"/>
          </a:ln>
        </p:spPr>
      </p:sp>
      <p:sp>
        <p:nvSpPr>
          <p:cNvPr id="27" name="Paradas"/>
          <p:cNvSpPr txBox="1"/>
          <p:nvPr/>
        </p:nvSpPr>
        <p:spPr>
          <a:xfrm>
            <a:off x="640080" y="4983480"/>
            <a:ext cx="7863840" cy="86868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Paradas más largas: </a:t>
            </a:r>
            <a:pPr indent="0" marL="0">
              <a:buNone/>
            </a:pPr>
            <a:r>
              <a:rPr lang="en-US" sz="1300" dirty="0">
                <a:solidFill>
                  <a:srgbClr val="334155"/>
                </a:solidFill>
                <a:latin typeface="Calibri" pitchFamily="34" charset="0"/>
                <a:ea typeface="Calibri" pitchFamily="34" charset="-122"/>
                <a:cs typeface="Calibri" pitchFamily="34" charset="-120"/>
              </a:rPr>
              <a:t>rebobinado del estator (120 h y 96 h), bomba de alta presión con agua (72 h), radiador obstruido (50 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SELECCIÓN DE EQUIPOS CRÍTICOS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 matriz de criticidad eligió los 3 equipos a estudiar</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Muestra: GI500-19, GI500-16 y GI500-20, los únicos de criticidad alta (90 a 200)</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(ponderación y rangos) y Cap. IV, figura «Criticidad de equipos en servicio» (20 equipos). «Otros 11»: se muestra el mayor de ellos (56); el resto tiene entre 20 y 56.</a:t>
            </a:r>
            <a:endParaRPr lang="en-US" sz="900" dirty="0"/>
          </a:p>
        </p:txBody>
      </p:sp>
      <p:sp>
        <p:nvSpPr>
          <p:cNvPr id="8" name="Etiqueta CRITICIDAD POR EQUIPO (2"/>
          <p:cNvSpPr txBox="1"/>
          <p:nvPr/>
        </p:nvSpPr>
        <p:spPr>
          <a:xfrm>
            <a:off x="457200" y="1600200"/>
            <a:ext cx="50292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CRITICIDAD POR EQUIPO (20 EVALUADOS)</a:t>
            </a:r>
            <a:endParaRPr lang="en-US" sz="1100" dirty="0"/>
          </a:p>
        </p:txBody>
      </p:sp>
      <p:graphicFrame>
        <p:nvGraphicFramePr>
          <p:cNvPr id="9" name="Gráfico criticidad" descr="Criticidad: GI500-19 150, GI500-16 140, GI500-20 130, GI250-01 84; el resto 75 o menos (11 equipos con 56 o menos)"/>
          <p:cNvGraphicFramePr/>
          <p:nvPr/>
        </p:nvGraphicFramePr>
        <p:xfrm>
          <a:off x="320040" y="1828800"/>
          <a:ext cx="5120640" cy="4069080"/>
        </p:xfrm>
        <a:graphic xmlns:a="http://schemas.openxmlformats.org/drawingml/2006/main">
          <a:graphicData uri="http://schemas.openxmlformats.org/drawingml/2006/chart">
            <c:chart xmlns:c="http://schemas.openxmlformats.org/drawingml/2006/chart" r:id="rId2"/>
          </a:graphicData>
        </a:graphic>
      </p:graphicFrame>
      <p:sp>
        <p:nvSpPr>
          <p:cNvPr id="10" name="Fórmula fondo"/>
          <p:cNvSpPr/>
          <p:nvPr/>
        </p:nvSpPr>
        <p:spPr>
          <a:xfrm>
            <a:off x="5669280" y="1783080"/>
            <a:ext cx="3017520" cy="1874520"/>
          </a:xfrm>
          <a:prstGeom prst="roundRect">
            <a:avLst>
              <a:gd name="adj" fmla="val 3415"/>
            </a:avLst>
          </a:prstGeom>
          <a:solidFill>
            <a:srgbClr val="EEF2FA"/>
          </a:solidFill>
          <a:ln w="9525">
            <a:solidFill>
              <a:srgbClr val="EEF2FA"/>
            </a:solidFill>
            <a:prstDash val="solid"/>
          </a:ln>
        </p:spPr>
      </p:sp>
      <p:sp>
        <p:nvSpPr>
          <p:cNvPr id="11" name="Fórmula 1"/>
          <p:cNvSpPr txBox="1"/>
          <p:nvPr/>
        </p:nvSpPr>
        <p:spPr>
          <a:xfrm>
            <a:off x="5852160" y="1874520"/>
            <a:ext cx="2743200" cy="365760"/>
          </a:xfrm>
          <a:prstGeom prst="rect">
            <a:avLst/>
          </a:prstGeom>
          <a:noFill/>
          <a:ln/>
        </p:spPr>
        <p:txBody>
          <a:bodyPr wrap="square" lIns="0" tIns="0" rIns="0" bIns="0" rtlCol="0" anchor="t"/>
          <a:lstStyle/>
          <a:p>
            <a:pPr indent="0" marL="0">
              <a:buNone/>
            </a:pPr>
            <a:r>
              <a:rPr lang="en-US" sz="1500" b="1" dirty="0">
                <a:solidFill>
                  <a:srgbClr val="1E3A8A"/>
                </a:solidFill>
                <a:latin typeface="Calibri" pitchFamily="34" charset="0"/>
                <a:ea typeface="Calibri" pitchFamily="34" charset="-122"/>
                <a:cs typeface="Calibri" pitchFamily="34" charset="-120"/>
              </a:rPr>
              <a:t>Criticidad =</a:t>
            </a:r>
            <a:endParaRPr lang="en-US" sz="1500" dirty="0"/>
          </a:p>
        </p:txBody>
      </p:sp>
      <p:sp>
        <p:nvSpPr>
          <p:cNvPr id="12" name="Fórmula 2"/>
          <p:cNvSpPr txBox="1"/>
          <p:nvPr/>
        </p:nvSpPr>
        <p:spPr>
          <a:xfrm>
            <a:off x="5852160" y="2240280"/>
            <a:ext cx="2743200" cy="502920"/>
          </a:xfrm>
          <a:prstGeom prst="rect">
            <a:avLst/>
          </a:prstGeom>
          <a:noFill/>
          <a:ln/>
        </p:spPr>
        <p:txBody>
          <a:bodyPr wrap="square" lIns="0" tIns="0" rIns="0" bIns="0" rtlCol="0" anchor="t"/>
          <a:lstStyle/>
          <a:p>
            <a:pPr indent="0" marL="0">
              <a:buNone/>
            </a:pPr>
            <a:r>
              <a:rPr lang="en-US" sz="1400" dirty="0">
                <a:solidFill>
                  <a:srgbClr val="1E3A8A"/>
                </a:solidFill>
                <a:latin typeface="Calibri" pitchFamily="34" charset="0"/>
                <a:ea typeface="Calibri" pitchFamily="34" charset="-122"/>
                <a:cs typeface="Calibri" pitchFamily="34" charset="-120"/>
              </a:rPr>
              <a:t>frecuencia de falla × consecuencia</a:t>
            </a:r>
            <a:endParaRPr lang="en-US" sz="1400" dirty="0"/>
          </a:p>
        </p:txBody>
      </p:sp>
      <p:sp>
        <p:nvSpPr>
          <p:cNvPr id="13" name="Fórmula 3"/>
          <p:cNvSpPr txBox="1"/>
          <p:nvPr/>
        </p:nvSpPr>
        <p:spPr>
          <a:xfrm>
            <a:off x="5852160" y="2743200"/>
            <a:ext cx="2743200" cy="822960"/>
          </a:xfrm>
          <a:prstGeom prst="rect">
            <a:avLst/>
          </a:prstGeom>
          <a:noFill/>
          <a:ln/>
        </p:spPr>
        <p:txBody>
          <a:bodyPr wrap="square" lIns="0" tIns="0" rIns="0" bIns="0" rtlCol="0" anchor="t"/>
          <a:lstStyle/>
          <a:p>
            <a:pPr indent="0" marL="0">
              <a:buNone/>
            </a:pPr>
            <a:r>
              <a:rPr lang="en-US" sz="1100" dirty="0">
                <a:solidFill>
                  <a:srgbClr val="334155"/>
                </a:solidFill>
                <a:latin typeface="Calibri" pitchFamily="34" charset="0"/>
                <a:ea typeface="Calibri" pitchFamily="34" charset="-122"/>
                <a:cs typeface="Calibri" pitchFamily="34" charset="-120"/>
              </a:rPr>
              <a:t>La consecuencia suma tiempo de reparación, impacto en la operación, costo, ambiente y seguridad.</a:t>
            </a:r>
            <a:endParaRPr lang="en-US" sz="1100" dirty="0"/>
          </a:p>
        </p:txBody>
      </p:sp>
      <p:sp>
        <p:nvSpPr>
          <p:cNvPr id="14" name="Nivel alta fondo"/>
          <p:cNvSpPr/>
          <p:nvPr/>
        </p:nvSpPr>
        <p:spPr>
          <a:xfrm>
            <a:off x="5669280" y="3840480"/>
            <a:ext cx="3017520" cy="594360"/>
          </a:xfrm>
          <a:prstGeom prst="roundRect">
            <a:avLst>
              <a:gd name="adj" fmla="val 10769"/>
            </a:avLst>
          </a:prstGeom>
          <a:solidFill>
            <a:srgbClr val="FDF1E1"/>
          </a:solidFill>
          <a:ln w="9525">
            <a:solidFill>
              <a:srgbClr val="B45309"/>
            </a:solidFill>
            <a:prstDash val="solid"/>
          </a:ln>
        </p:spPr>
      </p:sp>
      <p:sp>
        <p:nvSpPr>
          <p:cNvPr id="15" name="Nivel alta"/>
          <p:cNvSpPr txBox="1"/>
          <p:nvPr/>
        </p:nvSpPr>
        <p:spPr>
          <a:xfrm>
            <a:off x="5806440" y="3840480"/>
            <a:ext cx="2834640" cy="594360"/>
          </a:xfrm>
          <a:prstGeom prst="rect">
            <a:avLst/>
          </a:prstGeom>
          <a:noFill/>
          <a:ln/>
        </p:spPr>
        <p:txBody>
          <a:bodyPr wrap="square" lIns="0" tIns="0" rIns="0" bIns="0" rtlCol="0" anchor="ctr"/>
          <a:lstStyle/>
          <a:p>
            <a:pPr indent="0" marL="0">
              <a:buNone/>
            </a:pPr>
            <a:r>
              <a:rPr lang="en-US" sz="2000" b="1" dirty="0">
                <a:solidFill>
                  <a:srgbClr val="B45309"/>
                </a:solidFill>
                <a:latin typeface="Calibri" pitchFamily="34" charset="0"/>
                <a:ea typeface="Calibri" pitchFamily="34" charset="-122"/>
                <a:cs typeface="Calibri" pitchFamily="34" charset="-120"/>
              </a:rPr>
              <a:t>3  </a:t>
            </a:r>
            <a:pPr indent="0" marL="0">
              <a:buNone/>
            </a:pPr>
            <a:r>
              <a:rPr lang="en-US" sz="1300" dirty="0">
                <a:solidFill>
                  <a:srgbClr val="334155"/>
                </a:solidFill>
                <a:latin typeface="Calibri" pitchFamily="34" charset="0"/>
                <a:ea typeface="Calibri" pitchFamily="34" charset="-122"/>
                <a:cs typeface="Calibri" pitchFamily="34" charset="-120"/>
              </a:rPr>
              <a:t>equipos de criticidad alta</a:t>
            </a:r>
            <a:endParaRPr lang="en-US" sz="2000" dirty="0"/>
          </a:p>
        </p:txBody>
      </p:sp>
      <p:sp>
        <p:nvSpPr>
          <p:cNvPr id="16" name="Nivel media fondo"/>
          <p:cNvSpPr/>
          <p:nvPr/>
        </p:nvSpPr>
        <p:spPr>
          <a:xfrm>
            <a:off x="5669280" y="4526280"/>
            <a:ext cx="3017520" cy="594360"/>
          </a:xfrm>
          <a:prstGeom prst="roundRect">
            <a:avLst>
              <a:gd name="adj" fmla="val 10769"/>
            </a:avLst>
          </a:prstGeom>
          <a:solidFill>
            <a:srgbClr val="EEF2FA"/>
          </a:solidFill>
          <a:ln w="9525">
            <a:solidFill>
              <a:srgbClr val="EEF2FA"/>
            </a:solidFill>
            <a:prstDash val="solid"/>
          </a:ln>
        </p:spPr>
      </p:sp>
      <p:sp>
        <p:nvSpPr>
          <p:cNvPr id="17" name="Nivel media"/>
          <p:cNvSpPr txBox="1"/>
          <p:nvPr/>
        </p:nvSpPr>
        <p:spPr>
          <a:xfrm>
            <a:off x="5806440" y="4526280"/>
            <a:ext cx="2834640" cy="594360"/>
          </a:xfrm>
          <a:prstGeom prst="rect">
            <a:avLst/>
          </a:prstGeom>
          <a:noFill/>
          <a:ln/>
        </p:spPr>
        <p:txBody>
          <a:bodyPr wrap="square" lIns="0" tIns="0" rIns="0" bIns="0" rtlCol="0" anchor="ctr"/>
          <a:lstStyle/>
          <a:p>
            <a:pPr indent="0" marL="0">
              <a:buNone/>
            </a:pPr>
            <a:r>
              <a:rPr lang="en-US" sz="2000" b="1" dirty="0">
                <a:solidFill>
                  <a:srgbClr val="1E3A8A"/>
                </a:solidFill>
                <a:latin typeface="Calibri" pitchFamily="34" charset="0"/>
                <a:ea typeface="Calibri" pitchFamily="34" charset="-122"/>
                <a:cs typeface="Calibri" pitchFamily="34" charset="-120"/>
              </a:rPr>
              <a:t>14  </a:t>
            </a:r>
            <a:pPr indent="0" marL="0">
              <a:buNone/>
            </a:pPr>
            <a:r>
              <a:rPr lang="en-US" sz="1300" dirty="0">
                <a:solidFill>
                  <a:srgbClr val="334155"/>
                </a:solidFill>
                <a:latin typeface="Calibri" pitchFamily="34" charset="0"/>
                <a:ea typeface="Calibri" pitchFamily="34" charset="-122"/>
                <a:cs typeface="Calibri" pitchFamily="34" charset="-120"/>
              </a:rPr>
              <a:t>equipos de criticidad media</a:t>
            </a:r>
            <a:endParaRPr lang="en-US" sz="2000" dirty="0"/>
          </a:p>
        </p:txBody>
      </p:sp>
      <p:sp>
        <p:nvSpPr>
          <p:cNvPr id="18" name="Nivel baja fondo"/>
          <p:cNvSpPr/>
          <p:nvPr/>
        </p:nvSpPr>
        <p:spPr>
          <a:xfrm>
            <a:off x="5669280" y="5212080"/>
            <a:ext cx="3017520" cy="594360"/>
          </a:xfrm>
          <a:prstGeom prst="roundRect">
            <a:avLst>
              <a:gd name="adj" fmla="val 10769"/>
            </a:avLst>
          </a:prstGeom>
          <a:solidFill>
            <a:srgbClr val="EEF2FA"/>
          </a:solidFill>
          <a:ln w="9525">
            <a:solidFill>
              <a:srgbClr val="EEF2FA"/>
            </a:solidFill>
            <a:prstDash val="solid"/>
          </a:ln>
        </p:spPr>
      </p:sp>
      <p:sp>
        <p:nvSpPr>
          <p:cNvPr id="19" name="Nivel baja"/>
          <p:cNvSpPr txBox="1"/>
          <p:nvPr/>
        </p:nvSpPr>
        <p:spPr>
          <a:xfrm>
            <a:off x="5806440" y="5212080"/>
            <a:ext cx="2834640" cy="594360"/>
          </a:xfrm>
          <a:prstGeom prst="rect">
            <a:avLst/>
          </a:prstGeom>
          <a:noFill/>
          <a:ln/>
        </p:spPr>
        <p:txBody>
          <a:bodyPr wrap="square" lIns="0" tIns="0" rIns="0" bIns="0" rtlCol="0" anchor="ctr"/>
          <a:lstStyle/>
          <a:p>
            <a:pPr indent="0" marL="0">
              <a:buNone/>
            </a:pPr>
            <a:r>
              <a:rPr lang="en-US" sz="2000" b="1" dirty="0">
                <a:solidFill>
                  <a:srgbClr val="64748B"/>
                </a:solidFill>
                <a:latin typeface="Calibri" pitchFamily="34" charset="0"/>
                <a:ea typeface="Calibri" pitchFamily="34" charset="-122"/>
                <a:cs typeface="Calibri" pitchFamily="34" charset="-120"/>
              </a:rPr>
              <a:t>3  </a:t>
            </a:r>
            <a:pPr indent="0" marL="0">
              <a:buNone/>
            </a:pPr>
            <a:r>
              <a:rPr lang="en-US" sz="1300" dirty="0">
                <a:solidFill>
                  <a:srgbClr val="334155"/>
                </a:solidFill>
                <a:latin typeface="Calibri" pitchFamily="34" charset="0"/>
                <a:ea typeface="Calibri" pitchFamily="34" charset="-122"/>
                <a:cs typeface="Calibri" pitchFamily="34" charset="-120"/>
              </a:rPr>
              <a:t>equipos de criticidad baja</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¿DÓNDE FALLAN?</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motor diésel concentra el 77 % de las fallas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Por eso el análisis empieza por el motor diésel y sigue con el generador</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gráfico «Curva de Pareto – Fallas acumuladas del sistema» (2021–2022, eje: fallas totales). Porcentajes: cálculo propio.</a:t>
            </a:r>
            <a:endParaRPr lang="en-US" sz="900" dirty="0"/>
          </a:p>
        </p:txBody>
      </p:sp>
      <p:sp>
        <p:nvSpPr>
          <p:cNvPr id="8" name="Etiqueta FALLAS POR SISTEMA (2021"/>
          <p:cNvSpPr txBox="1"/>
          <p:nvPr/>
        </p:nvSpPr>
        <p:spPr>
          <a:xfrm>
            <a:off x="457200" y="1600200"/>
            <a:ext cx="54864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FALLAS POR SISTEMA (2021–2022, 3 EQUIPOS)</a:t>
            </a:r>
            <a:endParaRPr lang="en-US" sz="1100" dirty="0"/>
          </a:p>
        </p:txBody>
      </p:sp>
      <p:graphicFrame>
        <p:nvGraphicFramePr>
          <p:cNvPr id="9" name="Gráfico Pareto" descr="Fallas por sistema: Motor diésel 79, Generador 8, Control 7, Distribución eléctrica 5, Combustible externo 2, Arranque 1"/>
          <p:cNvGraphicFramePr/>
          <p:nvPr/>
        </p:nvGraphicFramePr>
        <p:xfrm>
          <a:off x="320040" y="1828800"/>
          <a:ext cx="5669280" cy="4069080"/>
        </p:xfrm>
        <a:graphic xmlns:a="http://schemas.openxmlformats.org/drawingml/2006/main">
          <a:graphicData uri="http://schemas.openxmlformats.org/drawingml/2006/chart">
            <c:chart xmlns:c="http://schemas.openxmlformats.org/drawingml/2006/chart" r:id="rId2"/>
          </a:graphicData>
        </a:graphic>
      </p:graphicFrame>
      <p:sp>
        <p:nvSpPr>
          <p:cNvPr id="10" name="Cifra 1 fondo"/>
          <p:cNvSpPr/>
          <p:nvPr/>
        </p:nvSpPr>
        <p:spPr>
          <a:xfrm>
            <a:off x="6217920" y="1828800"/>
            <a:ext cx="2468880" cy="1828800"/>
          </a:xfrm>
          <a:prstGeom prst="roundRect">
            <a:avLst>
              <a:gd name="adj" fmla="val 3500"/>
            </a:avLst>
          </a:prstGeom>
          <a:solidFill>
            <a:srgbClr val="FDF1E1"/>
          </a:solidFill>
          <a:ln w="15875">
            <a:solidFill>
              <a:srgbClr val="B45309"/>
            </a:solidFill>
            <a:prstDash val="solid"/>
          </a:ln>
        </p:spPr>
      </p:sp>
      <p:sp>
        <p:nvSpPr>
          <p:cNvPr id="11" name="Cifra 1 cifra"/>
          <p:cNvSpPr txBox="1"/>
          <p:nvPr/>
        </p:nvSpPr>
        <p:spPr>
          <a:xfrm>
            <a:off x="6382512" y="1938528"/>
            <a:ext cx="2194560" cy="640080"/>
          </a:xfrm>
          <a:prstGeom prst="rect">
            <a:avLst/>
          </a:prstGeom>
          <a:noFill/>
          <a:ln/>
        </p:spPr>
        <p:txBody>
          <a:bodyPr wrap="square" lIns="0" tIns="0" rIns="0" bIns="0" rtlCol="0" anchor="ctr"/>
          <a:lstStyle/>
          <a:p>
            <a:pPr indent="0" marL="0">
              <a:buNone/>
            </a:pPr>
            <a:r>
              <a:rPr lang="en-US" sz="4000" b="1" dirty="0">
                <a:solidFill>
                  <a:srgbClr val="B45309"/>
                </a:solidFill>
                <a:latin typeface="Calibri" pitchFamily="34" charset="0"/>
                <a:ea typeface="Calibri" pitchFamily="34" charset="-122"/>
                <a:cs typeface="Calibri" pitchFamily="34" charset="-120"/>
              </a:rPr>
              <a:t>77 %</a:t>
            </a:r>
            <a:endParaRPr lang="en-US" sz="4000" dirty="0"/>
          </a:p>
        </p:txBody>
      </p:sp>
      <p:sp>
        <p:nvSpPr>
          <p:cNvPr id="12" name="Cifra 1 texto"/>
          <p:cNvSpPr txBox="1"/>
          <p:nvPr/>
        </p:nvSpPr>
        <p:spPr>
          <a:xfrm>
            <a:off x="6382512" y="2606040"/>
            <a:ext cx="2194560" cy="9601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de las fallas están en el motor diésel (79 de 102)</a:t>
            </a:r>
            <a:endParaRPr lang="en-US" sz="1300" dirty="0"/>
          </a:p>
        </p:txBody>
      </p:sp>
      <p:sp>
        <p:nvSpPr>
          <p:cNvPr id="13" name="Cifra 2 fondo"/>
          <p:cNvSpPr/>
          <p:nvPr/>
        </p:nvSpPr>
        <p:spPr>
          <a:xfrm>
            <a:off x="6217920" y="3886200"/>
            <a:ext cx="2468880" cy="1828800"/>
          </a:xfrm>
          <a:prstGeom prst="roundRect">
            <a:avLst>
              <a:gd name="adj" fmla="val 3500"/>
            </a:avLst>
          </a:prstGeom>
          <a:solidFill>
            <a:srgbClr val="EEF2FA"/>
          </a:solidFill>
          <a:ln w="9525">
            <a:solidFill>
              <a:srgbClr val="EEF2FA"/>
            </a:solidFill>
            <a:prstDash val="solid"/>
          </a:ln>
        </p:spPr>
      </p:sp>
      <p:sp>
        <p:nvSpPr>
          <p:cNvPr id="14" name="Cifra 2 cifra"/>
          <p:cNvSpPr txBox="1"/>
          <p:nvPr/>
        </p:nvSpPr>
        <p:spPr>
          <a:xfrm>
            <a:off x="6382512" y="3995928"/>
            <a:ext cx="2194560" cy="640080"/>
          </a:xfrm>
          <a:prstGeom prst="rect">
            <a:avLst/>
          </a:prstGeom>
          <a:noFill/>
          <a:ln/>
        </p:spPr>
        <p:txBody>
          <a:bodyPr wrap="square" lIns="0" tIns="0" rIns="0" bIns="0" rtlCol="0" anchor="ctr"/>
          <a:lstStyle/>
          <a:p>
            <a:pPr indent="0" marL="0">
              <a:buNone/>
            </a:pPr>
            <a:r>
              <a:rPr lang="en-US" sz="3600" b="1" dirty="0">
                <a:solidFill>
                  <a:srgbClr val="1E3A8A"/>
                </a:solidFill>
                <a:latin typeface="Calibri" pitchFamily="34" charset="0"/>
                <a:ea typeface="Calibri" pitchFamily="34" charset="-122"/>
                <a:cs typeface="Calibri" pitchFamily="34" charset="-120"/>
              </a:rPr>
              <a:t>92 %</a:t>
            </a:r>
            <a:endParaRPr lang="en-US" sz="3600" dirty="0"/>
          </a:p>
        </p:txBody>
      </p:sp>
      <p:sp>
        <p:nvSpPr>
          <p:cNvPr id="15" name="Cifra 2 texto"/>
          <p:cNvSpPr txBox="1"/>
          <p:nvPr/>
        </p:nvSpPr>
        <p:spPr>
          <a:xfrm>
            <a:off x="6382512" y="4663440"/>
            <a:ext cx="2194560" cy="9601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motor + generador + control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PRIORIZAR LAS FALLAS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De 93 formas de falla, 47 son prioritarias (NPR mayor a 180)</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 más riesgoso no es el desgaste: son errores de instalación que se detectan tarde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(escalas) y Cap. IV, tabla «Matriz del NPR» (93 modos). Conteo de modos sobre 180: cálculo propio.</a:t>
            </a:r>
            <a:endParaRPr lang="en-US" sz="900" dirty="0"/>
          </a:p>
        </p:txBody>
      </p:sp>
      <p:sp>
        <p:nvSpPr>
          <p:cNvPr id="8" name="Etiqueta NÚMERO DE PRIORIDAD DE R"/>
          <p:cNvSpPr txBox="1"/>
          <p:nvPr/>
        </p:nvSpPr>
        <p:spPr>
          <a:xfrm>
            <a:off x="457200" y="1600200"/>
            <a:ext cx="45720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NÚMERO DE PRIORIDAD DE RIESGO</a:t>
            </a:r>
            <a:endParaRPr lang="en-US" sz="1100" dirty="0"/>
          </a:p>
        </p:txBody>
      </p:sp>
      <p:sp>
        <p:nvSpPr>
          <p:cNvPr id="9" name="Factor S círculo"/>
          <p:cNvSpPr/>
          <p:nvPr/>
        </p:nvSpPr>
        <p:spPr>
          <a:xfrm>
            <a:off x="457200" y="1984248"/>
            <a:ext cx="566928" cy="566928"/>
          </a:xfrm>
          <a:prstGeom prst="ellipse">
            <a:avLst/>
          </a:prstGeom>
          <a:solidFill>
            <a:srgbClr val="1E3A8A"/>
          </a:solidFill>
          <a:ln w="12700">
            <a:solidFill>
              <a:srgbClr val="1E3A8A"/>
            </a:solidFill>
            <a:prstDash val="solid"/>
          </a:ln>
        </p:spPr>
      </p:sp>
      <p:sp>
        <p:nvSpPr>
          <p:cNvPr id="10" name="Factor S cifra"/>
          <p:cNvSpPr txBox="1"/>
          <p:nvPr/>
        </p:nvSpPr>
        <p:spPr>
          <a:xfrm>
            <a:off x="457200" y="198424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11" name="Factor S texto"/>
          <p:cNvSpPr txBox="1"/>
          <p:nvPr/>
        </p:nvSpPr>
        <p:spPr>
          <a:xfrm>
            <a:off x="1188720" y="1874520"/>
            <a:ext cx="3566160" cy="786384"/>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Severidad</a:t>
            </a:r>
            <a:endParaRPr lang="en-US" sz="1500" dirty="0"/>
          </a:p>
          <a:p>
            <a:pPr indent="0" marL="0">
              <a:buNone/>
            </a:pPr>
            <a:r>
              <a:rPr lang="en-US" sz="1250" dirty="0">
                <a:solidFill>
                  <a:srgbClr val="334155"/>
                </a:solidFill>
                <a:latin typeface="Calibri" pitchFamily="34" charset="0"/>
                <a:ea typeface="Calibri" pitchFamily="34" charset="-122"/>
                <a:cs typeface="Calibri" pitchFamily="34" charset="-120"/>
              </a:rPr>
              <a:t>¿qué tan grave es? (1 a 8)</a:t>
            </a:r>
            <a:endParaRPr lang="en-US" sz="1500" dirty="0"/>
          </a:p>
        </p:txBody>
      </p:sp>
      <p:sp>
        <p:nvSpPr>
          <p:cNvPr id="12" name="Factor O círculo"/>
          <p:cNvSpPr/>
          <p:nvPr/>
        </p:nvSpPr>
        <p:spPr>
          <a:xfrm>
            <a:off x="457200" y="2898648"/>
            <a:ext cx="566928" cy="566928"/>
          </a:xfrm>
          <a:prstGeom prst="ellipse">
            <a:avLst/>
          </a:prstGeom>
          <a:solidFill>
            <a:srgbClr val="1E3A8A"/>
          </a:solidFill>
          <a:ln w="12700">
            <a:solidFill>
              <a:srgbClr val="1E3A8A"/>
            </a:solidFill>
            <a:prstDash val="solid"/>
          </a:ln>
        </p:spPr>
      </p:sp>
      <p:sp>
        <p:nvSpPr>
          <p:cNvPr id="13" name="Factor O cifra"/>
          <p:cNvSpPr txBox="1"/>
          <p:nvPr/>
        </p:nvSpPr>
        <p:spPr>
          <a:xfrm>
            <a:off x="457200" y="289864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a:t>
            </a:r>
            <a:endParaRPr lang="en-US" sz="1400" dirty="0"/>
          </a:p>
        </p:txBody>
      </p:sp>
      <p:sp>
        <p:nvSpPr>
          <p:cNvPr id="14" name="Factor O texto"/>
          <p:cNvSpPr txBox="1"/>
          <p:nvPr/>
        </p:nvSpPr>
        <p:spPr>
          <a:xfrm>
            <a:off x="1188720" y="2788920"/>
            <a:ext cx="3566160" cy="786384"/>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Ocurrencia</a:t>
            </a:r>
            <a:endParaRPr lang="en-US" sz="1500" dirty="0"/>
          </a:p>
          <a:p>
            <a:pPr indent="0" marL="0">
              <a:buNone/>
            </a:pPr>
            <a:r>
              <a:rPr lang="en-US" sz="1250" dirty="0">
                <a:solidFill>
                  <a:srgbClr val="334155"/>
                </a:solidFill>
                <a:latin typeface="Calibri" pitchFamily="34" charset="0"/>
                <a:ea typeface="Calibri" pitchFamily="34" charset="-122"/>
                <a:cs typeface="Calibri" pitchFamily="34" charset="-120"/>
              </a:rPr>
              <a:t>¿qué tan seguido pasa? (1 a 10)</a:t>
            </a:r>
            <a:endParaRPr lang="en-US" sz="1500" dirty="0"/>
          </a:p>
        </p:txBody>
      </p:sp>
      <p:sp>
        <p:nvSpPr>
          <p:cNvPr id="15" name="Factor D círculo"/>
          <p:cNvSpPr/>
          <p:nvPr/>
        </p:nvSpPr>
        <p:spPr>
          <a:xfrm>
            <a:off x="457200" y="3813048"/>
            <a:ext cx="566928" cy="566928"/>
          </a:xfrm>
          <a:prstGeom prst="ellipse">
            <a:avLst/>
          </a:prstGeom>
          <a:solidFill>
            <a:srgbClr val="1E3A8A"/>
          </a:solidFill>
          <a:ln w="12700">
            <a:solidFill>
              <a:srgbClr val="1E3A8A"/>
            </a:solidFill>
            <a:prstDash val="solid"/>
          </a:ln>
        </p:spPr>
      </p:sp>
      <p:sp>
        <p:nvSpPr>
          <p:cNvPr id="16" name="Factor D cifra"/>
          <p:cNvSpPr txBox="1"/>
          <p:nvPr/>
        </p:nvSpPr>
        <p:spPr>
          <a:xfrm>
            <a:off x="457200" y="381304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7" name="Factor D texto"/>
          <p:cNvSpPr txBox="1"/>
          <p:nvPr/>
        </p:nvSpPr>
        <p:spPr>
          <a:xfrm>
            <a:off x="1188720" y="3703320"/>
            <a:ext cx="3566160" cy="786384"/>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Detección</a:t>
            </a:r>
            <a:endParaRPr lang="en-US" sz="1500" dirty="0"/>
          </a:p>
          <a:p>
            <a:pPr indent="0" marL="0">
              <a:buNone/>
            </a:pPr>
            <a:r>
              <a:rPr lang="en-US" sz="1250" dirty="0">
                <a:solidFill>
                  <a:srgbClr val="334155"/>
                </a:solidFill>
                <a:latin typeface="Calibri" pitchFamily="34" charset="0"/>
                <a:ea typeface="Calibri" pitchFamily="34" charset="-122"/>
                <a:cs typeface="Calibri" pitchFamily="34" charset="-120"/>
              </a:rPr>
              <a:t>¿qué tan difícil es verla a tiempo? (1 a 10)</a:t>
            </a:r>
            <a:endParaRPr lang="en-US" sz="1500" dirty="0"/>
          </a:p>
        </p:txBody>
      </p:sp>
      <p:sp>
        <p:nvSpPr>
          <p:cNvPr id="18" name="NPR fondo"/>
          <p:cNvSpPr/>
          <p:nvPr/>
        </p:nvSpPr>
        <p:spPr>
          <a:xfrm>
            <a:off x="457200" y="4709160"/>
            <a:ext cx="4297680" cy="1143000"/>
          </a:xfrm>
          <a:prstGeom prst="roundRect">
            <a:avLst>
              <a:gd name="adj" fmla="val 5600"/>
            </a:avLst>
          </a:prstGeom>
          <a:solidFill>
            <a:srgbClr val="FDF1E1"/>
          </a:solidFill>
          <a:ln w="15875">
            <a:solidFill>
              <a:srgbClr val="B45309"/>
            </a:solidFill>
            <a:prstDash val="solid"/>
          </a:ln>
        </p:spPr>
      </p:sp>
      <p:sp>
        <p:nvSpPr>
          <p:cNvPr id="19" name="NPR fórmula"/>
          <p:cNvSpPr txBox="1"/>
          <p:nvPr/>
        </p:nvSpPr>
        <p:spPr>
          <a:xfrm>
            <a:off x="640080" y="4709160"/>
            <a:ext cx="4023360" cy="1143000"/>
          </a:xfrm>
          <a:prstGeom prst="rect">
            <a:avLst/>
          </a:prstGeom>
          <a:noFill/>
          <a:ln/>
        </p:spPr>
        <p:txBody>
          <a:bodyPr wrap="square" lIns="0" tIns="0" rIns="0" bIns="0" rtlCol="0" anchor="ctr"/>
          <a:lstStyle/>
          <a:p>
            <a:pPr indent="0" marL="0">
              <a:buNone/>
            </a:pPr>
            <a:r>
              <a:rPr lang="en-US" sz="2000" b="1" dirty="0">
                <a:solidFill>
                  <a:srgbClr val="B45309"/>
                </a:solidFill>
                <a:latin typeface="Calibri" pitchFamily="34" charset="0"/>
                <a:ea typeface="Calibri" pitchFamily="34" charset="-122"/>
                <a:cs typeface="Calibri" pitchFamily="34" charset="-120"/>
              </a:rPr>
              <a:t>NPR = S × O × D</a:t>
            </a:r>
            <a:endParaRPr lang="en-US" sz="2000" dirty="0"/>
          </a:p>
          <a:p>
            <a:pPr indent="0" marL="0">
              <a:buNone/>
            </a:pPr>
            <a:r>
              <a:rPr lang="en-US" sz="1250" dirty="0">
                <a:solidFill>
                  <a:srgbClr val="334155"/>
                </a:solidFill>
                <a:latin typeface="Calibri" pitchFamily="34" charset="0"/>
                <a:ea typeface="Calibri" pitchFamily="34" charset="-122"/>
                <a:cs typeface="Calibri" pitchFamily="34" charset="-120"/>
              </a:rPr>
              <a:t>máximo 800 · prioridad si es mayor a 180</a:t>
            </a:r>
            <a:endParaRPr lang="en-US" sz="2000" dirty="0"/>
          </a:p>
        </p:txBody>
      </p:sp>
      <p:sp>
        <p:nvSpPr>
          <p:cNvPr id="20" name="Etiqueta LAS FALLAS DE MAYOR RIES"/>
          <p:cNvSpPr txBox="1"/>
          <p:nvPr/>
        </p:nvSpPr>
        <p:spPr>
          <a:xfrm>
            <a:off x="5120640" y="1600200"/>
            <a:ext cx="35661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LAS FALLAS DE MAYOR RIESGO</a:t>
            </a:r>
            <a:endParaRPr lang="en-US" sz="1100" dirty="0"/>
          </a:p>
        </p:txBody>
      </p:sp>
      <p:sp>
        <p:nvSpPr>
          <p:cNvPr id="21" name="Top 1 fondo"/>
          <p:cNvSpPr/>
          <p:nvPr/>
        </p:nvSpPr>
        <p:spPr>
          <a:xfrm>
            <a:off x="5120640" y="1874520"/>
            <a:ext cx="3566160" cy="713232"/>
          </a:xfrm>
          <a:prstGeom prst="roundRect">
            <a:avLst>
              <a:gd name="adj" fmla="val 8974"/>
            </a:avLst>
          </a:prstGeom>
          <a:solidFill>
            <a:srgbClr val="FDF1E1"/>
          </a:solidFill>
          <a:ln w="9525">
            <a:solidFill>
              <a:srgbClr val="B45309"/>
            </a:solidFill>
            <a:prstDash val="solid"/>
          </a:ln>
        </p:spPr>
      </p:sp>
      <p:sp>
        <p:nvSpPr>
          <p:cNvPr id="22" name="Top 1 NPR"/>
          <p:cNvSpPr txBox="1"/>
          <p:nvPr/>
        </p:nvSpPr>
        <p:spPr>
          <a:xfrm>
            <a:off x="5166360" y="1874520"/>
            <a:ext cx="777240" cy="713232"/>
          </a:xfrm>
          <a:prstGeom prst="rect">
            <a:avLst/>
          </a:prstGeom>
          <a:noFill/>
          <a:ln/>
        </p:spPr>
        <p:txBody>
          <a:bodyPr wrap="square" lIns="0" tIns="0" rIns="0" bIns="0" rtlCol="0" anchor="ctr"/>
          <a:lstStyle/>
          <a:p>
            <a:pPr algn="ctr" indent="0" marL="0">
              <a:buNone/>
            </a:pPr>
            <a:r>
              <a:rPr lang="en-US" sz="2000" b="1" dirty="0">
                <a:solidFill>
                  <a:srgbClr val="B45309"/>
                </a:solidFill>
                <a:latin typeface="Calibri" pitchFamily="34" charset="0"/>
                <a:ea typeface="Calibri" pitchFamily="34" charset="-122"/>
                <a:cs typeface="Calibri" pitchFamily="34" charset="-120"/>
              </a:rPr>
              <a:t>336</a:t>
            </a:r>
            <a:endParaRPr lang="en-US" sz="2000" dirty="0"/>
          </a:p>
        </p:txBody>
      </p:sp>
      <p:sp>
        <p:nvSpPr>
          <p:cNvPr id="23" name="Top 1 texto"/>
          <p:cNvSpPr txBox="1"/>
          <p:nvPr/>
        </p:nvSpPr>
        <p:spPr>
          <a:xfrm>
            <a:off x="5943600" y="1874520"/>
            <a:ext cx="2697480" cy="713232"/>
          </a:xfrm>
          <a:prstGeom prst="rect">
            <a:avLst/>
          </a:prstGeom>
          <a:noFill/>
          <a:ln/>
        </p:spPr>
        <p:txBody>
          <a:bodyPr wrap="square" lIns="0" tIns="0" rIns="0" bIns="0"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Filtro de combustible incorrecto o vencido</a:t>
            </a:r>
            <a:endParaRPr lang="en-US" sz="1200" dirty="0"/>
          </a:p>
          <a:p>
            <a:pPr indent="0" marL="0">
              <a:buNone/>
            </a:pPr>
            <a:r>
              <a:rPr lang="en-US" sz="1050" dirty="0">
                <a:solidFill>
                  <a:srgbClr val="B45309"/>
                </a:solidFill>
                <a:latin typeface="Calibri" pitchFamily="34" charset="0"/>
                <a:ea typeface="Calibri" pitchFamily="34" charset="-122"/>
                <a:cs typeface="Calibri" pitchFamily="34" charset="-120"/>
              </a:rPr>
              <a:t>7 × 6 × 8 · error de instalación</a:t>
            </a:r>
            <a:endParaRPr lang="en-US" sz="1200" dirty="0"/>
          </a:p>
        </p:txBody>
      </p:sp>
      <p:sp>
        <p:nvSpPr>
          <p:cNvPr id="24" name="Top 2 fondo"/>
          <p:cNvSpPr/>
          <p:nvPr/>
        </p:nvSpPr>
        <p:spPr>
          <a:xfrm>
            <a:off x="5120640" y="2679192"/>
            <a:ext cx="3566160" cy="713232"/>
          </a:xfrm>
          <a:prstGeom prst="roundRect">
            <a:avLst>
              <a:gd name="adj" fmla="val 8974"/>
            </a:avLst>
          </a:prstGeom>
          <a:solidFill>
            <a:srgbClr val="EEF2FA"/>
          </a:solidFill>
          <a:ln w="9525">
            <a:solidFill>
              <a:srgbClr val="EEF2FA"/>
            </a:solidFill>
            <a:prstDash val="solid"/>
          </a:ln>
        </p:spPr>
      </p:sp>
      <p:sp>
        <p:nvSpPr>
          <p:cNvPr id="25" name="Top 2 NPR"/>
          <p:cNvSpPr txBox="1"/>
          <p:nvPr/>
        </p:nvSpPr>
        <p:spPr>
          <a:xfrm>
            <a:off x="5166360" y="2679192"/>
            <a:ext cx="777240" cy="713232"/>
          </a:xfrm>
          <a:prstGeom prst="rect">
            <a:avLst/>
          </a:prstGeom>
          <a:noFill/>
          <a:ln/>
        </p:spPr>
        <p:txBody>
          <a:bodyPr wrap="square" lIns="0" tIns="0" rIns="0" bIns="0"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294</a:t>
            </a:r>
            <a:endParaRPr lang="en-US" sz="2000" dirty="0"/>
          </a:p>
        </p:txBody>
      </p:sp>
      <p:sp>
        <p:nvSpPr>
          <p:cNvPr id="26" name="Top 2 texto"/>
          <p:cNvSpPr txBox="1"/>
          <p:nvPr/>
        </p:nvSpPr>
        <p:spPr>
          <a:xfrm>
            <a:off x="5943600" y="2679192"/>
            <a:ext cx="2697480" cy="713232"/>
          </a:xfrm>
          <a:prstGeom prst="rect">
            <a:avLst/>
          </a:prstGeom>
          <a:noFill/>
          <a:ln/>
        </p:spPr>
        <p:txBody>
          <a:bodyPr wrap="square" lIns="0" tIns="0" rIns="0" bIns="0"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Nivel de aceite mal medido (sensor)</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7 × 6 × 7</a:t>
            </a:r>
            <a:endParaRPr lang="en-US" sz="1200" dirty="0"/>
          </a:p>
        </p:txBody>
      </p:sp>
      <p:sp>
        <p:nvSpPr>
          <p:cNvPr id="27" name="Top 3 fondo"/>
          <p:cNvSpPr/>
          <p:nvPr/>
        </p:nvSpPr>
        <p:spPr>
          <a:xfrm>
            <a:off x="5120640" y="3483864"/>
            <a:ext cx="3566160" cy="713232"/>
          </a:xfrm>
          <a:prstGeom prst="roundRect">
            <a:avLst>
              <a:gd name="adj" fmla="val 8974"/>
            </a:avLst>
          </a:prstGeom>
          <a:solidFill>
            <a:srgbClr val="FDF1E1"/>
          </a:solidFill>
          <a:ln w="9525">
            <a:solidFill>
              <a:srgbClr val="B45309"/>
            </a:solidFill>
            <a:prstDash val="solid"/>
          </a:ln>
        </p:spPr>
      </p:sp>
      <p:sp>
        <p:nvSpPr>
          <p:cNvPr id="28" name="Top 3 NPR"/>
          <p:cNvSpPr txBox="1"/>
          <p:nvPr/>
        </p:nvSpPr>
        <p:spPr>
          <a:xfrm>
            <a:off x="5166360" y="3483864"/>
            <a:ext cx="777240" cy="713232"/>
          </a:xfrm>
          <a:prstGeom prst="rect">
            <a:avLst/>
          </a:prstGeom>
          <a:noFill/>
          <a:ln/>
        </p:spPr>
        <p:txBody>
          <a:bodyPr wrap="square" lIns="0" tIns="0" rIns="0" bIns="0" rtlCol="0" anchor="ctr"/>
          <a:lstStyle/>
          <a:p>
            <a:pPr algn="ctr" indent="0" marL="0">
              <a:buNone/>
            </a:pPr>
            <a:r>
              <a:rPr lang="en-US" sz="2000" b="1" dirty="0">
                <a:solidFill>
                  <a:srgbClr val="B45309"/>
                </a:solidFill>
                <a:latin typeface="Calibri" pitchFamily="34" charset="0"/>
                <a:ea typeface="Calibri" pitchFamily="34" charset="-122"/>
                <a:cs typeface="Calibri" pitchFamily="34" charset="-120"/>
              </a:rPr>
              <a:t>280</a:t>
            </a:r>
            <a:endParaRPr lang="en-US" sz="2000" dirty="0"/>
          </a:p>
        </p:txBody>
      </p:sp>
      <p:sp>
        <p:nvSpPr>
          <p:cNvPr id="29" name="Top 3 texto"/>
          <p:cNvSpPr txBox="1"/>
          <p:nvPr/>
        </p:nvSpPr>
        <p:spPr>
          <a:xfrm>
            <a:off x="5943600" y="3483864"/>
            <a:ext cx="2697480" cy="713232"/>
          </a:xfrm>
          <a:prstGeom prst="rect">
            <a:avLst/>
          </a:prstGeom>
          <a:noFill/>
          <a:ln/>
        </p:spPr>
        <p:txBody>
          <a:bodyPr wrap="square" lIns="0" tIns="0" rIns="0" bIns="0"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Filtro de aceite incorrecto</a:t>
            </a:r>
            <a:endParaRPr lang="en-US" sz="1200" dirty="0"/>
          </a:p>
          <a:p>
            <a:pPr indent="0" marL="0">
              <a:buNone/>
            </a:pPr>
            <a:r>
              <a:rPr lang="en-US" sz="1050" dirty="0">
                <a:solidFill>
                  <a:srgbClr val="B45309"/>
                </a:solidFill>
                <a:latin typeface="Calibri" pitchFamily="34" charset="0"/>
                <a:ea typeface="Calibri" pitchFamily="34" charset="-122"/>
                <a:cs typeface="Calibri" pitchFamily="34" charset="-120"/>
              </a:rPr>
              <a:t>7 × 5 × 8 · error de instalación</a:t>
            </a:r>
            <a:endParaRPr lang="en-US" sz="1200" dirty="0"/>
          </a:p>
        </p:txBody>
      </p:sp>
      <p:sp>
        <p:nvSpPr>
          <p:cNvPr id="30" name="Top 4 fondo"/>
          <p:cNvSpPr/>
          <p:nvPr/>
        </p:nvSpPr>
        <p:spPr>
          <a:xfrm>
            <a:off x="5120640" y="4288536"/>
            <a:ext cx="3566160" cy="713232"/>
          </a:xfrm>
          <a:prstGeom prst="roundRect">
            <a:avLst>
              <a:gd name="adj" fmla="val 8974"/>
            </a:avLst>
          </a:prstGeom>
          <a:solidFill>
            <a:srgbClr val="EEF2FA"/>
          </a:solidFill>
          <a:ln w="9525">
            <a:solidFill>
              <a:srgbClr val="EEF2FA"/>
            </a:solidFill>
            <a:prstDash val="solid"/>
          </a:ln>
        </p:spPr>
      </p:sp>
      <p:sp>
        <p:nvSpPr>
          <p:cNvPr id="31" name="Top 4 NPR"/>
          <p:cNvSpPr txBox="1"/>
          <p:nvPr/>
        </p:nvSpPr>
        <p:spPr>
          <a:xfrm>
            <a:off x="5166360" y="4288536"/>
            <a:ext cx="777240" cy="713232"/>
          </a:xfrm>
          <a:prstGeom prst="rect">
            <a:avLst/>
          </a:prstGeom>
          <a:noFill/>
          <a:ln/>
        </p:spPr>
        <p:txBody>
          <a:bodyPr wrap="square" lIns="0" tIns="0" rIns="0" bIns="0"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280</a:t>
            </a:r>
            <a:endParaRPr lang="en-US" sz="2000" dirty="0"/>
          </a:p>
        </p:txBody>
      </p:sp>
      <p:sp>
        <p:nvSpPr>
          <p:cNvPr id="32" name="Top 4 texto"/>
          <p:cNvSpPr txBox="1"/>
          <p:nvPr/>
        </p:nvSpPr>
        <p:spPr>
          <a:xfrm>
            <a:off x="5943600" y="4288536"/>
            <a:ext cx="2697480" cy="713232"/>
          </a:xfrm>
          <a:prstGeom prst="rect">
            <a:avLst/>
          </a:prstGeom>
          <a:noFill/>
          <a:ln/>
        </p:spPr>
        <p:txBody>
          <a:bodyPr wrap="square" lIns="0" tIns="0" rIns="0" bIns="0"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Radiador obstruido por polvo</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7 × 8 × 5</a:t>
            </a:r>
            <a:endParaRPr lang="en-US" sz="1200" dirty="0"/>
          </a:p>
        </p:txBody>
      </p:sp>
      <p:sp>
        <p:nvSpPr>
          <p:cNvPr id="33" name="Top 5 fondo"/>
          <p:cNvSpPr/>
          <p:nvPr/>
        </p:nvSpPr>
        <p:spPr>
          <a:xfrm>
            <a:off x="5120640" y="5093208"/>
            <a:ext cx="3566160" cy="713232"/>
          </a:xfrm>
          <a:prstGeom prst="roundRect">
            <a:avLst>
              <a:gd name="adj" fmla="val 8974"/>
            </a:avLst>
          </a:prstGeom>
          <a:solidFill>
            <a:srgbClr val="EEF2FA"/>
          </a:solidFill>
          <a:ln w="9525">
            <a:solidFill>
              <a:srgbClr val="EEF2FA"/>
            </a:solidFill>
            <a:prstDash val="solid"/>
          </a:ln>
        </p:spPr>
      </p:sp>
      <p:sp>
        <p:nvSpPr>
          <p:cNvPr id="34" name="Top 5 NPR"/>
          <p:cNvSpPr txBox="1"/>
          <p:nvPr/>
        </p:nvSpPr>
        <p:spPr>
          <a:xfrm>
            <a:off x="5166360" y="5093208"/>
            <a:ext cx="777240" cy="713232"/>
          </a:xfrm>
          <a:prstGeom prst="rect">
            <a:avLst/>
          </a:prstGeom>
          <a:noFill/>
          <a:ln/>
        </p:spPr>
        <p:txBody>
          <a:bodyPr wrap="square" lIns="0" tIns="0" rIns="0" bIns="0"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280</a:t>
            </a:r>
            <a:endParaRPr lang="en-US" sz="2000" dirty="0"/>
          </a:p>
        </p:txBody>
      </p:sp>
      <p:sp>
        <p:nvSpPr>
          <p:cNvPr id="35" name="Top 5 texto"/>
          <p:cNvSpPr txBox="1"/>
          <p:nvPr/>
        </p:nvSpPr>
        <p:spPr>
          <a:xfrm>
            <a:off x="5943600" y="5093208"/>
            <a:ext cx="2697480" cy="713232"/>
          </a:xfrm>
          <a:prstGeom prst="rect">
            <a:avLst/>
          </a:prstGeom>
          <a:noFill/>
          <a:ln/>
        </p:spPr>
        <p:txBody>
          <a:bodyPr wrap="square" lIns="0" tIns="0" rIns="0" bIns="0"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Falla del regulador de voltaje (AVR)</a:t>
            </a:r>
            <a:endParaRPr lang="en-US" sz="1200" dirty="0"/>
          </a:p>
          <a:p>
            <a:pPr indent="0" marL="0">
              <a:buNone/>
            </a:pPr>
            <a:r>
              <a:rPr lang="en-US" sz="1050" dirty="0">
                <a:solidFill>
                  <a:srgbClr val="64748B"/>
                </a:solidFill>
                <a:latin typeface="Calibri" pitchFamily="34" charset="0"/>
                <a:ea typeface="Calibri" pitchFamily="34" charset="-122"/>
                <a:cs typeface="Calibri" pitchFamily="34" charset="-120"/>
              </a:rPr>
              <a:t>7 × 8 × 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ANÁLISIS DE MODOS Y EFECTOS DE FALLA (AMEF)</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Así se analizó cada falla: el caso del filtro de combustible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Así se analizaron las 93 formas de falla de los 5 sistemas del grupo electrógeno</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Anexo 01 (AMEF motor diésel, función 9), AMEF del generador y Matriz del NPR. Textos simplificados; conteos: cálculo propio.</a:t>
            </a:r>
            <a:endParaRPr lang="en-US" sz="900" dirty="0"/>
          </a:p>
        </p:txBody>
      </p:sp>
      <p:sp>
        <p:nvSpPr>
          <p:cNvPr id="8" name="Paso 1 fondo"/>
          <p:cNvSpPr/>
          <p:nvPr/>
        </p:nvSpPr>
        <p:spPr>
          <a:xfrm>
            <a:off x="457200" y="1691640"/>
            <a:ext cx="1572768" cy="1554480"/>
          </a:xfrm>
          <a:prstGeom prst="roundRect">
            <a:avLst>
              <a:gd name="adj" fmla="val 4118"/>
            </a:avLst>
          </a:prstGeom>
          <a:solidFill>
            <a:srgbClr val="EEF2FA"/>
          </a:solidFill>
          <a:ln w="9525">
            <a:solidFill>
              <a:srgbClr val="EEF2FA"/>
            </a:solidFill>
            <a:prstDash val="solid"/>
          </a:ln>
        </p:spPr>
      </p:sp>
      <p:sp>
        <p:nvSpPr>
          <p:cNvPr id="9" name="Paso 1 pregunta"/>
          <p:cNvSpPr txBox="1"/>
          <p:nvPr/>
        </p:nvSpPr>
        <p:spPr>
          <a:xfrm>
            <a:off x="566928" y="1783080"/>
            <a:ext cx="1371600" cy="274320"/>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¿QUÉ DEBE HACER?</a:t>
            </a:r>
            <a:endParaRPr lang="en-US" sz="1100" dirty="0"/>
          </a:p>
        </p:txBody>
      </p:sp>
      <p:sp>
        <p:nvSpPr>
          <p:cNvPr id="10" name="Paso 1 texto"/>
          <p:cNvSpPr txBox="1"/>
          <p:nvPr/>
        </p:nvSpPr>
        <p:spPr>
          <a:xfrm>
            <a:off x="566928" y="2103120"/>
            <a:ext cx="13716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Filtrar el combustible: quitar agua y partículas</a:t>
            </a:r>
            <a:endParaRPr lang="en-US" sz="1300" dirty="0"/>
          </a:p>
        </p:txBody>
      </p:sp>
      <p:sp>
        <p:nvSpPr>
          <p:cNvPr id="11" name="Paso 1 flecha"/>
          <p:cNvSpPr/>
          <p:nvPr/>
        </p:nvSpPr>
        <p:spPr>
          <a:xfrm>
            <a:off x="2048256" y="2468880"/>
            <a:ext cx="128016" cy="0"/>
          </a:xfrm>
          <a:prstGeom prst="line">
            <a:avLst/>
          </a:prstGeom>
          <a:noFill/>
          <a:ln w="15875">
            <a:solidFill>
              <a:srgbClr val="64748B"/>
            </a:solidFill>
            <a:prstDash val="solid"/>
            <a:tailEnd type="triangle"/>
          </a:ln>
        </p:spPr>
      </p:sp>
      <p:sp>
        <p:nvSpPr>
          <p:cNvPr id="12" name="Paso 2 fondo"/>
          <p:cNvSpPr/>
          <p:nvPr/>
        </p:nvSpPr>
        <p:spPr>
          <a:xfrm>
            <a:off x="2194560" y="1691640"/>
            <a:ext cx="1572768" cy="1554480"/>
          </a:xfrm>
          <a:prstGeom prst="roundRect">
            <a:avLst>
              <a:gd name="adj" fmla="val 4118"/>
            </a:avLst>
          </a:prstGeom>
          <a:solidFill>
            <a:srgbClr val="EEF2FA"/>
          </a:solidFill>
          <a:ln w="9525">
            <a:solidFill>
              <a:srgbClr val="EEF2FA"/>
            </a:solidFill>
            <a:prstDash val="solid"/>
          </a:ln>
        </p:spPr>
      </p:sp>
      <p:sp>
        <p:nvSpPr>
          <p:cNvPr id="13" name="Paso 2 pregunta"/>
          <p:cNvSpPr txBox="1"/>
          <p:nvPr/>
        </p:nvSpPr>
        <p:spPr>
          <a:xfrm>
            <a:off x="2304288" y="1783080"/>
            <a:ext cx="1371600" cy="274320"/>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¿CÓMO FALLA?</a:t>
            </a:r>
            <a:endParaRPr lang="en-US" sz="1100" dirty="0"/>
          </a:p>
        </p:txBody>
      </p:sp>
      <p:sp>
        <p:nvSpPr>
          <p:cNvPr id="14" name="Paso 2 texto"/>
          <p:cNvSpPr txBox="1"/>
          <p:nvPr/>
        </p:nvSpPr>
        <p:spPr>
          <a:xfrm>
            <a:off x="2304288" y="2103120"/>
            <a:ext cx="13716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El filtro deja pasar partículas finas</a:t>
            </a:r>
            <a:endParaRPr lang="en-US" sz="1300" dirty="0"/>
          </a:p>
        </p:txBody>
      </p:sp>
      <p:sp>
        <p:nvSpPr>
          <p:cNvPr id="15" name="Paso 2 flecha"/>
          <p:cNvSpPr/>
          <p:nvPr/>
        </p:nvSpPr>
        <p:spPr>
          <a:xfrm>
            <a:off x="3785616" y="2468880"/>
            <a:ext cx="128016" cy="0"/>
          </a:xfrm>
          <a:prstGeom prst="line">
            <a:avLst/>
          </a:prstGeom>
          <a:noFill/>
          <a:ln w="15875">
            <a:solidFill>
              <a:srgbClr val="64748B"/>
            </a:solidFill>
            <a:prstDash val="solid"/>
            <a:tailEnd type="triangle"/>
          </a:ln>
        </p:spPr>
      </p:sp>
      <p:sp>
        <p:nvSpPr>
          <p:cNvPr id="16" name="Paso 3 fondo"/>
          <p:cNvSpPr/>
          <p:nvPr/>
        </p:nvSpPr>
        <p:spPr>
          <a:xfrm>
            <a:off x="3931920" y="1691640"/>
            <a:ext cx="1572768" cy="1554480"/>
          </a:xfrm>
          <a:prstGeom prst="roundRect">
            <a:avLst>
              <a:gd name="adj" fmla="val 4118"/>
            </a:avLst>
          </a:prstGeom>
          <a:solidFill>
            <a:srgbClr val="EEF2FA"/>
          </a:solidFill>
          <a:ln w="9525">
            <a:solidFill>
              <a:srgbClr val="EEF2FA"/>
            </a:solidFill>
            <a:prstDash val="solid"/>
          </a:ln>
        </p:spPr>
      </p:sp>
      <p:sp>
        <p:nvSpPr>
          <p:cNvPr id="17" name="Paso 3 pregunta"/>
          <p:cNvSpPr txBox="1"/>
          <p:nvPr/>
        </p:nvSpPr>
        <p:spPr>
          <a:xfrm>
            <a:off x="4041648" y="1783080"/>
            <a:ext cx="1371600" cy="274320"/>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¿POR QUÉ?</a:t>
            </a:r>
            <a:endParaRPr lang="en-US" sz="1100" dirty="0"/>
          </a:p>
        </p:txBody>
      </p:sp>
      <p:sp>
        <p:nvSpPr>
          <p:cNvPr id="18" name="Paso 3 texto"/>
          <p:cNvSpPr txBox="1"/>
          <p:nvPr/>
        </p:nvSpPr>
        <p:spPr>
          <a:xfrm>
            <a:off x="4041648" y="2103120"/>
            <a:ext cx="13716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Se instaló un filtro incorrecto o vencido</a:t>
            </a:r>
            <a:endParaRPr lang="en-US" sz="1300" dirty="0"/>
          </a:p>
        </p:txBody>
      </p:sp>
      <p:sp>
        <p:nvSpPr>
          <p:cNvPr id="19" name="Paso 3 flecha"/>
          <p:cNvSpPr/>
          <p:nvPr/>
        </p:nvSpPr>
        <p:spPr>
          <a:xfrm>
            <a:off x="5522976" y="2468880"/>
            <a:ext cx="128016" cy="0"/>
          </a:xfrm>
          <a:prstGeom prst="line">
            <a:avLst/>
          </a:prstGeom>
          <a:noFill/>
          <a:ln w="15875">
            <a:solidFill>
              <a:srgbClr val="64748B"/>
            </a:solidFill>
            <a:prstDash val="solid"/>
            <a:tailEnd type="triangle"/>
          </a:ln>
        </p:spPr>
      </p:sp>
      <p:sp>
        <p:nvSpPr>
          <p:cNvPr id="20" name="Paso 4 fondo"/>
          <p:cNvSpPr/>
          <p:nvPr/>
        </p:nvSpPr>
        <p:spPr>
          <a:xfrm>
            <a:off x="5669280" y="1691640"/>
            <a:ext cx="1572768" cy="1554480"/>
          </a:xfrm>
          <a:prstGeom prst="roundRect">
            <a:avLst>
              <a:gd name="adj" fmla="val 4118"/>
            </a:avLst>
          </a:prstGeom>
          <a:solidFill>
            <a:srgbClr val="EEF2FA"/>
          </a:solidFill>
          <a:ln w="9525">
            <a:solidFill>
              <a:srgbClr val="EEF2FA"/>
            </a:solidFill>
            <a:prstDash val="solid"/>
          </a:ln>
        </p:spPr>
      </p:sp>
      <p:sp>
        <p:nvSpPr>
          <p:cNvPr id="21" name="Paso 4 pregunta"/>
          <p:cNvSpPr txBox="1"/>
          <p:nvPr/>
        </p:nvSpPr>
        <p:spPr>
          <a:xfrm>
            <a:off x="5779008" y="1783080"/>
            <a:ext cx="1371600" cy="274320"/>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¿QUÉ PASA?</a:t>
            </a:r>
            <a:endParaRPr lang="en-US" sz="1100" dirty="0"/>
          </a:p>
        </p:txBody>
      </p:sp>
      <p:sp>
        <p:nvSpPr>
          <p:cNvPr id="22" name="Paso 4 texto"/>
          <p:cNvSpPr txBox="1"/>
          <p:nvPr/>
        </p:nvSpPr>
        <p:spPr>
          <a:xfrm>
            <a:off x="5779008" y="2103120"/>
            <a:ext cx="13716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Se desgastan los inyectores del motor</a:t>
            </a:r>
            <a:endParaRPr lang="en-US" sz="1300" dirty="0"/>
          </a:p>
        </p:txBody>
      </p:sp>
      <p:sp>
        <p:nvSpPr>
          <p:cNvPr id="23" name="Paso 4 flecha"/>
          <p:cNvSpPr/>
          <p:nvPr/>
        </p:nvSpPr>
        <p:spPr>
          <a:xfrm>
            <a:off x="7260336" y="2468880"/>
            <a:ext cx="128016" cy="0"/>
          </a:xfrm>
          <a:prstGeom prst="line">
            <a:avLst/>
          </a:prstGeom>
          <a:noFill/>
          <a:ln w="15875">
            <a:solidFill>
              <a:srgbClr val="64748B"/>
            </a:solidFill>
            <a:prstDash val="solid"/>
            <a:tailEnd type="triangle"/>
          </a:ln>
        </p:spPr>
      </p:sp>
      <p:sp>
        <p:nvSpPr>
          <p:cNvPr id="24" name="NPR fondo"/>
          <p:cNvSpPr/>
          <p:nvPr/>
        </p:nvSpPr>
        <p:spPr>
          <a:xfrm>
            <a:off x="7406640" y="1691640"/>
            <a:ext cx="1280160" cy="1554480"/>
          </a:xfrm>
          <a:prstGeom prst="roundRect">
            <a:avLst>
              <a:gd name="adj" fmla="val 5000"/>
            </a:avLst>
          </a:prstGeom>
          <a:solidFill>
            <a:srgbClr val="FDF1E1"/>
          </a:solidFill>
          <a:ln w="15875">
            <a:solidFill>
              <a:srgbClr val="B45309"/>
            </a:solidFill>
            <a:prstDash val="solid"/>
          </a:ln>
        </p:spPr>
      </p:sp>
      <p:sp>
        <p:nvSpPr>
          <p:cNvPr id="25" name="NPR etiqueta"/>
          <p:cNvSpPr txBox="1"/>
          <p:nvPr/>
        </p:nvSpPr>
        <p:spPr>
          <a:xfrm>
            <a:off x="7498080" y="1783080"/>
            <a:ext cx="109728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RIESGO</a:t>
            </a:r>
            <a:endParaRPr lang="en-US" sz="1100" dirty="0"/>
          </a:p>
        </p:txBody>
      </p:sp>
      <p:sp>
        <p:nvSpPr>
          <p:cNvPr id="26" name="NPR cifra"/>
          <p:cNvSpPr txBox="1"/>
          <p:nvPr/>
        </p:nvSpPr>
        <p:spPr>
          <a:xfrm>
            <a:off x="7498080" y="2103120"/>
            <a:ext cx="1097280" cy="640080"/>
          </a:xfrm>
          <a:prstGeom prst="rect">
            <a:avLst/>
          </a:prstGeom>
          <a:noFill/>
          <a:ln/>
        </p:spPr>
        <p:txBody>
          <a:bodyPr wrap="square" lIns="0" tIns="0" rIns="0" bIns="0" rtlCol="0" anchor="ctr"/>
          <a:lstStyle/>
          <a:p>
            <a:pPr indent="0" marL="0">
              <a:buNone/>
            </a:pPr>
            <a:r>
              <a:rPr lang="en-US" sz="3200" b="1" dirty="0">
                <a:solidFill>
                  <a:srgbClr val="B45309"/>
                </a:solidFill>
                <a:latin typeface="Calibri" pitchFamily="34" charset="0"/>
                <a:ea typeface="Calibri" pitchFamily="34" charset="-122"/>
                <a:cs typeface="Calibri" pitchFamily="34" charset="-120"/>
              </a:rPr>
              <a:t>336</a:t>
            </a:r>
            <a:endParaRPr lang="en-US" sz="3200" dirty="0"/>
          </a:p>
        </p:txBody>
      </p:sp>
      <p:sp>
        <p:nvSpPr>
          <p:cNvPr id="27" name="NPR detalle"/>
          <p:cNvSpPr txBox="1"/>
          <p:nvPr/>
        </p:nvSpPr>
        <p:spPr>
          <a:xfrm>
            <a:off x="7498080" y="2770632"/>
            <a:ext cx="1097280" cy="36576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7 × 6 × 8</a:t>
            </a:r>
            <a:endParaRPr lang="en-US" sz="1200" dirty="0"/>
          </a:p>
        </p:txBody>
      </p:sp>
      <p:sp>
        <p:nvSpPr>
          <p:cNvPr id="28" name="Motor fondo"/>
          <p:cNvSpPr/>
          <p:nvPr/>
        </p:nvSpPr>
        <p:spPr>
          <a:xfrm>
            <a:off x="457200" y="3520440"/>
            <a:ext cx="4023360" cy="2286000"/>
          </a:xfrm>
          <a:prstGeom prst="roundRect">
            <a:avLst>
              <a:gd name="adj" fmla="val 2800"/>
            </a:avLst>
          </a:prstGeom>
          <a:solidFill>
            <a:srgbClr val="EEF2FA"/>
          </a:solidFill>
          <a:ln w="9525">
            <a:solidFill>
              <a:srgbClr val="EEF2FA"/>
            </a:solidFill>
            <a:prstDash val="solid"/>
          </a:ln>
        </p:spPr>
      </p:sp>
      <p:sp>
        <p:nvSpPr>
          <p:cNvPr id="29" name="Motor cifra"/>
          <p:cNvSpPr txBox="1"/>
          <p:nvPr/>
        </p:nvSpPr>
        <p:spPr>
          <a:xfrm>
            <a:off x="621792" y="3630168"/>
            <a:ext cx="3749040" cy="64008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31 de 67</a:t>
            </a:r>
            <a:endParaRPr lang="en-US" sz="3000" dirty="0"/>
          </a:p>
        </p:txBody>
      </p:sp>
      <p:sp>
        <p:nvSpPr>
          <p:cNvPr id="30" name="Motor texto"/>
          <p:cNvSpPr txBox="1"/>
          <p:nvPr/>
        </p:nvSpPr>
        <p:spPr>
          <a:xfrm>
            <a:off x="621792" y="4297680"/>
            <a:ext cx="3749040" cy="1417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formas de falla del motor diésel son prioritarias; la mayoría en admisión de aire y refrigeración (20 de 31)</a:t>
            </a:r>
            <a:endParaRPr lang="en-US" sz="1300" dirty="0"/>
          </a:p>
        </p:txBody>
      </p:sp>
      <p:sp>
        <p:nvSpPr>
          <p:cNvPr id="31" name="Generador fondo"/>
          <p:cNvSpPr/>
          <p:nvPr/>
        </p:nvSpPr>
        <p:spPr>
          <a:xfrm>
            <a:off x="4663440" y="3520440"/>
            <a:ext cx="4023360" cy="2286000"/>
          </a:xfrm>
          <a:prstGeom prst="roundRect">
            <a:avLst>
              <a:gd name="adj" fmla="val 2800"/>
            </a:avLst>
          </a:prstGeom>
          <a:solidFill>
            <a:srgbClr val="FDF1E1"/>
          </a:solidFill>
          <a:ln w="15875">
            <a:solidFill>
              <a:srgbClr val="B45309"/>
            </a:solidFill>
            <a:prstDash val="solid"/>
          </a:ln>
        </p:spPr>
      </p:sp>
      <p:sp>
        <p:nvSpPr>
          <p:cNvPr id="32" name="Generador cifra"/>
          <p:cNvSpPr txBox="1"/>
          <p:nvPr/>
        </p:nvSpPr>
        <p:spPr>
          <a:xfrm>
            <a:off x="4828032" y="3630168"/>
            <a:ext cx="3749040" cy="640080"/>
          </a:xfrm>
          <a:prstGeom prst="rect">
            <a:avLst/>
          </a:prstGeom>
          <a:noFill/>
          <a:ln/>
        </p:spPr>
        <p:txBody>
          <a:bodyPr wrap="square" lIns="0" tIns="0" rIns="0" bIns="0" rtlCol="0" anchor="ctr"/>
          <a:lstStyle/>
          <a:p>
            <a:pPr indent="0" marL="0">
              <a:buNone/>
            </a:pPr>
            <a:r>
              <a:rPr lang="en-US" sz="3000" b="1" dirty="0">
                <a:solidFill>
                  <a:srgbClr val="B45309"/>
                </a:solidFill>
                <a:latin typeface="Calibri" pitchFamily="34" charset="0"/>
                <a:ea typeface="Calibri" pitchFamily="34" charset="-122"/>
                <a:cs typeface="Calibri" pitchFamily="34" charset="-120"/>
              </a:rPr>
              <a:t>7 de 8</a:t>
            </a:r>
            <a:endParaRPr lang="en-US" sz="3000" dirty="0"/>
          </a:p>
        </p:txBody>
      </p:sp>
      <p:sp>
        <p:nvSpPr>
          <p:cNvPr id="33" name="Generador texto"/>
          <p:cNvSpPr txBox="1"/>
          <p:nvPr/>
        </p:nvSpPr>
        <p:spPr>
          <a:xfrm>
            <a:off x="4828032" y="4297680"/>
            <a:ext cx="3749040" cy="1417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formas de falla del generador son prioritarias; casi todas en la excitación: regulador AVR, diodos y varistor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ÁRBOL DE DECISIONES RCM</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Para cada falla, el árbol de decisiones elige la tarea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Regla: primero medir; cambiar por tiempo solo si medir no es posible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(hoja de decisión, Moubray) y Cap. IV/Anexo (hojas de decisión de los 93 modos). Conteo por tipo de tarea: clasificación propia; 4 filas del motor no tienen marca.</a:t>
            </a:r>
            <a:endParaRPr lang="en-US" sz="900" dirty="0"/>
          </a:p>
        </p:txBody>
      </p:sp>
      <p:sp>
        <p:nvSpPr>
          <p:cNvPr id="8" name="Pregunta 1 fondo"/>
          <p:cNvSpPr/>
          <p:nvPr/>
        </p:nvSpPr>
        <p:spPr>
          <a:xfrm>
            <a:off x="457200" y="1691640"/>
            <a:ext cx="4572000" cy="713232"/>
          </a:xfrm>
          <a:prstGeom prst="roundRect">
            <a:avLst>
              <a:gd name="adj" fmla="val 8974"/>
            </a:avLst>
          </a:prstGeom>
          <a:solidFill>
            <a:srgbClr val="FDF1E1"/>
          </a:solidFill>
          <a:ln w="15875">
            <a:solidFill>
              <a:srgbClr val="B45309"/>
            </a:solidFill>
            <a:prstDash val="solid"/>
          </a:ln>
        </p:spPr>
      </p:sp>
      <p:sp>
        <p:nvSpPr>
          <p:cNvPr id="9" name="Pregunta 1"/>
          <p:cNvSpPr txBox="1"/>
          <p:nvPr/>
        </p:nvSpPr>
        <p:spPr>
          <a:xfrm>
            <a:off x="640080" y="1691640"/>
            <a:ext cx="4297680" cy="71323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¿Se puede medir su estado?</a:t>
            </a:r>
            <a:endParaRPr lang="en-US" sz="1500" dirty="0"/>
          </a:p>
        </p:txBody>
      </p:sp>
      <p:sp>
        <p:nvSpPr>
          <p:cNvPr id="10" name="Sí 1"/>
          <p:cNvSpPr/>
          <p:nvPr/>
        </p:nvSpPr>
        <p:spPr>
          <a:xfrm>
            <a:off x="5074920" y="2048256"/>
            <a:ext cx="411480" cy="0"/>
          </a:xfrm>
          <a:prstGeom prst="line">
            <a:avLst/>
          </a:prstGeom>
          <a:noFill/>
          <a:ln w="15875">
            <a:solidFill>
              <a:srgbClr val="64748B"/>
            </a:solidFill>
            <a:prstDash val="solid"/>
            <a:tailEnd type="triangle"/>
          </a:ln>
        </p:spPr>
      </p:sp>
      <p:sp>
        <p:nvSpPr>
          <p:cNvPr id="11" name="Cifra 1 fondo"/>
          <p:cNvSpPr/>
          <p:nvPr/>
        </p:nvSpPr>
        <p:spPr>
          <a:xfrm>
            <a:off x="5532120" y="1691640"/>
            <a:ext cx="1143000" cy="713232"/>
          </a:xfrm>
          <a:prstGeom prst="roundRect">
            <a:avLst>
              <a:gd name="adj" fmla="val 8974"/>
            </a:avLst>
          </a:prstGeom>
          <a:solidFill>
            <a:srgbClr val="B45309"/>
          </a:solidFill>
          <a:ln w="9525">
            <a:solidFill>
              <a:srgbClr val="B45309"/>
            </a:solidFill>
            <a:prstDash val="solid"/>
          </a:ln>
        </p:spPr>
      </p:sp>
      <p:sp>
        <p:nvSpPr>
          <p:cNvPr id="12" name="Cifra 1"/>
          <p:cNvSpPr txBox="1"/>
          <p:nvPr/>
        </p:nvSpPr>
        <p:spPr>
          <a:xfrm>
            <a:off x="5532120" y="1691640"/>
            <a:ext cx="1143000"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55</a:t>
            </a:r>
            <a:endParaRPr lang="en-US" sz="2400" dirty="0"/>
          </a:p>
        </p:txBody>
      </p:sp>
      <p:sp>
        <p:nvSpPr>
          <p:cNvPr id="13" name="Resultado 1"/>
          <p:cNvSpPr txBox="1"/>
          <p:nvPr/>
        </p:nvSpPr>
        <p:spPr>
          <a:xfrm>
            <a:off x="6766560" y="1691640"/>
            <a:ext cx="1920240" cy="713232"/>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Tarea a condición</a:t>
            </a:r>
            <a:endParaRPr lang="en-US" sz="1300" dirty="0"/>
          </a:p>
        </p:txBody>
      </p:sp>
      <p:sp>
        <p:nvSpPr>
          <p:cNvPr id="14" name="No 1"/>
          <p:cNvSpPr txBox="1"/>
          <p:nvPr/>
        </p:nvSpPr>
        <p:spPr>
          <a:xfrm>
            <a:off x="685800" y="2423160"/>
            <a:ext cx="914400" cy="274320"/>
          </a:xfrm>
          <a:prstGeom prst="rect">
            <a:avLst/>
          </a:prstGeom>
          <a:noFill/>
          <a:ln/>
        </p:spPr>
        <p:txBody>
          <a:bodyPr wrap="square" lIns="0" tIns="0" rIns="0" bIns="0" rtlCol="0" anchor="t"/>
          <a:lstStyle/>
          <a:p>
            <a:pPr indent="0" marL="0">
              <a:buNone/>
            </a:pPr>
            <a:r>
              <a:rPr lang="en-US" sz="1100" b="1" dirty="0">
                <a:solidFill>
                  <a:srgbClr val="64748B"/>
                </a:solidFill>
                <a:latin typeface="Calibri" pitchFamily="34" charset="0"/>
                <a:ea typeface="Calibri" pitchFamily="34" charset="-122"/>
                <a:cs typeface="Calibri" pitchFamily="34" charset="-120"/>
              </a:rPr>
              <a:t>No ↓</a:t>
            </a:r>
            <a:endParaRPr lang="en-US" sz="1100" dirty="0"/>
          </a:p>
        </p:txBody>
      </p:sp>
      <p:sp>
        <p:nvSpPr>
          <p:cNvPr id="15" name="Pregunta 2 fondo"/>
          <p:cNvSpPr/>
          <p:nvPr/>
        </p:nvSpPr>
        <p:spPr>
          <a:xfrm>
            <a:off x="457200" y="2715768"/>
            <a:ext cx="4572000" cy="713232"/>
          </a:xfrm>
          <a:prstGeom prst="roundRect">
            <a:avLst>
              <a:gd name="adj" fmla="val 8974"/>
            </a:avLst>
          </a:prstGeom>
          <a:solidFill>
            <a:srgbClr val="EEF2FA"/>
          </a:solidFill>
          <a:ln w="9525">
            <a:solidFill>
              <a:srgbClr val="EEF2FA"/>
            </a:solidFill>
            <a:prstDash val="solid"/>
          </a:ln>
        </p:spPr>
      </p:sp>
      <p:sp>
        <p:nvSpPr>
          <p:cNvPr id="16" name="Pregunta 2"/>
          <p:cNvSpPr txBox="1"/>
          <p:nvPr/>
        </p:nvSpPr>
        <p:spPr>
          <a:xfrm>
            <a:off x="640080" y="2715768"/>
            <a:ext cx="4297680" cy="71323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¿Se puede renovar cada cierto tiempo?</a:t>
            </a:r>
            <a:endParaRPr lang="en-US" sz="1500" dirty="0"/>
          </a:p>
        </p:txBody>
      </p:sp>
      <p:sp>
        <p:nvSpPr>
          <p:cNvPr id="17" name="Sí 2"/>
          <p:cNvSpPr/>
          <p:nvPr/>
        </p:nvSpPr>
        <p:spPr>
          <a:xfrm>
            <a:off x="5074920" y="3072384"/>
            <a:ext cx="411480" cy="0"/>
          </a:xfrm>
          <a:prstGeom prst="line">
            <a:avLst/>
          </a:prstGeom>
          <a:noFill/>
          <a:ln w="15875">
            <a:solidFill>
              <a:srgbClr val="64748B"/>
            </a:solidFill>
            <a:prstDash val="solid"/>
            <a:tailEnd type="triangle"/>
          </a:ln>
        </p:spPr>
      </p:sp>
      <p:sp>
        <p:nvSpPr>
          <p:cNvPr id="18" name="Cifra 2 fondo"/>
          <p:cNvSpPr/>
          <p:nvPr/>
        </p:nvSpPr>
        <p:spPr>
          <a:xfrm>
            <a:off x="5532120" y="2715768"/>
            <a:ext cx="1143000" cy="713232"/>
          </a:xfrm>
          <a:prstGeom prst="roundRect">
            <a:avLst>
              <a:gd name="adj" fmla="val 8974"/>
            </a:avLst>
          </a:prstGeom>
          <a:solidFill>
            <a:srgbClr val="1E3A8A"/>
          </a:solidFill>
          <a:ln w="9525">
            <a:solidFill>
              <a:srgbClr val="1E3A8A"/>
            </a:solidFill>
            <a:prstDash val="solid"/>
          </a:ln>
        </p:spPr>
      </p:sp>
      <p:sp>
        <p:nvSpPr>
          <p:cNvPr id="19" name="Cifra 2"/>
          <p:cNvSpPr txBox="1"/>
          <p:nvPr/>
        </p:nvSpPr>
        <p:spPr>
          <a:xfrm>
            <a:off x="5532120" y="2715768"/>
            <a:ext cx="1143000"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20</a:t>
            </a:r>
            <a:endParaRPr lang="en-US" sz="2400" dirty="0"/>
          </a:p>
        </p:txBody>
      </p:sp>
      <p:sp>
        <p:nvSpPr>
          <p:cNvPr id="20" name="Resultado 2"/>
          <p:cNvSpPr txBox="1"/>
          <p:nvPr/>
        </p:nvSpPr>
        <p:spPr>
          <a:xfrm>
            <a:off x="6766560" y="2715768"/>
            <a:ext cx="1920240" cy="713232"/>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Reacondicionar</a:t>
            </a:r>
            <a:endParaRPr lang="en-US" sz="1300" dirty="0"/>
          </a:p>
        </p:txBody>
      </p:sp>
      <p:sp>
        <p:nvSpPr>
          <p:cNvPr id="21" name="No 2"/>
          <p:cNvSpPr txBox="1"/>
          <p:nvPr/>
        </p:nvSpPr>
        <p:spPr>
          <a:xfrm>
            <a:off x="685800" y="3447288"/>
            <a:ext cx="914400" cy="274320"/>
          </a:xfrm>
          <a:prstGeom prst="rect">
            <a:avLst/>
          </a:prstGeom>
          <a:noFill/>
          <a:ln/>
        </p:spPr>
        <p:txBody>
          <a:bodyPr wrap="square" lIns="0" tIns="0" rIns="0" bIns="0" rtlCol="0" anchor="t"/>
          <a:lstStyle/>
          <a:p>
            <a:pPr indent="0" marL="0">
              <a:buNone/>
            </a:pPr>
            <a:r>
              <a:rPr lang="en-US" sz="1100" b="1" dirty="0">
                <a:solidFill>
                  <a:srgbClr val="64748B"/>
                </a:solidFill>
                <a:latin typeface="Calibri" pitchFamily="34" charset="0"/>
                <a:ea typeface="Calibri" pitchFamily="34" charset="-122"/>
                <a:cs typeface="Calibri" pitchFamily="34" charset="-120"/>
              </a:rPr>
              <a:t>No ↓</a:t>
            </a:r>
            <a:endParaRPr lang="en-US" sz="1100" dirty="0"/>
          </a:p>
        </p:txBody>
      </p:sp>
      <p:sp>
        <p:nvSpPr>
          <p:cNvPr id="22" name="Pregunta 3 fondo"/>
          <p:cNvSpPr/>
          <p:nvPr/>
        </p:nvSpPr>
        <p:spPr>
          <a:xfrm>
            <a:off x="457200" y="3739896"/>
            <a:ext cx="4572000" cy="713232"/>
          </a:xfrm>
          <a:prstGeom prst="roundRect">
            <a:avLst>
              <a:gd name="adj" fmla="val 8974"/>
            </a:avLst>
          </a:prstGeom>
          <a:solidFill>
            <a:srgbClr val="EEF2FA"/>
          </a:solidFill>
          <a:ln w="9525">
            <a:solidFill>
              <a:srgbClr val="EEF2FA"/>
            </a:solidFill>
            <a:prstDash val="solid"/>
          </a:ln>
        </p:spPr>
      </p:sp>
      <p:sp>
        <p:nvSpPr>
          <p:cNvPr id="23" name="Pregunta 3"/>
          <p:cNvSpPr txBox="1"/>
          <p:nvPr/>
        </p:nvSpPr>
        <p:spPr>
          <a:xfrm>
            <a:off x="640080" y="3739896"/>
            <a:ext cx="4297680" cy="71323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¿Conviene cambiarlo cada cierto tiempo?</a:t>
            </a:r>
            <a:endParaRPr lang="en-US" sz="1500" dirty="0"/>
          </a:p>
        </p:txBody>
      </p:sp>
      <p:sp>
        <p:nvSpPr>
          <p:cNvPr id="24" name="Sí 3"/>
          <p:cNvSpPr/>
          <p:nvPr/>
        </p:nvSpPr>
        <p:spPr>
          <a:xfrm>
            <a:off x="5074920" y="4096512"/>
            <a:ext cx="411480" cy="0"/>
          </a:xfrm>
          <a:prstGeom prst="line">
            <a:avLst/>
          </a:prstGeom>
          <a:noFill/>
          <a:ln w="15875">
            <a:solidFill>
              <a:srgbClr val="64748B"/>
            </a:solidFill>
            <a:prstDash val="solid"/>
            <a:tailEnd type="triangle"/>
          </a:ln>
        </p:spPr>
      </p:sp>
      <p:sp>
        <p:nvSpPr>
          <p:cNvPr id="25" name="Cifra 3 fondo"/>
          <p:cNvSpPr/>
          <p:nvPr/>
        </p:nvSpPr>
        <p:spPr>
          <a:xfrm>
            <a:off x="5532120" y="3739896"/>
            <a:ext cx="1143000" cy="713232"/>
          </a:xfrm>
          <a:prstGeom prst="roundRect">
            <a:avLst>
              <a:gd name="adj" fmla="val 8974"/>
            </a:avLst>
          </a:prstGeom>
          <a:solidFill>
            <a:srgbClr val="1E3A8A"/>
          </a:solidFill>
          <a:ln w="9525">
            <a:solidFill>
              <a:srgbClr val="1E3A8A"/>
            </a:solidFill>
            <a:prstDash val="solid"/>
          </a:ln>
        </p:spPr>
      </p:sp>
      <p:sp>
        <p:nvSpPr>
          <p:cNvPr id="26" name="Cifra 3"/>
          <p:cNvSpPr txBox="1"/>
          <p:nvPr/>
        </p:nvSpPr>
        <p:spPr>
          <a:xfrm>
            <a:off x="5532120" y="3739896"/>
            <a:ext cx="1143000"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12</a:t>
            </a:r>
            <a:endParaRPr lang="en-US" sz="2400" dirty="0"/>
          </a:p>
        </p:txBody>
      </p:sp>
      <p:sp>
        <p:nvSpPr>
          <p:cNvPr id="27" name="Resultado 3"/>
          <p:cNvSpPr txBox="1"/>
          <p:nvPr/>
        </p:nvSpPr>
        <p:spPr>
          <a:xfrm>
            <a:off x="6766560" y="3739896"/>
            <a:ext cx="1920240" cy="713232"/>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Sustituir</a:t>
            </a:r>
            <a:endParaRPr lang="en-US" sz="1300" dirty="0"/>
          </a:p>
        </p:txBody>
      </p:sp>
      <p:sp>
        <p:nvSpPr>
          <p:cNvPr id="28" name="No 3"/>
          <p:cNvSpPr txBox="1"/>
          <p:nvPr/>
        </p:nvSpPr>
        <p:spPr>
          <a:xfrm>
            <a:off x="685800" y="4471416"/>
            <a:ext cx="914400" cy="274320"/>
          </a:xfrm>
          <a:prstGeom prst="rect">
            <a:avLst/>
          </a:prstGeom>
          <a:noFill/>
          <a:ln/>
        </p:spPr>
        <p:txBody>
          <a:bodyPr wrap="square" lIns="0" tIns="0" rIns="0" bIns="0" rtlCol="0" anchor="t"/>
          <a:lstStyle/>
          <a:p>
            <a:pPr indent="0" marL="0">
              <a:buNone/>
            </a:pPr>
            <a:r>
              <a:rPr lang="en-US" sz="1100" b="1" dirty="0">
                <a:solidFill>
                  <a:srgbClr val="64748B"/>
                </a:solidFill>
                <a:latin typeface="Calibri" pitchFamily="34" charset="0"/>
                <a:ea typeface="Calibri" pitchFamily="34" charset="-122"/>
                <a:cs typeface="Calibri" pitchFamily="34" charset="-120"/>
              </a:rPr>
              <a:t>No ↓</a:t>
            </a:r>
            <a:endParaRPr lang="en-US" sz="1100" dirty="0"/>
          </a:p>
        </p:txBody>
      </p:sp>
      <p:sp>
        <p:nvSpPr>
          <p:cNvPr id="29" name="Pregunta 4 fondo"/>
          <p:cNvSpPr/>
          <p:nvPr/>
        </p:nvSpPr>
        <p:spPr>
          <a:xfrm>
            <a:off x="457200" y="4764024"/>
            <a:ext cx="4572000" cy="713232"/>
          </a:xfrm>
          <a:prstGeom prst="roundRect">
            <a:avLst>
              <a:gd name="adj" fmla="val 8974"/>
            </a:avLst>
          </a:prstGeom>
          <a:solidFill>
            <a:srgbClr val="EEF2FA"/>
          </a:solidFill>
          <a:ln w="9525">
            <a:solidFill>
              <a:srgbClr val="EEF2FA"/>
            </a:solidFill>
            <a:prstDash val="solid"/>
          </a:ln>
        </p:spPr>
      </p:sp>
      <p:sp>
        <p:nvSpPr>
          <p:cNvPr id="30" name="Pregunta 4"/>
          <p:cNvSpPr txBox="1"/>
          <p:nvPr/>
        </p:nvSpPr>
        <p:spPr>
          <a:xfrm>
            <a:off x="640080" y="4764024"/>
            <a:ext cx="4297680" cy="71323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Si nada sirve: buscar fallas o rediseñar</a:t>
            </a:r>
            <a:endParaRPr lang="en-US" sz="1500" dirty="0"/>
          </a:p>
        </p:txBody>
      </p:sp>
      <p:sp>
        <p:nvSpPr>
          <p:cNvPr id="31" name="Sí 4"/>
          <p:cNvSpPr/>
          <p:nvPr/>
        </p:nvSpPr>
        <p:spPr>
          <a:xfrm>
            <a:off x="5074920" y="5120640"/>
            <a:ext cx="411480" cy="0"/>
          </a:xfrm>
          <a:prstGeom prst="line">
            <a:avLst/>
          </a:prstGeom>
          <a:noFill/>
          <a:ln w="15875">
            <a:solidFill>
              <a:srgbClr val="64748B"/>
            </a:solidFill>
            <a:prstDash val="solid"/>
            <a:tailEnd type="triangle"/>
          </a:ln>
        </p:spPr>
      </p:sp>
      <p:sp>
        <p:nvSpPr>
          <p:cNvPr id="32" name="Cifra 4 fondo"/>
          <p:cNvSpPr/>
          <p:nvPr/>
        </p:nvSpPr>
        <p:spPr>
          <a:xfrm>
            <a:off x="5532120" y="4764024"/>
            <a:ext cx="1143000" cy="713232"/>
          </a:xfrm>
          <a:prstGeom prst="roundRect">
            <a:avLst>
              <a:gd name="adj" fmla="val 8974"/>
            </a:avLst>
          </a:prstGeom>
          <a:solidFill>
            <a:srgbClr val="1E3A8A"/>
          </a:solidFill>
          <a:ln w="9525">
            <a:solidFill>
              <a:srgbClr val="1E3A8A"/>
            </a:solidFill>
            <a:prstDash val="solid"/>
          </a:ln>
        </p:spPr>
      </p:sp>
      <p:sp>
        <p:nvSpPr>
          <p:cNvPr id="33" name="Cifra 4"/>
          <p:cNvSpPr txBox="1"/>
          <p:nvPr/>
        </p:nvSpPr>
        <p:spPr>
          <a:xfrm>
            <a:off x="5532120" y="4764024"/>
            <a:ext cx="1143000"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34" name="Resultado 4"/>
          <p:cNvSpPr txBox="1"/>
          <p:nvPr/>
        </p:nvSpPr>
        <p:spPr>
          <a:xfrm>
            <a:off x="6766560" y="4764024"/>
            <a:ext cx="1920240" cy="713232"/>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A falta de</a:t>
            </a:r>
            <a:endParaRPr lang="en-US" sz="1300" dirty="0"/>
          </a:p>
        </p:txBody>
      </p:sp>
      <p:sp>
        <p:nvSpPr>
          <p:cNvPr id="35" name="Ejemplos"/>
          <p:cNvSpPr txBox="1"/>
          <p:nvPr/>
        </p:nvSpPr>
        <p:spPr>
          <a:xfrm>
            <a:off x="457200" y="5486400"/>
            <a:ext cx="8229600" cy="457200"/>
          </a:xfrm>
          <a:prstGeom prst="rect">
            <a:avLst/>
          </a:prstGeom>
          <a:noFill/>
          <a:ln/>
        </p:spPr>
        <p:txBody>
          <a:bodyPr wrap="square" lIns="0" tIns="0" rIns="0" bIns="0" rtlCol="0" anchor="t"/>
          <a:lstStyle/>
          <a:p>
            <a:pPr indent="0" marL="0">
              <a:buNone/>
            </a:pPr>
            <a:r>
              <a:rPr lang="en-US" sz="1100" i="1" dirty="0">
                <a:solidFill>
                  <a:srgbClr val="334155"/>
                </a:solidFill>
                <a:latin typeface="Calibri" pitchFamily="34" charset="0"/>
                <a:ea typeface="Calibri" pitchFamily="34" charset="-122"/>
                <a:cs typeface="Calibri" pitchFamily="34" charset="-120"/>
              </a:rPr>
              <a:t>Ejemplos: medir la caída de presión del filtro (a condición) · limpiar el intercooler cada 1 000 h (reacondicionar) · cambiar fusibles cada 1 000 h (sustituir).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PLAN DE MANTENIMIENTO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plan dice qué hacer, cada cuánto y quién lo hace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Cada tarea tiene un valor que medir: el técnico decide con datos, no por costumbre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y Anexo — planes del motor diésel, generador y demás sistemas (93 actividades). Textos simplificados; conteos: cálculo propio.</a:t>
            </a:r>
            <a:endParaRPr lang="en-US" sz="900" dirty="0"/>
          </a:p>
        </p:txBody>
      </p:sp>
      <p:graphicFrame>
        <p:nvGraphicFramePr>
          <p:cNvPr id="13" name="Tabla plan"/>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1920240"/>
                <a:gridCol w="3474720"/>
                <a:gridCol w="1325880"/>
                <a:gridCol w="15087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Componente</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Qué hacer</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Cada cuánto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Quién</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566928">
                <a:tc>
                  <a:txBody>
                    <a:bodyPr/>
                    <a:lstStyle/>
                    <a:p>
                      <a:pPr indent="0" marL="0">
                        <a:buNone/>
                      </a:pPr>
                      <a:r>
                        <a:rPr lang="en-US" sz="1250" b="1" dirty="0">
                          <a:solidFill>
                            <a:srgbClr val="1E3A8A"/>
                          </a:solidFill>
                          <a:latin typeface="Calibri" pitchFamily="34" charset="0"/>
                          <a:ea typeface="Calibri" pitchFamily="34" charset="-122"/>
                          <a:cs typeface="Calibri" pitchFamily="34" charset="-120"/>
                        </a:rPr>
                        <a:t>Filtro de combustible</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Cambiarlo según la caída de presión; sensor de agua en el filtro Racor</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Según medición</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Técnico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E3A8A"/>
                          </a:solidFill>
                          <a:latin typeface="Calibri" pitchFamily="34" charset="0"/>
                          <a:ea typeface="Calibri" pitchFamily="34" charset="-122"/>
                          <a:cs typeface="Calibri" pitchFamily="34" charset="-120"/>
                        </a:rPr>
                        <a:t>Filtro de aceite</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Usar solo filtros de 30 micras o menos</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Cada 300 h</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Técnico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r>
              <a:tr h="566928">
                <a:tc>
                  <a:txBody>
                    <a:bodyPr/>
                    <a:lstStyle/>
                    <a:p>
                      <a:pPr indent="0" marL="0">
                        <a:buNone/>
                      </a:pPr>
                      <a:r>
                        <a:rPr lang="en-US" sz="1250" b="1" dirty="0">
                          <a:solidFill>
                            <a:srgbClr val="1E3A8A"/>
                          </a:solidFill>
                          <a:latin typeface="Calibri" pitchFamily="34" charset="0"/>
                          <a:ea typeface="Calibri" pitchFamily="34" charset="-122"/>
                          <a:cs typeface="Calibri" pitchFamily="34" charset="-120"/>
                        </a:rPr>
                        <a:t>Radiador e intercooler</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Revisar el flujo de aire y limpiar</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250 a 1 000 h</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Técnico / servicio externo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E3A8A"/>
                          </a:solidFill>
                          <a:latin typeface="Calibri" pitchFamily="34" charset="0"/>
                          <a:ea typeface="Calibri" pitchFamily="34" charset="-122"/>
                          <a:cs typeface="Calibri" pitchFamily="34" charset="-120"/>
                        </a:rPr>
                        <a:t>Regulador de voltaje (AVR)</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Vigilar voltaje y frecuencia con alarmas</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Semanal</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Técnico y operario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EF2FA"/>
                    </a:solidFill>
                  </a:tcPr>
                </a:tc>
              </a:tr>
              <a:tr h="566928">
                <a:tc>
                  <a:txBody>
                    <a:bodyPr/>
                    <a:lstStyle/>
                    <a:p>
                      <a:pPr indent="0" marL="0">
                        <a:buNone/>
                      </a:pPr>
                      <a:r>
                        <a:rPr lang="en-US" sz="1250" b="1" dirty="0">
                          <a:solidFill>
                            <a:srgbClr val="1E3A8A"/>
                          </a:solidFill>
                          <a:latin typeface="Calibri" pitchFamily="34" charset="0"/>
                          <a:ea typeface="Calibri" pitchFamily="34" charset="-122"/>
                          <a:cs typeface="Calibri" pitchFamily="34" charset="-120"/>
                        </a:rPr>
                        <a:t>Protección por temperatura</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Probar la alarma (98 °C) y el apagado (105 °C)</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Cada 500 h</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Técnico</a:t>
                      </a:r>
                      <a:endParaRPr lang="en-US" sz="1250" dirty="0">
                        <a:latin typeface="Calibri" charset="0"/>
                        <a:ea typeface="Calibri" charset="0"/>
                        <a:cs typeface="Calibri" charset="0"/>
                      </a:endParaRPr>
                    </a:p>
                  </a:txBody>
                  <a:tcPr marL="73152" marR="73152"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esumen 1 fondo"/>
          <p:cNvSpPr/>
          <p:nvPr/>
        </p:nvSpPr>
        <p:spPr>
          <a:xfrm>
            <a:off x="457200" y="4983480"/>
            <a:ext cx="2651760" cy="868680"/>
          </a:xfrm>
          <a:prstGeom prst="roundRect">
            <a:avLst>
              <a:gd name="adj" fmla="val 7368"/>
            </a:avLst>
          </a:prstGeom>
          <a:solidFill>
            <a:srgbClr val="EEF2FA"/>
          </a:solidFill>
          <a:ln w="9525">
            <a:solidFill>
              <a:srgbClr val="EEF2FA"/>
            </a:solidFill>
            <a:prstDash val="solid"/>
          </a:ln>
        </p:spPr>
      </p:sp>
      <p:sp>
        <p:nvSpPr>
          <p:cNvPr id="10" name="Resumen 1 cifra"/>
          <p:cNvSpPr txBox="1"/>
          <p:nvPr/>
        </p:nvSpPr>
        <p:spPr>
          <a:xfrm>
            <a:off x="548640" y="4983480"/>
            <a:ext cx="1051560" cy="868680"/>
          </a:xfrm>
          <a:prstGeom prst="rect">
            <a:avLst/>
          </a:prstGeom>
          <a:noFill/>
          <a:ln/>
        </p:spPr>
        <p:txBody>
          <a:bodyPr wrap="square" lIns="0" tIns="0" rIns="0" bIns="0"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93</a:t>
            </a:r>
            <a:endParaRPr lang="en-US" sz="2000" dirty="0"/>
          </a:p>
        </p:txBody>
      </p:sp>
      <p:sp>
        <p:nvSpPr>
          <p:cNvPr id="11" name="Resumen 1 texto"/>
          <p:cNvSpPr txBox="1"/>
          <p:nvPr/>
        </p:nvSpPr>
        <p:spPr>
          <a:xfrm>
            <a:off x="1600200" y="4983480"/>
            <a:ext cx="1463040" cy="868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actividades: una por cada forma de falla</a:t>
            </a:r>
            <a:endParaRPr lang="en-US" sz="1100" dirty="0"/>
          </a:p>
        </p:txBody>
      </p:sp>
      <p:sp>
        <p:nvSpPr>
          <p:cNvPr id="12" name="Resumen 2 fondo"/>
          <p:cNvSpPr/>
          <p:nvPr/>
        </p:nvSpPr>
        <p:spPr>
          <a:xfrm>
            <a:off x="3246120" y="4983480"/>
            <a:ext cx="2651760" cy="868680"/>
          </a:xfrm>
          <a:prstGeom prst="roundRect">
            <a:avLst>
              <a:gd name="adj" fmla="val 7368"/>
            </a:avLst>
          </a:prstGeom>
          <a:solidFill>
            <a:srgbClr val="FDF1E1"/>
          </a:solidFill>
          <a:ln w="9525">
            <a:solidFill>
              <a:srgbClr val="B45309"/>
            </a:solidFill>
            <a:prstDash val="solid"/>
          </a:ln>
        </p:spPr>
      </p:sp>
      <p:sp>
        <p:nvSpPr>
          <p:cNvPr id="13" name="Resumen 2 cifra"/>
          <p:cNvSpPr txBox="1"/>
          <p:nvPr/>
        </p:nvSpPr>
        <p:spPr>
          <a:xfrm>
            <a:off x="3337560" y="4983480"/>
            <a:ext cx="1051560" cy="868680"/>
          </a:xfrm>
          <a:prstGeom prst="rect">
            <a:avLst/>
          </a:prstGeom>
          <a:noFill/>
          <a:ln/>
        </p:spPr>
        <p:txBody>
          <a:bodyPr wrap="square" lIns="0" tIns="0" rIns="0" bIns="0" rtlCol="0" anchor="ctr"/>
          <a:lstStyle/>
          <a:p>
            <a:pPr algn="ctr" indent="0" marL="0">
              <a:buNone/>
            </a:pPr>
            <a:r>
              <a:rPr lang="en-US" sz="2000" b="1" dirty="0">
                <a:solidFill>
                  <a:srgbClr val="B45309"/>
                </a:solidFill>
                <a:latin typeface="Calibri" pitchFamily="34" charset="0"/>
                <a:ea typeface="Calibri" pitchFamily="34" charset="-122"/>
                <a:cs typeface="Calibri" pitchFamily="34" charset="-120"/>
              </a:rPr>
              <a:t>51 %</a:t>
            </a:r>
            <a:endParaRPr lang="en-US" sz="2000" dirty="0"/>
          </a:p>
        </p:txBody>
      </p:sp>
      <p:sp>
        <p:nvSpPr>
          <p:cNvPr id="14" name="Resumen 2 texto"/>
          <p:cNvSpPr txBox="1"/>
          <p:nvPr/>
        </p:nvSpPr>
        <p:spPr>
          <a:xfrm>
            <a:off x="4389120" y="4983480"/>
            <a:ext cx="1463040" cy="868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de las tareas del motor: diarias o cada ≤ 250 h</a:t>
            </a:r>
            <a:endParaRPr lang="en-US" sz="1100" dirty="0"/>
          </a:p>
        </p:txBody>
      </p:sp>
      <p:sp>
        <p:nvSpPr>
          <p:cNvPr id="15" name="Resumen 3 fondo"/>
          <p:cNvSpPr/>
          <p:nvPr/>
        </p:nvSpPr>
        <p:spPr>
          <a:xfrm>
            <a:off x="6035040" y="4983480"/>
            <a:ext cx="2651760" cy="868680"/>
          </a:xfrm>
          <a:prstGeom prst="roundRect">
            <a:avLst>
              <a:gd name="adj" fmla="val 7368"/>
            </a:avLst>
          </a:prstGeom>
          <a:solidFill>
            <a:srgbClr val="EEF2FA"/>
          </a:solidFill>
          <a:ln w="9525">
            <a:solidFill>
              <a:srgbClr val="EEF2FA"/>
            </a:solidFill>
            <a:prstDash val="solid"/>
          </a:ln>
        </p:spPr>
      </p:sp>
      <p:sp>
        <p:nvSpPr>
          <p:cNvPr id="16" name="Resumen 3 cifra"/>
          <p:cNvSpPr txBox="1"/>
          <p:nvPr/>
        </p:nvSpPr>
        <p:spPr>
          <a:xfrm>
            <a:off x="6126480" y="4983480"/>
            <a:ext cx="1051560" cy="868680"/>
          </a:xfrm>
          <a:prstGeom prst="rect">
            <a:avLst/>
          </a:prstGeom>
          <a:noFill/>
          <a:ln/>
        </p:spPr>
        <p:txBody>
          <a:bodyPr wrap="square" lIns="0" tIns="0" rIns="0" bIns="0" rtlCol="0" anchor="ctr"/>
          <a:lstStyle/>
          <a:p>
            <a:pPr algn="ctr" indent="0" marL="0">
              <a:buNone/>
            </a:pPr>
            <a:r>
              <a:rPr lang="en-US" sz="2000" b="1" dirty="0">
                <a:solidFill>
                  <a:srgbClr val="1E3A8A"/>
                </a:solidFill>
                <a:latin typeface="Calibri" pitchFamily="34" charset="0"/>
                <a:ea typeface="Calibri" pitchFamily="34" charset="-122"/>
                <a:cs typeface="Calibri" pitchFamily="34" charset="-120"/>
              </a:rPr>
              <a:t>67 de 93</a:t>
            </a:r>
            <a:endParaRPr lang="en-US" sz="2000" dirty="0"/>
          </a:p>
        </p:txBody>
      </p:sp>
      <p:sp>
        <p:nvSpPr>
          <p:cNvPr id="17" name="Resumen 3 texto"/>
          <p:cNvSpPr txBox="1"/>
          <p:nvPr/>
        </p:nvSpPr>
        <p:spPr>
          <a:xfrm>
            <a:off x="7178040" y="4983480"/>
            <a:ext cx="1463040" cy="8686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actividades con participación del técnico electromecánico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RECURSOS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Para ejecutarlo: 5 perfiles de personal y US$ 54 709 en equipos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Sin instrumentos de medición no hay mantenimiento a condición</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(personal) y 4.5 (presupuesto de 91 ítems, para toda la flota: S/ 190 397, 09/2025). Porcentaje: cálculo propio.</a:t>
            </a:r>
            <a:endParaRPr lang="en-US" sz="900" dirty="0"/>
          </a:p>
        </p:txBody>
      </p:sp>
      <p:sp>
        <p:nvSpPr>
          <p:cNvPr id="8" name="Etiqueta PERSONAL"/>
          <p:cNvSpPr txBox="1"/>
          <p:nvPr/>
        </p:nvSpPr>
        <p:spPr>
          <a:xfrm>
            <a:off x="457200" y="160020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PERSONAL</a:t>
            </a:r>
            <a:endParaRPr lang="en-US" sz="1100" dirty="0"/>
          </a:p>
        </p:txBody>
      </p:sp>
      <p:sp>
        <p:nvSpPr>
          <p:cNvPr id="9" name="Perfil 1 fondo"/>
          <p:cNvSpPr/>
          <p:nvPr/>
        </p:nvSpPr>
        <p:spPr>
          <a:xfrm>
            <a:off x="457200" y="1874520"/>
            <a:ext cx="3931920" cy="694944"/>
          </a:xfrm>
          <a:prstGeom prst="roundRect">
            <a:avLst>
              <a:gd name="adj" fmla="val 9211"/>
            </a:avLst>
          </a:prstGeom>
          <a:solidFill>
            <a:srgbClr val="EEF2FA"/>
          </a:solidFill>
          <a:ln w="9525">
            <a:solidFill>
              <a:srgbClr val="EEF2FA"/>
            </a:solidFill>
            <a:prstDash val="solid"/>
          </a:ln>
        </p:spPr>
      </p:sp>
      <p:sp>
        <p:nvSpPr>
          <p:cNvPr id="10" name="Perfil 1"/>
          <p:cNvSpPr txBox="1"/>
          <p:nvPr/>
        </p:nvSpPr>
        <p:spPr>
          <a:xfrm>
            <a:off x="621792" y="1874520"/>
            <a:ext cx="3657600" cy="694944"/>
          </a:xfrm>
          <a:prstGeom prst="rect">
            <a:avLst/>
          </a:prstGeom>
          <a:noFill/>
          <a:ln/>
        </p:spPr>
        <p:txBody>
          <a:bodyPr wrap="square" lIns="0" tIns="0" rIns="0" bIns="0" rtlCol="0" anchor="ctr"/>
          <a:lstStyle/>
          <a:p>
            <a:pPr indent="0" marL="0">
              <a:buNone/>
            </a:pPr>
            <a:r>
              <a:rPr lang="en-US" sz="1350" b="1" dirty="0">
                <a:solidFill>
                  <a:srgbClr val="1E3A8A"/>
                </a:solidFill>
                <a:latin typeface="Calibri" pitchFamily="34" charset="0"/>
                <a:ea typeface="Calibri" pitchFamily="34" charset="-122"/>
                <a:cs typeface="Calibri" pitchFamily="34" charset="-120"/>
              </a:rPr>
              <a:t>Técnico electromecánico</a:t>
            </a:r>
            <a:endParaRPr lang="en-US" sz="1350" dirty="0"/>
          </a:p>
          <a:p>
            <a:pPr indent="0" marL="0">
              <a:buNone/>
            </a:pPr>
            <a:r>
              <a:rPr lang="en-US" sz="1150" dirty="0">
                <a:solidFill>
                  <a:srgbClr val="334155"/>
                </a:solidFill>
                <a:latin typeface="Calibri" pitchFamily="34" charset="0"/>
                <a:ea typeface="Calibri" pitchFamily="34" charset="-122"/>
                <a:cs typeface="Calibri" pitchFamily="34" charset="-120"/>
              </a:rPr>
              <a:t>mide, prueba y repara</a:t>
            </a:r>
            <a:endParaRPr lang="en-US" sz="1350" dirty="0"/>
          </a:p>
        </p:txBody>
      </p:sp>
      <p:sp>
        <p:nvSpPr>
          <p:cNvPr id="11" name="Perfil 2 fondo"/>
          <p:cNvSpPr/>
          <p:nvPr/>
        </p:nvSpPr>
        <p:spPr>
          <a:xfrm>
            <a:off x="457200" y="2660904"/>
            <a:ext cx="3931920" cy="694944"/>
          </a:xfrm>
          <a:prstGeom prst="roundRect">
            <a:avLst>
              <a:gd name="adj" fmla="val 9211"/>
            </a:avLst>
          </a:prstGeom>
          <a:solidFill>
            <a:srgbClr val="EEF2FA"/>
          </a:solidFill>
          <a:ln w="9525">
            <a:solidFill>
              <a:srgbClr val="EEF2FA"/>
            </a:solidFill>
            <a:prstDash val="solid"/>
          </a:ln>
        </p:spPr>
      </p:sp>
      <p:sp>
        <p:nvSpPr>
          <p:cNvPr id="12" name="Perfil 2"/>
          <p:cNvSpPr txBox="1"/>
          <p:nvPr/>
        </p:nvSpPr>
        <p:spPr>
          <a:xfrm>
            <a:off x="621792" y="2660904"/>
            <a:ext cx="3657600" cy="694944"/>
          </a:xfrm>
          <a:prstGeom prst="rect">
            <a:avLst/>
          </a:prstGeom>
          <a:noFill/>
          <a:ln/>
        </p:spPr>
        <p:txBody>
          <a:bodyPr wrap="square" lIns="0" tIns="0" rIns="0" bIns="0" rtlCol="0" anchor="ctr"/>
          <a:lstStyle/>
          <a:p>
            <a:pPr indent="0" marL="0">
              <a:buNone/>
            </a:pPr>
            <a:r>
              <a:rPr lang="en-US" sz="1350" b="1" dirty="0">
                <a:solidFill>
                  <a:srgbClr val="1E3A8A"/>
                </a:solidFill>
                <a:latin typeface="Calibri" pitchFamily="34" charset="0"/>
                <a:ea typeface="Calibri" pitchFamily="34" charset="-122"/>
                <a:cs typeface="Calibri" pitchFamily="34" charset="-120"/>
              </a:rPr>
              <a:t>Operario</a:t>
            </a:r>
            <a:endParaRPr lang="en-US" sz="1350" dirty="0"/>
          </a:p>
          <a:p>
            <a:pPr indent="0" marL="0">
              <a:buNone/>
            </a:pPr>
            <a:r>
              <a:rPr lang="en-US" sz="1150" dirty="0">
                <a:solidFill>
                  <a:srgbClr val="334155"/>
                </a:solidFill>
                <a:latin typeface="Calibri" pitchFamily="34" charset="0"/>
                <a:ea typeface="Calibri" pitchFamily="34" charset="-122"/>
                <a:cs typeface="Calibri" pitchFamily="34" charset="-120"/>
              </a:rPr>
              <a:t>inspecciona niveles y fugas</a:t>
            </a:r>
            <a:endParaRPr lang="en-US" sz="1350" dirty="0"/>
          </a:p>
        </p:txBody>
      </p:sp>
      <p:sp>
        <p:nvSpPr>
          <p:cNvPr id="13" name="Perfil 3 fondo"/>
          <p:cNvSpPr/>
          <p:nvPr/>
        </p:nvSpPr>
        <p:spPr>
          <a:xfrm>
            <a:off x="457200" y="3447288"/>
            <a:ext cx="3931920" cy="694944"/>
          </a:xfrm>
          <a:prstGeom prst="roundRect">
            <a:avLst>
              <a:gd name="adj" fmla="val 9211"/>
            </a:avLst>
          </a:prstGeom>
          <a:solidFill>
            <a:srgbClr val="EEF2FA"/>
          </a:solidFill>
          <a:ln w="9525">
            <a:solidFill>
              <a:srgbClr val="EEF2FA"/>
            </a:solidFill>
            <a:prstDash val="solid"/>
          </a:ln>
        </p:spPr>
      </p:sp>
      <p:sp>
        <p:nvSpPr>
          <p:cNvPr id="14" name="Perfil 3"/>
          <p:cNvSpPr txBox="1"/>
          <p:nvPr/>
        </p:nvSpPr>
        <p:spPr>
          <a:xfrm>
            <a:off x="621792" y="3447288"/>
            <a:ext cx="3657600" cy="694944"/>
          </a:xfrm>
          <a:prstGeom prst="rect">
            <a:avLst/>
          </a:prstGeom>
          <a:noFill/>
          <a:ln/>
        </p:spPr>
        <p:txBody>
          <a:bodyPr wrap="square" lIns="0" tIns="0" rIns="0" bIns="0" rtlCol="0" anchor="ctr"/>
          <a:lstStyle/>
          <a:p>
            <a:pPr indent="0" marL="0">
              <a:buNone/>
            </a:pPr>
            <a:r>
              <a:rPr lang="en-US" sz="1350" b="1" dirty="0">
                <a:solidFill>
                  <a:srgbClr val="1E3A8A"/>
                </a:solidFill>
                <a:latin typeface="Calibri" pitchFamily="34" charset="0"/>
                <a:ea typeface="Calibri" pitchFamily="34" charset="-122"/>
                <a:cs typeface="Calibri" pitchFamily="34" charset="-120"/>
              </a:rPr>
              <a:t>Planner de planta</a:t>
            </a:r>
            <a:endParaRPr lang="en-US" sz="1350" dirty="0"/>
          </a:p>
          <a:p>
            <a:pPr indent="0" marL="0">
              <a:buNone/>
            </a:pPr>
            <a:r>
              <a:rPr lang="en-US" sz="1150" dirty="0">
                <a:solidFill>
                  <a:srgbClr val="334155"/>
                </a:solidFill>
                <a:latin typeface="Calibri" pitchFamily="34" charset="0"/>
                <a:ea typeface="Calibri" pitchFamily="34" charset="-122"/>
                <a:cs typeface="Calibri" pitchFamily="34" charset="-120"/>
              </a:rPr>
              <a:t>programa y registra</a:t>
            </a:r>
            <a:endParaRPr lang="en-US" sz="1350" dirty="0"/>
          </a:p>
        </p:txBody>
      </p:sp>
      <p:sp>
        <p:nvSpPr>
          <p:cNvPr id="15" name="Perfil 4 fondo"/>
          <p:cNvSpPr/>
          <p:nvPr/>
        </p:nvSpPr>
        <p:spPr>
          <a:xfrm>
            <a:off x="457200" y="4233672"/>
            <a:ext cx="3931920" cy="694944"/>
          </a:xfrm>
          <a:prstGeom prst="roundRect">
            <a:avLst>
              <a:gd name="adj" fmla="val 9211"/>
            </a:avLst>
          </a:prstGeom>
          <a:solidFill>
            <a:srgbClr val="EEF2FA"/>
          </a:solidFill>
          <a:ln w="9525">
            <a:solidFill>
              <a:srgbClr val="EEF2FA"/>
            </a:solidFill>
            <a:prstDash val="solid"/>
          </a:ln>
        </p:spPr>
      </p:sp>
      <p:sp>
        <p:nvSpPr>
          <p:cNvPr id="16" name="Perfil 4"/>
          <p:cNvSpPr txBox="1"/>
          <p:nvPr/>
        </p:nvSpPr>
        <p:spPr>
          <a:xfrm>
            <a:off x="621792" y="4233672"/>
            <a:ext cx="3657600" cy="694944"/>
          </a:xfrm>
          <a:prstGeom prst="rect">
            <a:avLst/>
          </a:prstGeom>
          <a:noFill/>
          <a:ln/>
        </p:spPr>
        <p:txBody>
          <a:bodyPr wrap="square" lIns="0" tIns="0" rIns="0" bIns="0" rtlCol="0" anchor="ctr"/>
          <a:lstStyle/>
          <a:p>
            <a:pPr indent="0" marL="0">
              <a:buNone/>
            </a:pPr>
            <a:r>
              <a:rPr lang="en-US" sz="1350" b="1" dirty="0">
                <a:solidFill>
                  <a:srgbClr val="1E3A8A"/>
                </a:solidFill>
                <a:latin typeface="Calibri" pitchFamily="34" charset="0"/>
                <a:ea typeface="Calibri" pitchFamily="34" charset="-122"/>
                <a:cs typeface="Calibri" pitchFamily="34" charset="-120"/>
              </a:rPr>
              <a:t>Personal predictivo</a:t>
            </a:r>
            <a:endParaRPr lang="en-US" sz="1350" dirty="0"/>
          </a:p>
          <a:p>
            <a:pPr indent="0" marL="0">
              <a:buNone/>
            </a:pPr>
            <a:r>
              <a:rPr lang="en-US" sz="1150" dirty="0">
                <a:solidFill>
                  <a:srgbClr val="334155"/>
                </a:solidFill>
                <a:latin typeface="Calibri" pitchFamily="34" charset="0"/>
                <a:ea typeface="Calibri" pitchFamily="34" charset="-122"/>
                <a:cs typeface="Calibri" pitchFamily="34" charset="-120"/>
              </a:rPr>
              <a:t>vibraciones y termografía</a:t>
            </a:r>
            <a:endParaRPr lang="en-US" sz="1350" dirty="0"/>
          </a:p>
        </p:txBody>
      </p:sp>
      <p:sp>
        <p:nvSpPr>
          <p:cNvPr id="17" name="Perfil 5 fondo"/>
          <p:cNvSpPr/>
          <p:nvPr/>
        </p:nvSpPr>
        <p:spPr>
          <a:xfrm>
            <a:off x="457200" y="5020056"/>
            <a:ext cx="3931920" cy="694944"/>
          </a:xfrm>
          <a:prstGeom prst="roundRect">
            <a:avLst>
              <a:gd name="adj" fmla="val 9211"/>
            </a:avLst>
          </a:prstGeom>
          <a:solidFill>
            <a:srgbClr val="EEF2FA"/>
          </a:solidFill>
          <a:ln w="9525">
            <a:solidFill>
              <a:srgbClr val="EEF2FA"/>
            </a:solidFill>
            <a:prstDash val="solid"/>
          </a:ln>
        </p:spPr>
      </p:sp>
      <p:sp>
        <p:nvSpPr>
          <p:cNvPr id="18" name="Perfil 5"/>
          <p:cNvSpPr txBox="1"/>
          <p:nvPr/>
        </p:nvSpPr>
        <p:spPr>
          <a:xfrm>
            <a:off x="621792" y="5020056"/>
            <a:ext cx="3657600" cy="694944"/>
          </a:xfrm>
          <a:prstGeom prst="rect">
            <a:avLst/>
          </a:prstGeom>
          <a:noFill/>
          <a:ln/>
        </p:spPr>
        <p:txBody>
          <a:bodyPr wrap="square" lIns="0" tIns="0" rIns="0" bIns="0" rtlCol="0" anchor="ctr"/>
          <a:lstStyle/>
          <a:p>
            <a:pPr indent="0" marL="0">
              <a:buNone/>
            </a:pPr>
            <a:r>
              <a:rPr lang="en-US" sz="1350" b="1" dirty="0">
                <a:solidFill>
                  <a:srgbClr val="1E3A8A"/>
                </a:solidFill>
                <a:latin typeface="Calibri" pitchFamily="34" charset="0"/>
                <a:ea typeface="Calibri" pitchFamily="34" charset="-122"/>
                <a:cs typeface="Calibri" pitchFamily="34" charset="-120"/>
              </a:rPr>
              <a:t>Servicios externos</a:t>
            </a:r>
            <a:endParaRPr lang="en-US" sz="1350" dirty="0"/>
          </a:p>
          <a:p>
            <a:pPr indent="0" marL="0">
              <a:buNone/>
            </a:pPr>
            <a:r>
              <a:rPr lang="en-US" sz="1150" dirty="0">
                <a:solidFill>
                  <a:srgbClr val="334155"/>
                </a:solidFill>
                <a:latin typeface="Calibri" pitchFamily="34" charset="0"/>
                <a:ea typeface="Calibri" pitchFamily="34" charset="-122"/>
                <a:cs typeface="Calibri" pitchFamily="34" charset="-120"/>
              </a:rPr>
              <a:t>laboratorio y limpieza química</a:t>
            </a:r>
            <a:endParaRPr lang="en-US" sz="1350" dirty="0"/>
          </a:p>
        </p:txBody>
      </p:sp>
      <p:sp>
        <p:nvSpPr>
          <p:cNvPr id="19" name="Etiqueta INVERSIÓN"/>
          <p:cNvSpPr txBox="1"/>
          <p:nvPr/>
        </p:nvSpPr>
        <p:spPr>
          <a:xfrm>
            <a:off x="4754880" y="160020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INVERSIÓN</a:t>
            </a:r>
            <a:endParaRPr lang="en-US" sz="1100" dirty="0"/>
          </a:p>
        </p:txBody>
      </p:sp>
      <p:sp>
        <p:nvSpPr>
          <p:cNvPr id="20" name="Inversión fondo"/>
          <p:cNvSpPr/>
          <p:nvPr/>
        </p:nvSpPr>
        <p:spPr>
          <a:xfrm>
            <a:off x="4754880" y="1874520"/>
            <a:ext cx="3931920" cy="1737360"/>
          </a:xfrm>
          <a:prstGeom prst="roundRect">
            <a:avLst>
              <a:gd name="adj" fmla="val 3684"/>
            </a:avLst>
          </a:prstGeom>
          <a:solidFill>
            <a:srgbClr val="EEF2FA"/>
          </a:solidFill>
          <a:ln w="9525">
            <a:solidFill>
              <a:srgbClr val="EEF2FA"/>
            </a:solidFill>
            <a:prstDash val="solid"/>
          </a:ln>
        </p:spPr>
      </p:sp>
      <p:sp>
        <p:nvSpPr>
          <p:cNvPr id="21" name="Inversión cifra"/>
          <p:cNvSpPr txBox="1"/>
          <p:nvPr/>
        </p:nvSpPr>
        <p:spPr>
          <a:xfrm>
            <a:off x="4919472" y="1984248"/>
            <a:ext cx="3657600" cy="640080"/>
          </a:xfrm>
          <a:prstGeom prst="rect">
            <a:avLst/>
          </a:prstGeom>
          <a:noFill/>
          <a:ln/>
        </p:spPr>
        <p:txBody>
          <a:bodyPr wrap="square" lIns="0" tIns="0" rIns="0" bIns="0"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US$ 54 709</a:t>
            </a:r>
            <a:endParaRPr lang="en-US" sz="3000" dirty="0"/>
          </a:p>
        </p:txBody>
      </p:sp>
      <p:sp>
        <p:nvSpPr>
          <p:cNvPr id="22" name="Inversión texto"/>
          <p:cNvSpPr txBox="1"/>
          <p:nvPr/>
        </p:nvSpPr>
        <p:spPr>
          <a:xfrm>
            <a:off x="4919472" y="2651760"/>
            <a:ext cx="3657600" cy="8686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91 ítems: instrumentos, herramientas, insumos y repuestos</a:t>
            </a:r>
            <a:endParaRPr lang="en-US" sz="1300" dirty="0"/>
          </a:p>
        </p:txBody>
      </p:sp>
      <p:sp>
        <p:nvSpPr>
          <p:cNvPr id="23" name="Instrumentación fondo"/>
          <p:cNvSpPr/>
          <p:nvPr/>
        </p:nvSpPr>
        <p:spPr>
          <a:xfrm>
            <a:off x="4754880" y="3794760"/>
            <a:ext cx="3931920" cy="2011680"/>
          </a:xfrm>
          <a:prstGeom prst="roundRect">
            <a:avLst>
              <a:gd name="adj" fmla="val 3182"/>
            </a:avLst>
          </a:prstGeom>
          <a:solidFill>
            <a:srgbClr val="FDF1E1"/>
          </a:solidFill>
          <a:ln w="15875">
            <a:solidFill>
              <a:srgbClr val="B45309"/>
            </a:solidFill>
            <a:prstDash val="solid"/>
          </a:ln>
        </p:spPr>
      </p:sp>
      <p:sp>
        <p:nvSpPr>
          <p:cNvPr id="24" name="Instrumentación cifra"/>
          <p:cNvSpPr txBox="1"/>
          <p:nvPr/>
        </p:nvSpPr>
        <p:spPr>
          <a:xfrm>
            <a:off x="4919472" y="3904488"/>
            <a:ext cx="3657600" cy="640080"/>
          </a:xfrm>
          <a:prstGeom prst="rect">
            <a:avLst/>
          </a:prstGeom>
          <a:noFill/>
          <a:ln/>
        </p:spPr>
        <p:txBody>
          <a:bodyPr wrap="square" lIns="0" tIns="0" rIns="0" bIns="0" rtlCol="0" anchor="ctr"/>
          <a:lstStyle/>
          <a:p>
            <a:pPr indent="0" marL="0">
              <a:buNone/>
            </a:pPr>
            <a:r>
              <a:rPr lang="en-US" sz="3400" b="1" dirty="0">
                <a:solidFill>
                  <a:srgbClr val="B45309"/>
                </a:solidFill>
                <a:latin typeface="Calibri" pitchFamily="34" charset="0"/>
                <a:ea typeface="Calibri" pitchFamily="34" charset="-122"/>
                <a:cs typeface="Calibri" pitchFamily="34" charset="-120"/>
              </a:rPr>
              <a:t>85 %</a:t>
            </a:r>
            <a:endParaRPr lang="en-US" sz="3400" dirty="0"/>
          </a:p>
        </p:txBody>
      </p:sp>
      <p:sp>
        <p:nvSpPr>
          <p:cNvPr id="25" name="Instrumentación texto"/>
          <p:cNvSpPr txBox="1"/>
          <p:nvPr/>
        </p:nvSpPr>
        <p:spPr>
          <a:xfrm>
            <a:off x="4919472" y="4572000"/>
            <a:ext cx="3657600" cy="11430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es instrumentación: analizador de vibraciones, cámara termográfica, megóhmetro, scanner VODIA… Sirve para toda la flota.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RESULTADOS PROYECTADOS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Con el plan, la disponibilidad proyectada sube a 96,9–97,9 %</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Son proyecciones: se confirmarán midiendo los indicadores al aplicar el plan</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(tablas de MTTR, MTBF y disponibilidad proyectados). Verificación con D = MTBF/(MTBF+MTTR): cálculo propio.</a:t>
            </a:r>
            <a:endParaRPr lang="en-US" sz="900" dirty="0"/>
          </a:p>
        </p:txBody>
      </p:sp>
      <p:sp>
        <p:nvSpPr>
          <p:cNvPr id="8" name="Etiqueta DISPONIBILIDAD (%)"/>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DISPONIBILIDAD (%)</a:t>
            </a:r>
            <a:endParaRPr lang="en-US" sz="1100" dirty="0"/>
          </a:p>
        </p:txBody>
      </p:sp>
      <p:graphicFrame>
        <p:nvGraphicFramePr>
          <p:cNvPr id="9" name="Gráfico disponibilidad" descr="Disponibilidad antes y proyectada: GI500-16 97.85 %, GI500-19 96.9 %, GI500-20 97.78 %"/>
          <p:cNvGraphicFramePr/>
          <p:nvPr/>
        </p:nvGraphicFramePr>
        <p:xfrm>
          <a:off x="320040" y="1828800"/>
          <a:ext cx="5303520" cy="4069080"/>
        </p:xfrm>
        <a:graphic xmlns:a="http://schemas.openxmlformats.org/drawingml/2006/main">
          <a:graphicData uri="http://schemas.openxmlformats.org/drawingml/2006/chart">
            <c:chart xmlns:c="http://schemas.openxmlformats.org/drawingml/2006/chart" r:id="rId2"/>
          </a:graphicData>
        </a:graphic>
      </p:graphicFrame>
      <p:sp>
        <p:nvSpPr>
          <p:cNvPr id="10" name="Mejora 1 fondo"/>
          <p:cNvSpPr/>
          <p:nvPr/>
        </p:nvSpPr>
        <p:spPr>
          <a:xfrm>
            <a:off x="5897880" y="1828800"/>
            <a:ext cx="2788920" cy="1234440"/>
          </a:xfrm>
          <a:prstGeom prst="roundRect">
            <a:avLst>
              <a:gd name="adj" fmla="val 5185"/>
            </a:avLst>
          </a:prstGeom>
          <a:solidFill>
            <a:srgbClr val="EEF2FA"/>
          </a:solidFill>
          <a:ln w="9525">
            <a:solidFill>
              <a:srgbClr val="EEF2FA"/>
            </a:solidFill>
            <a:prstDash val="solid"/>
          </a:ln>
        </p:spPr>
      </p:sp>
      <p:sp>
        <p:nvSpPr>
          <p:cNvPr id="11" name="Mejora 1"/>
          <p:cNvSpPr txBox="1"/>
          <p:nvPr/>
        </p:nvSpPr>
        <p:spPr>
          <a:xfrm>
            <a:off x="6035040" y="1828800"/>
            <a:ext cx="2560320" cy="123444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+5,2 puntos</a:t>
            </a:r>
            <a:endParaRPr lang="en-US" sz="2200" dirty="0"/>
          </a:p>
          <a:p>
            <a:pPr indent="0" marL="0">
              <a:buNone/>
            </a:pPr>
            <a:r>
              <a:rPr lang="en-US" sz="1200" dirty="0">
                <a:solidFill>
                  <a:srgbClr val="334155"/>
                </a:solidFill>
                <a:latin typeface="Calibri" pitchFamily="34" charset="0"/>
                <a:ea typeface="Calibri" pitchFamily="34" charset="-122"/>
                <a:cs typeface="Calibri" pitchFamily="34" charset="-120"/>
              </a:rPr>
              <a:t>GI500-16 (97,85 %)</a:t>
            </a:r>
            <a:endParaRPr lang="en-US" sz="2200" dirty="0"/>
          </a:p>
        </p:txBody>
      </p:sp>
      <p:sp>
        <p:nvSpPr>
          <p:cNvPr id="12" name="Mejora 2 fondo"/>
          <p:cNvSpPr/>
          <p:nvPr/>
        </p:nvSpPr>
        <p:spPr>
          <a:xfrm>
            <a:off x="5897880" y="3200400"/>
            <a:ext cx="2788920" cy="1234440"/>
          </a:xfrm>
          <a:prstGeom prst="roundRect">
            <a:avLst>
              <a:gd name="adj" fmla="val 5185"/>
            </a:avLst>
          </a:prstGeom>
          <a:solidFill>
            <a:srgbClr val="FDF1E1"/>
          </a:solidFill>
          <a:ln w="15875">
            <a:solidFill>
              <a:srgbClr val="B45309"/>
            </a:solidFill>
            <a:prstDash val="solid"/>
          </a:ln>
        </p:spPr>
      </p:sp>
      <p:sp>
        <p:nvSpPr>
          <p:cNvPr id="13" name="Mejora 2"/>
          <p:cNvSpPr txBox="1"/>
          <p:nvPr/>
        </p:nvSpPr>
        <p:spPr>
          <a:xfrm>
            <a:off x="6035040" y="3200400"/>
            <a:ext cx="2560320" cy="1234440"/>
          </a:xfrm>
          <a:prstGeom prst="rect">
            <a:avLst/>
          </a:prstGeom>
          <a:noFill/>
          <a:ln/>
        </p:spPr>
        <p:txBody>
          <a:bodyPr wrap="square" lIns="0" tIns="0" rIns="0" bIns="0" rtlCol="0" anchor="ctr"/>
          <a:lstStyle/>
          <a:p>
            <a:pPr indent="0" marL="0">
              <a:buNone/>
            </a:pPr>
            <a:r>
              <a:rPr lang="en-US" sz="2200" b="1" dirty="0">
                <a:solidFill>
                  <a:srgbClr val="B45309"/>
                </a:solidFill>
                <a:latin typeface="Calibri" pitchFamily="34" charset="0"/>
                <a:ea typeface="Calibri" pitchFamily="34" charset="-122"/>
                <a:cs typeface="Calibri" pitchFamily="34" charset="-120"/>
              </a:rPr>
              <a:t>+3,0 puntos</a:t>
            </a:r>
            <a:endParaRPr lang="en-US" sz="2200" dirty="0"/>
          </a:p>
          <a:p>
            <a:pPr indent="0" marL="0">
              <a:buNone/>
            </a:pPr>
            <a:r>
              <a:rPr lang="en-US" sz="1200" dirty="0">
                <a:solidFill>
                  <a:srgbClr val="334155"/>
                </a:solidFill>
                <a:latin typeface="Calibri" pitchFamily="34" charset="0"/>
                <a:ea typeface="Calibri" pitchFamily="34" charset="-122"/>
                <a:cs typeface="Calibri" pitchFamily="34" charset="-120"/>
              </a:rPr>
              <a:t>GI500-19 (96,90 %): aún 0,1 bajo la meta</a:t>
            </a:r>
            <a:endParaRPr lang="en-US" sz="2200" dirty="0"/>
          </a:p>
        </p:txBody>
      </p:sp>
      <p:sp>
        <p:nvSpPr>
          <p:cNvPr id="14" name="Mejora 3 fondo"/>
          <p:cNvSpPr/>
          <p:nvPr/>
        </p:nvSpPr>
        <p:spPr>
          <a:xfrm>
            <a:off x="5897880" y="4572000"/>
            <a:ext cx="2788920" cy="1234440"/>
          </a:xfrm>
          <a:prstGeom prst="roundRect">
            <a:avLst>
              <a:gd name="adj" fmla="val 5185"/>
            </a:avLst>
          </a:prstGeom>
          <a:solidFill>
            <a:srgbClr val="EEF2FA"/>
          </a:solidFill>
          <a:ln w="9525">
            <a:solidFill>
              <a:srgbClr val="EEF2FA"/>
            </a:solidFill>
            <a:prstDash val="solid"/>
          </a:ln>
        </p:spPr>
      </p:sp>
      <p:sp>
        <p:nvSpPr>
          <p:cNvPr id="15" name="Mejora 3"/>
          <p:cNvSpPr txBox="1"/>
          <p:nvPr/>
        </p:nvSpPr>
        <p:spPr>
          <a:xfrm>
            <a:off x="6035040" y="4572000"/>
            <a:ext cx="2560320" cy="123444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+4,4 puntos</a:t>
            </a:r>
            <a:endParaRPr lang="en-US" sz="2200" dirty="0"/>
          </a:p>
          <a:p>
            <a:pPr indent="0" marL="0">
              <a:buNone/>
            </a:pPr>
            <a:r>
              <a:rPr lang="en-US" sz="1200" dirty="0">
                <a:solidFill>
                  <a:srgbClr val="334155"/>
                </a:solidFill>
                <a:latin typeface="Calibri" pitchFamily="34" charset="0"/>
                <a:ea typeface="Calibri" pitchFamily="34" charset="-122"/>
                <a:cs typeface="Calibri" pitchFamily="34" charset="-120"/>
              </a:rPr>
              <a:t>GI500-20 (97,78 %)</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¿DE DÓNDE SALE LA MEJORA?</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La mejora viene de reparar más rápido y fallar menos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Horas recuperadas: ≈ 1 102 h/año según la tesis (operación continua) · ≈ 226 h/año según el registro</a:t>
            </a:r>
            <a:endParaRPr lang="en-US" sz="115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4.4–4.5 (MTTR y MTBF proyectados; horas recuperadas con ΔA × 8 760 h). Escenario acotado al registro 2019–2022: cálculo propio.</a:t>
            </a:r>
            <a:endParaRPr lang="en-US" sz="900" dirty="0"/>
          </a:p>
        </p:txBody>
      </p:sp>
      <p:sp>
        <p:nvSpPr>
          <p:cNvPr id="8" name="Etiqueta HORAS PARA REPARAR (MTTR"/>
          <p:cNvSpPr txBox="1"/>
          <p:nvPr/>
        </p:nvSpPr>
        <p:spPr>
          <a:xfrm>
            <a:off x="457200" y="160020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HORAS PARA REPARAR (MTTR)</a:t>
            </a:r>
            <a:endParaRPr lang="en-US" sz="1100" dirty="0"/>
          </a:p>
        </p:txBody>
      </p:sp>
      <p:graphicFrame>
        <p:nvGraphicFramePr>
          <p:cNvPr id="9" name="Gráfico MTTR" descr="HORAS PARA REPARAR (MTTR): GI500-16 11.5 → 5.49, GI500-19 15.8 → 8, GI500-20 10.9 → 5"/>
          <p:cNvGraphicFramePr/>
          <p:nvPr/>
        </p:nvGraphicFramePr>
        <p:xfrm>
          <a:off x="320040" y="1828800"/>
          <a:ext cx="4114800" cy="3108960"/>
        </p:xfrm>
        <a:graphic xmlns:a="http://schemas.openxmlformats.org/drawingml/2006/main">
          <a:graphicData uri="http://schemas.openxmlformats.org/drawingml/2006/chart">
            <c:chart xmlns:c="http://schemas.openxmlformats.org/drawingml/2006/chart" r:id="rId2"/>
          </a:graphicData>
        </a:graphic>
      </p:graphicFrame>
      <p:sp>
        <p:nvSpPr>
          <p:cNvPr id="10" name="Etiqueta HORAS ENTRE FALLAS (MTBF"/>
          <p:cNvSpPr txBox="1"/>
          <p:nvPr/>
        </p:nvSpPr>
        <p:spPr>
          <a:xfrm>
            <a:off x="4754880" y="160020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HORAS ENTRE FALLAS (MTBF)</a:t>
            </a:r>
            <a:endParaRPr lang="en-US" sz="1100" dirty="0"/>
          </a:p>
        </p:txBody>
      </p:sp>
      <p:graphicFrame>
        <p:nvGraphicFramePr>
          <p:cNvPr id="11" name="Gráfico MTBF" descr="HORAS ENTRE FALLAS (MTBF): GI500-16 145.3 → 250, GI500-19 245 → 250, GI500-20 152.8 → 220"/>
          <p:cNvGraphicFramePr/>
          <p:nvPr/>
        </p:nvGraphicFramePr>
        <p:xfrm>
          <a:off x="4617720" y="1828800"/>
          <a:ext cx="4114800" cy="3108960"/>
        </p:xfrm>
        <a:graphic xmlns:a="http://schemas.openxmlformats.org/drawingml/2006/main">
          <a:graphicData uri="http://schemas.openxmlformats.org/drawingml/2006/chart">
            <c:chart xmlns:c="http://schemas.openxmlformats.org/drawingml/2006/chart" r:id="rId3"/>
          </a:graphicData>
        </a:graphic>
      </p:graphicFrame>
      <p:sp>
        <p:nvSpPr>
          <p:cNvPr id="12" name="Palancas"/>
          <p:cNvSpPr txBox="1"/>
          <p:nvPr/>
        </p:nvSpPr>
        <p:spPr>
          <a:xfrm>
            <a:off x="457200" y="5074920"/>
            <a:ext cx="8229600" cy="777240"/>
          </a:xfrm>
          <a:prstGeom prst="rect">
            <a:avLst/>
          </a:prstGeom>
          <a:noFill/>
          <a:ln/>
        </p:spPr>
        <p:txBody>
          <a:bodyPr wrap="square" lIns="0" tIns="0" rIns="0" bIns="0"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Repara en la mitad del tiempo: </a:t>
            </a:r>
            <a:pPr indent="0" marL="0">
              <a:buNone/>
            </a:pPr>
            <a:r>
              <a:rPr lang="en-US" sz="1300" dirty="0">
                <a:solidFill>
                  <a:srgbClr val="334155"/>
                </a:solidFill>
                <a:latin typeface="Calibri" pitchFamily="34" charset="0"/>
                <a:ea typeface="Calibri" pitchFamily="34" charset="-122"/>
                <a:cs typeface="Calibri" pitchFamily="34" charset="-120"/>
              </a:rPr>
              <a:t>diagnóstico con mediciones, repuestos listos en kits y checklist al reinstalar.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EVALUACIÓN ECONÓMICA</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La inversión se recupera en 2,8 meses (tesis) o en 1,2 a 1,9 años (escenarios prudentes)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resultado depende de dos supuestos: horas de operación al año y valor de la hora de parada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(US$ 200/h, US$ 300/evento, 8 000 h/año, beneficio US$ 232 310, inversión US$ 54 709 para toda la flota) y Cap. I (US$ 2 752 / 172 h). Escenarios prudentes: cálculo propio.</a:t>
            </a:r>
            <a:endParaRPr lang="en-US" sz="900" dirty="0"/>
          </a:p>
        </p:txBody>
      </p:sp>
      <p:sp>
        <p:nvSpPr>
          <p:cNvPr id="8" name="Inversión fondo"/>
          <p:cNvSpPr/>
          <p:nvPr/>
        </p:nvSpPr>
        <p:spPr>
          <a:xfrm>
            <a:off x="457200" y="1691640"/>
            <a:ext cx="2606040" cy="1554480"/>
          </a:xfrm>
          <a:prstGeom prst="roundRect">
            <a:avLst>
              <a:gd name="adj" fmla="val 4118"/>
            </a:avLst>
          </a:prstGeom>
          <a:solidFill>
            <a:srgbClr val="EEF2FA"/>
          </a:solidFill>
          <a:ln w="9525">
            <a:solidFill>
              <a:srgbClr val="EEF2FA"/>
            </a:solidFill>
            <a:prstDash val="solid"/>
          </a:ln>
        </p:spPr>
      </p:sp>
      <p:sp>
        <p:nvSpPr>
          <p:cNvPr id="9" name="Inversión cifra"/>
          <p:cNvSpPr txBox="1"/>
          <p:nvPr/>
        </p:nvSpPr>
        <p:spPr>
          <a:xfrm>
            <a:off x="621792" y="1801368"/>
            <a:ext cx="2331720" cy="6400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US$ 54 709</a:t>
            </a:r>
            <a:endParaRPr lang="en-US" sz="2400" dirty="0"/>
          </a:p>
        </p:txBody>
      </p:sp>
      <p:sp>
        <p:nvSpPr>
          <p:cNvPr id="10" name="Inversión texto"/>
          <p:cNvSpPr txBox="1"/>
          <p:nvPr/>
        </p:nvSpPr>
        <p:spPr>
          <a:xfrm>
            <a:off x="621792" y="2468880"/>
            <a:ext cx="2331720" cy="6858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inversión única (para toda la flota)</a:t>
            </a:r>
            <a:endParaRPr lang="en-US" sz="1300" dirty="0"/>
          </a:p>
        </p:txBody>
      </p:sp>
      <p:sp>
        <p:nvSpPr>
          <p:cNvPr id="11" name="Beneficio fondo"/>
          <p:cNvSpPr/>
          <p:nvPr/>
        </p:nvSpPr>
        <p:spPr>
          <a:xfrm>
            <a:off x="3268980" y="1691640"/>
            <a:ext cx="2606040" cy="1554480"/>
          </a:xfrm>
          <a:prstGeom prst="roundRect">
            <a:avLst>
              <a:gd name="adj" fmla="val 4118"/>
            </a:avLst>
          </a:prstGeom>
          <a:solidFill>
            <a:srgbClr val="EEF2FA"/>
          </a:solidFill>
          <a:ln w="9525">
            <a:solidFill>
              <a:srgbClr val="EEF2FA"/>
            </a:solidFill>
            <a:prstDash val="solid"/>
          </a:ln>
        </p:spPr>
      </p:sp>
      <p:sp>
        <p:nvSpPr>
          <p:cNvPr id="12" name="Beneficio cifra"/>
          <p:cNvSpPr txBox="1"/>
          <p:nvPr/>
        </p:nvSpPr>
        <p:spPr>
          <a:xfrm>
            <a:off x="3433572" y="1801368"/>
            <a:ext cx="2331720" cy="6400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US$ 232 310</a:t>
            </a:r>
            <a:endParaRPr lang="en-US" sz="2400" dirty="0"/>
          </a:p>
        </p:txBody>
      </p:sp>
      <p:sp>
        <p:nvSpPr>
          <p:cNvPr id="13" name="Beneficio texto"/>
          <p:cNvSpPr txBox="1"/>
          <p:nvPr/>
        </p:nvSpPr>
        <p:spPr>
          <a:xfrm>
            <a:off x="3433572" y="2468880"/>
            <a:ext cx="2331720" cy="6858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beneficio al año según la tesis</a:t>
            </a:r>
            <a:endParaRPr lang="en-US" sz="1300" dirty="0"/>
          </a:p>
        </p:txBody>
      </p:sp>
      <p:sp>
        <p:nvSpPr>
          <p:cNvPr id="14" name="Retorno fondo"/>
          <p:cNvSpPr/>
          <p:nvPr/>
        </p:nvSpPr>
        <p:spPr>
          <a:xfrm>
            <a:off x="6080760" y="1691640"/>
            <a:ext cx="2606040" cy="1554480"/>
          </a:xfrm>
          <a:prstGeom prst="roundRect">
            <a:avLst>
              <a:gd name="adj" fmla="val 4118"/>
            </a:avLst>
          </a:prstGeom>
          <a:solidFill>
            <a:srgbClr val="FDF1E1"/>
          </a:solidFill>
          <a:ln w="15875">
            <a:solidFill>
              <a:srgbClr val="B45309"/>
            </a:solidFill>
            <a:prstDash val="solid"/>
          </a:ln>
        </p:spPr>
      </p:sp>
      <p:sp>
        <p:nvSpPr>
          <p:cNvPr id="15" name="Retorno cifra"/>
          <p:cNvSpPr txBox="1"/>
          <p:nvPr/>
        </p:nvSpPr>
        <p:spPr>
          <a:xfrm>
            <a:off x="6245352" y="1801368"/>
            <a:ext cx="2331720" cy="640080"/>
          </a:xfrm>
          <a:prstGeom prst="rect">
            <a:avLst/>
          </a:prstGeom>
          <a:noFill/>
          <a:ln/>
        </p:spPr>
        <p:txBody>
          <a:bodyPr wrap="square" lIns="0" tIns="0" rIns="0" bIns="0" rtlCol="0" anchor="ctr"/>
          <a:lstStyle/>
          <a:p>
            <a:pPr indent="0" marL="0">
              <a:buNone/>
            </a:pPr>
            <a:r>
              <a:rPr lang="en-US" sz="2800" b="1" dirty="0">
                <a:solidFill>
                  <a:srgbClr val="B45309"/>
                </a:solidFill>
                <a:latin typeface="Calibri" pitchFamily="34" charset="0"/>
                <a:ea typeface="Calibri" pitchFamily="34" charset="-122"/>
                <a:cs typeface="Calibri" pitchFamily="34" charset="-120"/>
              </a:rPr>
              <a:t>2,8 meses</a:t>
            </a:r>
            <a:endParaRPr lang="en-US" sz="2800" dirty="0"/>
          </a:p>
        </p:txBody>
      </p:sp>
      <p:sp>
        <p:nvSpPr>
          <p:cNvPr id="16" name="Retorno texto"/>
          <p:cNvSpPr txBox="1"/>
          <p:nvPr/>
        </p:nvSpPr>
        <p:spPr>
          <a:xfrm>
            <a:off x="6245352" y="2468880"/>
            <a:ext cx="2331720" cy="6858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retorno con los supuestos de la tesis</a:t>
            </a:r>
            <a:endParaRPr lang="en-US" sz="1300" dirty="0"/>
          </a:p>
        </p:txBody>
      </p:sp>
      <p:sp>
        <p:nvSpPr>
          <p:cNvPr id="17" name="Etiqueta ESCENARIOS PRUDENTES (CÁ"/>
          <p:cNvSpPr txBox="1"/>
          <p:nvPr/>
        </p:nvSpPr>
        <p:spPr>
          <a:xfrm>
            <a:off x="457200" y="347472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ESCENARIOS PRUDENTES (CÁLCULO PROPIO)</a:t>
            </a:r>
            <a:endParaRPr lang="en-US" sz="1100" dirty="0"/>
          </a:p>
        </p:txBody>
      </p:sp>
      <p:sp>
        <p:nvSpPr>
          <p:cNvPr id="18" name="Escenario 1 fondo"/>
          <p:cNvSpPr/>
          <p:nvPr/>
        </p:nvSpPr>
        <p:spPr>
          <a:xfrm>
            <a:off x="457200" y="3749040"/>
            <a:ext cx="8229600" cy="621792"/>
          </a:xfrm>
          <a:prstGeom prst="roundRect">
            <a:avLst>
              <a:gd name="adj" fmla="val 10294"/>
            </a:avLst>
          </a:prstGeom>
          <a:solidFill>
            <a:srgbClr val="EEF2FA"/>
          </a:solidFill>
          <a:ln w="9525">
            <a:solidFill>
              <a:srgbClr val="EEF2FA"/>
            </a:solidFill>
            <a:prstDash val="solid"/>
          </a:ln>
        </p:spPr>
      </p:sp>
      <p:sp>
        <p:nvSpPr>
          <p:cNvPr id="19" name="Escenario 1 cifra"/>
          <p:cNvSpPr txBox="1"/>
          <p:nvPr/>
        </p:nvSpPr>
        <p:spPr>
          <a:xfrm>
            <a:off x="594360" y="3749040"/>
            <a:ext cx="1554480" cy="621792"/>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1,9 años</a:t>
            </a:r>
            <a:endParaRPr lang="en-US" sz="1800" dirty="0"/>
          </a:p>
        </p:txBody>
      </p:sp>
      <p:sp>
        <p:nvSpPr>
          <p:cNvPr id="20" name="Escenario 1 texto"/>
          <p:cNvSpPr txBox="1"/>
          <p:nvPr/>
        </p:nvSpPr>
        <p:spPr>
          <a:xfrm>
            <a:off x="2194560" y="3749040"/>
            <a:ext cx="6400800" cy="621792"/>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si la hora de parada vale US$ 16 (costo del capítulo I)</a:t>
            </a:r>
            <a:endParaRPr lang="en-US" sz="1300" dirty="0"/>
          </a:p>
        </p:txBody>
      </p:sp>
      <p:sp>
        <p:nvSpPr>
          <p:cNvPr id="21" name="Escenario 2 fondo"/>
          <p:cNvSpPr/>
          <p:nvPr/>
        </p:nvSpPr>
        <p:spPr>
          <a:xfrm>
            <a:off x="457200" y="4462272"/>
            <a:ext cx="8229600" cy="621792"/>
          </a:xfrm>
          <a:prstGeom prst="roundRect">
            <a:avLst>
              <a:gd name="adj" fmla="val 10294"/>
            </a:avLst>
          </a:prstGeom>
          <a:solidFill>
            <a:srgbClr val="EEF2FA"/>
          </a:solidFill>
          <a:ln w="9525">
            <a:solidFill>
              <a:srgbClr val="EEF2FA"/>
            </a:solidFill>
            <a:prstDash val="solid"/>
          </a:ln>
        </p:spPr>
      </p:sp>
      <p:sp>
        <p:nvSpPr>
          <p:cNvPr id="22" name="Escenario 2 cifra"/>
          <p:cNvSpPr txBox="1"/>
          <p:nvPr/>
        </p:nvSpPr>
        <p:spPr>
          <a:xfrm>
            <a:off x="594360" y="4462272"/>
            <a:ext cx="1554480" cy="621792"/>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1,2 años</a:t>
            </a:r>
            <a:endParaRPr lang="en-US" sz="1800" dirty="0"/>
          </a:p>
        </p:txBody>
      </p:sp>
      <p:sp>
        <p:nvSpPr>
          <p:cNvPr id="23" name="Escenario 2 texto"/>
          <p:cNvSpPr txBox="1"/>
          <p:nvPr/>
        </p:nvSpPr>
        <p:spPr>
          <a:xfrm>
            <a:off x="2194560" y="4462272"/>
            <a:ext cx="6400800" cy="621792"/>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si se usan las horas que realmente registraron los equipos</a:t>
            </a:r>
            <a:endParaRPr lang="en-US" sz="1300" dirty="0"/>
          </a:p>
        </p:txBody>
      </p:sp>
      <p:sp>
        <p:nvSpPr>
          <p:cNvPr id="24" name="Escenario 3 fondo"/>
          <p:cNvSpPr/>
          <p:nvPr/>
        </p:nvSpPr>
        <p:spPr>
          <a:xfrm>
            <a:off x="457200" y="5175504"/>
            <a:ext cx="8229600" cy="621792"/>
          </a:xfrm>
          <a:prstGeom prst="roundRect">
            <a:avLst>
              <a:gd name="adj" fmla="val 10294"/>
            </a:avLst>
          </a:prstGeom>
          <a:solidFill>
            <a:srgbClr val="EEF2FA"/>
          </a:solidFill>
          <a:ln w="9525">
            <a:solidFill>
              <a:srgbClr val="EEF2FA"/>
            </a:solidFill>
            <a:prstDash val="solid"/>
          </a:ln>
        </p:spPr>
      </p:sp>
      <p:sp>
        <p:nvSpPr>
          <p:cNvPr id="25" name="Escenario 3 cifra"/>
          <p:cNvSpPr txBox="1"/>
          <p:nvPr/>
        </p:nvSpPr>
        <p:spPr>
          <a:xfrm>
            <a:off x="594360" y="5175504"/>
            <a:ext cx="1554480" cy="621792"/>
          </a:xfrm>
          <a:prstGeom prst="rect">
            <a:avLst/>
          </a:prstGeom>
          <a:noFill/>
          <a:ln/>
        </p:spPr>
        <p:txBody>
          <a:bodyPr wrap="square" lIns="0" tIns="0" rIns="0" bIns="0" rtlCol="0" anchor="ctr"/>
          <a:lstStyle/>
          <a:p>
            <a:pPr indent="0" marL="0">
              <a:buNone/>
            </a:pPr>
            <a:r>
              <a:rPr lang="en-US" sz="1800" b="1" dirty="0">
                <a:solidFill>
                  <a:srgbClr val="B45309"/>
                </a:solidFill>
                <a:latin typeface="Calibri" pitchFamily="34" charset="0"/>
                <a:ea typeface="Calibri" pitchFamily="34" charset="-122"/>
                <a:cs typeface="Calibri" pitchFamily="34" charset="-120"/>
              </a:rPr>
              <a:t>≈ 1,5 años</a:t>
            </a:r>
            <a:endParaRPr lang="en-US" sz="1800" dirty="0"/>
          </a:p>
        </p:txBody>
      </p:sp>
      <p:sp>
        <p:nvSpPr>
          <p:cNvPr id="26" name="Escenario 3 texto"/>
          <p:cNvSpPr txBox="1"/>
          <p:nvPr/>
        </p:nvSpPr>
        <p:spPr>
          <a:xfrm>
            <a:off x="2194560" y="5175504"/>
            <a:ext cx="6400800" cy="621792"/>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con ambos supuestos bajos y la inversión repartida en la flota (9,9 años si se carga solo a 3 equipos)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CONCLUSIONES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RCM permite pasar de reparar fallas a prevenirlas</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Límite: son resultados proyectados; hay que medirlos al aplicar el plan</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Conclusiones primera a tercera y Recomendaciones 1 a 3 (texto simplificado).</a:t>
            </a:r>
            <a:endParaRPr lang="en-US" sz="900" dirty="0"/>
          </a:p>
        </p:txBody>
      </p:sp>
      <p:sp>
        <p:nvSpPr>
          <p:cNvPr id="8" name="Conclusión 1 fondo"/>
          <p:cNvSpPr/>
          <p:nvPr/>
        </p:nvSpPr>
        <p:spPr>
          <a:xfrm>
            <a:off x="457200" y="1600200"/>
            <a:ext cx="8229600" cy="1078992"/>
          </a:xfrm>
          <a:prstGeom prst="roundRect">
            <a:avLst>
              <a:gd name="adj" fmla="val 5932"/>
            </a:avLst>
          </a:prstGeom>
          <a:solidFill>
            <a:srgbClr val="EEF2FA"/>
          </a:solidFill>
          <a:ln w="9525">
            <a:solidFill>
              <a:srgbClr val="EEF2FA"/>
            </a:solidFill>
            <a:prstDash val="solid"/>
          </a:ln>
        </p:spPr>
      </p:sp>
      <p:sp>
        <p:nvSpPr>
          <p:cNvPr id="9" name="Conclusión 1 círculo"/>
          <p:cNvSpPr/>
          <p:nvPr/>
        </p:nvSpPr>
        <p:spPr>
          <a:xfrm>
            <a:off x="640080" y="1901952"/>
            <a:ext cx="475488" cy="475488"/>
          </a:xfrm>
          <a:prstGeom prst="ellipse">
            <a:avLst/>
          </a:prstGeom>
          <a:solidFill>
            <a:srgbClr val="B45309"/>
          </a:solidFill>
          <a:ln w="12700">
            <a:solidFill>
              <a:srgbClr val="B45309"/>
            </a:solidFill>
            <a:prstDash val="solid"/>
          </a:ln>
        </p:spPr>
      </p:sp>
      <p:sp>
        <p:nvSpPr>
          <p:cNvPr id="10" name="Conclusión 1 cifra"/>
          <p:cNvSpPr txBox="1"/>
          <p:nvPr/>
        </p:nvSpPr>
        <p:spPr>
          <a:xfrm>
            <a:off x="640080" y="190195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Conclusión 1 texto"/>
          <p:cNvSpPr txBox="1"/>
          <p:nvPr/>
        </p:nvSpPr>
        <p:spPr>
          <a:xfrm>
            <a:off x="1280160" y="1600200"/>
            <a:ext cx="7269480" cy="107899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Se priorizaron las fallas críticas</a:t>
            </a:r>
            <a:endParaRPr lang="en-US" sz="1500" dirty="0"/>
          </a:p>
          <a:p>
            <a:pPr indent="0" marL="0">
              <a:buNone/>
            </a:pPr>
            <a:r>
              <a:rPr lang="en-US" sz="1200" dirty="0">
                <a:solidFill>
                  <a:srgbClr val="334155"/>
                </a:solidFill>
                <a:latin typeface="Calibri" pitchFamily="34" charset="0"/>
                <a:ea typeface="Calibri" pitchFamily="34" charset="-122"/>
                <a:cs typeface="Calibri" pitchFamily="34" charset="-120"/>
              </a:rPr>
              <a:t>El AMEF y el árbol de decisiones ordenaron 93 formas de falla; los focos son el combustible, la excitación del generador y la refrigeración.</a:t>
            </a:r>
            <a:endParaRPr lang="en-US" sz="1500" dirty="0"/>
          </a:p>
        </p:txBody>
      </p:sp>
      <p:sp>
        <p:nvSpPr>
          <p:cNvPr id="12" name="Conclusión 2 fondo"/>
          <p:cNvSpPr/>
          <p:nvPr/>
        </p:nvSpPr>
        <p:spPr>
          <a:xfrm>
            <a:off x="457200" y="2788920"/>
            <a:ext cx="8229600" cy="1078992"/>
          </a:xfrm>
          <a:prstGeom prst="roundRect">
            <a:avLst>
              <a:gd name="adj" fmla="val 5932"/>
            </a:avLst>
          </a:prstGeom>
          <a:solidFill>
            <a:srgbClr val="EEF2FA"/>
          </a:solidFill>
          <a:ln w="9525">
            <a:solidFill>
              <a:srgbClr val="EEF2FA"/>
            </a:solidFill>
            <a:prstDash val="solid"/>
          </a:ln>
        </p:spPr>
      </p:sp>
      <p:sp>
        <p:nvSpPr>
          <p:cNvPr id="13" name="Conclusión 2 círculo"/>
          <p:cNvSpPr/>
          <p:nvPr/>
        </p:nvSpPr>
        <p:spPr>
          <a:xfrm>
            <a:off x="640080" y="3090672"/>
            <a:ext cx="475488" cy="475488"/>
          </a:xfrm>
          <a:prstGeom prst="ellipse">
            <a:avLst/>
          </a:prstGeom>
          <a:solidFill>
            <a:srgbClr val="B45309"/>
          </a:solidFill>
          <a:ln w="12700">
            <a:solidFill>
              <a:srgbClr val="B45309"/>
            </a:solidFill>
            <a:prstDash val="solid"/>
          </a:ln>
        </p:spPr>
      </p:sp>
      <p:sp>
        <p:nvSpPr>
          <p:cNvPr id="14" name="Conclusión 2 cifra"/>
          <p:cNvSpPr txBox="1"/>
          <p:nvPr/>
        </p:nvSpPr>
        <p:spPr>
          <a:xfrm>
            <a:off x="640080" y="309067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Conclusión 2 texto"/>
          <p:cNvSpPr txBox="1"/>
          <p:nvPr/>
        </p:nvSpPr>
        <p:spPr>
          <a:xfrm>
            <a:off x="1280160" y="2788920"/>
            <a:ext cx="7269480" cy="107899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La disponibilidad proyectada sube 3 a 5 puntos</a:t>
            </a:r>
            <a:endParaRPr lang="en-US" sz="1500" dirty="0"/>
          </a:p>
          <a:p>
            <a:pPr indent="0" marL="0">
              <a:buNone/>
            </a:pPr>
            <a:r>
              <a:rPr lang="en-US" sz="1200" dirty="0">
                <a:solidFill>
                  <a:srgbClr val="334155"/>
                </a:solidFill>
                <a:latin typeface="Calibri" pitchFamily="34" charset="0"/>
                <a:ea typeface="Calibri" pitchFamily="34" charset="-122"/>
                <a:cs typeface="Calibri" pitchFamily="34" charset="-120"/>
              </a:rPr>
              <a:t>De 92,7–93,9 % a 96,9–97,9 %, cambiando tareas por calendario por tareas que miden la condición.</a:t>
            </a:r>
            <a:endParaRPr lang="en-US" sz="1500" dirty="0"/>
          </a:p>
        </p:txBody>
      </p:sp>
      <p:sp>
        <p:nvSpPr>
          <p:cNvPr id="16" name="Conclusión 3 fondo"/>
          <p:cNvSpPr/>
          <p:nvPr/>
        </p:nvSpPr>
        <p:spPr>
          <a:xfrm>
            <a:off x="457200" y="3977640"/>
            <a:ext cx="8229600" cy="1078992"/>
          </a:xfrm>
          <a:prstGeom prst="roundRect">
            <a:avLst>
              <a:gd name="adj" fmla="val 5932"/>
            </a:avLst>
          </a:prstGeom>
          <a:solidFill>
            <a:srgbClr val="EEF2FA"/>
          </a:solidFill>
          <a:ln w="9525">
            <a:solidFill>
              <a:srgbClr val="EEF2FA"/>
            </a:solidFill>
            <a:prstDash val="solid"/>
          </a:ln>
        </p:spPr>
      </p:sp>
      <p:sp>
        <p:nvSpPr>
          <p:cNvPr id="17" name="Conclusión 3 círculo"/>
          <p:cNvSpPr/>
          <p:nvPr/>
        </p:nvSpPr>
        <p:spPr>
          <a:xfrm>
            <a:off x="640080" y="4279392"/>
            <a:ext cx="475488" cy="475488"/>
          </a:xfrm>
          <a:prstGeom prst="ellipse">
            <a:avLst/>
          </a:prstGeom>
          <a:solidFill>
            <a:srgbClr val="B45309"/>
          </a:solidFill>
          <a:ln w="12700">
            <a:solidFill>
              <a:srgbClr val="B45309"/>
            </a:solidFill>
            <a:prstDash val="solid"/>
          </a:ln>
        </p:spPr>
      </p:sp>
      <p:sp>
        <p:nvSpPr>
          <p:cNvPr id="18" name="Conclusión 3 cifra"/>
          <p:cNvSpPr txBox="1"/>
          <p:nvPr/>
        </p:nvSpPr>
        <p:spPr>
          <a:xfrm>
            <a:off x="640080" y="4279392"/>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Conclusión 3 texto"/>
          <p:cNvSpPr txBox="1"/>
          <p:nvPr/>
        </p:nvSpPr>
        <p:spPr>
          <a:xfrm>
            <a:off x="1280160" y="3977640"/>
            <a:ext cx="7269480" cy="1078992"/>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Se repara más rápido y se falla menos</a:t>
            </a:r>
            <a:endParaRPr lang="en-US" sz="1500" dirty="0"/>
          </a:p>
          <a:p>
            <a:pPr indent="0" marL="0">
              <a:buNone/>
            </a:pPr>
            <a:r>
              <a:rPr lang="en-US" sz="1200" dirty="0">
                <a:solidFill>
                  <a:srgbClr val="334155"/>
                </a:solidFill>
                <a:latin typeface="Calibri" pitchFamily="34" charset="0"/>
                <a:ea typeface="Calibri" pitchFamily="34" charset="-122"/>
                <a:cs typeface="Calibri" pitchFamily="34" charset="-120"/>
              </a:rPr>
              <a:t>MTTR objetivo de 5 a 8 h y MTBF de 220 a 250 h, con kits de repuestos, checklist de reinstalación y registro en sistema.</a:t>
            </a:r>
            <a:endParaRPr lang="en-US" sz="1500" dirty="0"/>
          </a:p>
        </p:txBody>
      </p:sp>
      <p:sp>
        <p:nvSpPr>
          <p:cNvPr id="20" name="Recomendaciones"/>
          <p:cNvSpPr txBox="1"/>
          <p:nvPr/>
        </p:nvSpPr>
        <p:spPr>
          <a:xfrm>
            <a:off x="457200" y="5257800"/>
            <a:ext cx="8229600" cy="640080"/>
          </a:xfrm>
          <a:prstGeom prst="rect">
            <a:avLst/>
          </a:prstGeom>
          <a:noFill/>
          <a:ln/>
        </p:spPr>
        <p:txBody>
          <a:bodyPr wrap="square" lIns="0" tIns="0" rIns="0" bIns="0" rtlCol="0" anchor="t"/>
          <a:lstStyle/>
          <a:p>
            <a:pPr indent="0" marL="0">
              <a:buNone/>
            </a:pPr>
            <a:r>
              <a:rPr lang="en-US" sz="1200" b="1" dirty="0">
                <a:solidFill>
                  <a:srgbClr val="1E3A8A"/>
                </a:solidFill>
                <a:latin typeface="Calibri" pitchFamily="34" charset="0"/>
                <a:ea typeface="Calibri" pitchFamily="34" charset="-122"/>
                <a:cs typeface="Calibri" pitchFamily="34" charset="-120"/>
              </a:rPr>
              <a:t>Recomendaciones: </a:t>
            </a:r>
            <a:pPr indent="0" marL="0">
              <a:buNone/>
            </a:pPr>
            <a:r>
              <a:rPr lang="en-US" sz="1200" dirty="0">
                <a:solidFill>
                  <a:srgbClr val="334155"/>
                </a:solidFill>
                <a:latin typeface="Calibri" pitchFamily="34" charset="0"/>
                <a:ea typeface="Calibri" pitchFamily="34" charset="-122"/>
                <a:cs typeface="Calibri" pitchFamily="34" charset="-120"/>
              </a:rPr>
              <a:t>diagnóstico detallado del proceso real · simular escenarios antes y después · comparar con casos similares y justificar los supuestos de MTBF, MTTR y disponibilidad.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Foto de cierre" descr="Grupo electrógeno Rivera Diesel insonorizado (RVS 514) sobre losa en una excavación, con cerco de andamios">    </p:cNvPr>
          <p:cNvPicPr>
            <a:picLocks noChangeAspect="1"/>
          </p:cNvPicPr>
          <p:nvPr/>
        </p:nvPicPr>
        <p:blipFill>
          <a:blip r:embed="rId1"/>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2"/>
          <a:stretch>
            <a:fillRect/>
          </a:stretch>
        </p:blipFill>
        <p:spPr>
          <a:xfrm>
            <a:off x="7068312" y="274320"/>
            <a:ext cx="1463040" cy="306324"/>
          </a:xfrm>
          <a:prstGeom prst="rect">
            <a:avLst/>
          </a:prstGeom>
        </p:spPr>
      </p:pic>
      <p:sp>
        <p:nvSpPr>
          <p:cNvPr id="5" name="Título"/>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3400" b="1" dirty="0">
                <a:solidFill>
                  <a:srgbClr val="1E3A8A"/>
                </a:solidFill>
                <a:latin typeface="Calibri" pitchFamily="34" charset="0"/>
                <a:ea typeface="Calibri" pitchFamily="34" charset="-122"/>
                <a:cs typeface="Calibri" pitchFamily="34" charset="-120"/>
              </a:rPr>
              <a:t>Gracias por su atención</a:t>
            </a:r>
            <a:endParaRPr lang="en-US" sz="3400" dirty="0"/>
          </a:p>
        </p:txBody>
      </p:sp>
      <p:sp>
        <p:nvSpPr>
          <p:cNvPr id="6" name="Subtítulo"/>
          <p:cNvSpPr txBox="1"/>
          <p:nvPr/>
        </p:nvSpPr>
        <p:spPr>
          <a:xfrm>
            <a:off x="457200" y="4681728"/>
            <a:ext cx="8229600" cy="320040"/>
          </a:xfrm>
          <a:prstGeom prst="rect">
            <a:avLst/>
          </a:prstGeom>
          <a:noFill/>
          <a:ln/>
        </p:spPr>
        <p:txBody>
          <a:bodyPr wrap="square" lIns="0" tIns="0" rIns="0" bIns="0" rtlCol="0" anchor="t"/>
          <a:lstStyle/>
          <a:p>
            <a:pPr algn="ctr" indent="0" marL="0">
              <a:buNone/>
            </a:pPr>
            <a:r>
              <a:rPr lang="en-US" sz="1400" i="1" dirty="0">
                <a:solidFill>
                  <a:srgbClr val="334155"/>
                </a:solidFill>
                <a:latin typeface="Calibri" pitchFamily="34" charset="0"/>
                <a:ea typeface="Calibri" pitchFamily="34" charset="-122"/>
                <a:cs typeface="Calibri" pitchFamily="34" charset="-120"/>
              </a:rPr>
              <a:t>Preguntas y comentarios son bienvenidos</a:t>
            </a:r>
            <a:endParaRPr lang="en-US" sz="1400" dirty="0"/>
          </a:p>
        </p:txBody>
      </p:sp>
      <p:sp>
        <p:nvSpPr>
          <p:cNvPr id="7" name="Resumen 1 fondo"/>
          <p:cNvSpPr/>
          <p:nvPr/>
        </p:nvSpPr>
        <p:spPr>
          <a:xfrm>
            <a:off x="914400" y="5166360"/>
            <a:ext cx="2286000" cy="777240"/>
          </a:xfrm>
          <a:prstGeom prst="roundRect">
            <a:avLst>
              <a:gd name="adj" fmla="val 8235"/>
            </a:avLst>
          </a:prstGeom>
          <a:solidFill>
            <a:srgbClr val="EEF2FA"/>
          </a:solidFill>
          <a:ln w="9525">
            <a:solidFill>
              <a:srgbClr val="EEF2FA"/>
            </a:solidFill>
            <a:prstDash val="solid"/>
          </a:ln>
        </p:spPr>
      </p:sp>
      <p:sp>
        <p:nvSpPr>
          <p:cNvPr id="8" name="Resumen 1 texto"/>
          <p:cNvSpPr txBox="1"/>
          <p:nvPr/>
        </p:nvSpPr>
        <p:spPr>
          <a:xfrm>
            <a:off x="914400" y="5166360"/>
            <a:ext cx="2286000" cy="777240"/>
          </a:xfrm>
          <a:prstGeom prst="rect">
            <a:avLst/>
          </a:prstGeom>
          <a:noFill/>
          <a:ln/>
        </p:spPr>
        <p:txBody>
          <a:bodyPr wrap="square" lIns="0" tIns="0" rIns="0" bIns="0" rtlCol="0" anchor="ctr"/>
          <a:lstStyle/>
          <a:p>
            <a:pPr algn="ctr" indent="0" marL="0">
              <a:buNone/>
            </a:pPr>
            <a:r>
              <a:rPr lang="en-US" sz="1800" b="1" dirty="0">
                <a:solidFill>
                  <a:srgbClr val="1E3A8A"/>
                </a:solidFill>
                <a:latin typeface="Calibri" pitchFamily="34" charset="0"/>
                <a:ea typeface="Calibri" pitchFamily="34" charset="-122"/>
                <a:cs typeface="Calibri" pitchFamily="34" charset="-120"/>
              </a:rPr>
              <a:t>93</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modos de falla analizados</a:t>
            </a:r>
            <a:endParaRPr lang="en-US" sz="1800" dirty="0"/>
          </a:p>
        </p:txBody>
      </p:sp>
      <p:sp>
        <p:nvSpPr>
          <p:cNvPr id="9" name="Resumen 2 fondo"/>
          <p:cNvSpPr/>
          <p:nvPr/>
        </p:nvSpPr>
        <p:spPr>
          <a:xfrm>
            <a:off x="3429000" y="5166360"/>
            <a:ext cx="2286000" cy="777240"/>
          </a:xfrm>
          <a:prstGeom prst="roundRect">
            <a:avLst>
              <a:gd name="adj" fmla="val 8235"/>
            </a:avLst>
          </a:prstGeom>
          <a:solidFill>
            <a:srgbClr val="EEF2FA"/>
          </a:solidFill>
          <a:ln w="9525">
            <a:solidFill>
              <a:srgbClr val="EEF2FA"/>
            </a:solidFill>
            <a:prstDash val="solid"/>
          </a:ln>
        </p:spPr>
      </p:sp>
      <p:sp>
        <p:nvSpPr>
          <p:cNvPr id="10" name="Resumen 2 texto"/>
          <p:cNvSpPr txBox="1"/>
          <p:nvPr/>
        </p:nvSpPr>
        <p:spPr>
          <a:xfrm>
            <a:off x="3429000" y="5166360"/>
            <a:ext cx="2286000" cy="777240"/>
          </a:xfrm>
          <a:prstGeom prst="rect">
            <a:avLst/>
          </a:prstGeom>
          <a:noFill/>
          <a:ln/>
        </p:spPr>
        <p:txBody>
          <a:bodyPr wrap="square" lIns="0" tIns="0" rIns="0" bIns="0" rtlCol="0" anchor="ctr"/>
          <a:lstStyle/>
          <a:p>
            <a:pPr algn="ctr" indent="0" marL="0">
              <a:buNone/>
            </a:pPr>
            <a:r>
              <a:rPr lang="en-US" sz="1800" b="1" dirty="0">
                <a:solidFill>
                  <a:srgbClr val="1E3A8A"/>
                </a:solidFill>
                <a:latin typeface="Calibri" pitchFamily="34" charset="0"/>
                <a:ea typeface="Calibri" pitchFamily="34" charset="-122"/>
                <a:cs typeface="Calibri" pitchFamily="34" charset="-120"/>
              </a:rPr>
              <a:t>47</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prioritarios (NPR &gt; 180)</a:t>
            </a:r>
            <a:endParaRPr lang="en-US" sz="1800" dirty="0"/>
          </a:p>
        </p:txBody>
      </p:sp>
      <p:sp>
        <p:nvSpPr>
          <p:cNvPr id="11" name="Resumen 3 fondo"/>
          <p:cNvSpPr/>
          <p:nvPr/>
        </p:nvSpPr>
        <p:spPr>
          <a:xfrm>
            <a:off x="5943600" y="5166360"/>
            <a:ext cx="2286000" cy="777240"/>
          </a:xfrm>
          <a:prstGeom prst="roundRect">
            <a:avLst>
              <a:gd name="adj" fmla="val 8235"/>
            </a:avLst>
          </a:prstGeom>
          <a:solidFill>
            <a:srgbClr val="FDF1E1"/>
          </a:solidFill>
          <a:ln w="15875">
            <a:solidFill>
              <a:srgbClr val="B45309"/>
            </a:solidFill>
            <a:prstDash val="solid"/>
          </a:ln>
        </p:spPr>
      </p:sp>
      <p:sp>
        <p:nvSpPr>
          <p:cNvPr id="12" name="Resumen 3 texto"/>
          <p:cNvSpPr txBox="1"/>
          <p:nvPr/>
        </p:nvSpPr>
        <p:spPr>
          <a:xfrm>
            <a:off x="5943600" y="5166360"/>
            <a:ext cx="2286000" cy="777240"/>
          </a:xfrm>
          <a:prstGeom prst="rect">
            <a:avLst/>
          </a:prstGeom>
          <a:noFill/>
          <a:ln/>
        </p:spPr>
        <p:txBody>
          <a:bodyPr wrap="square" lIns="0" tIns="0" rIns="0" bIns="0" rtlCol="0" anchor="ctr"/>
          <a:lstStyle/>
          <a:p>
            <a:pPr algn="ctr" indent="0" marL="0">
              <a:buNone/>
            </a:pPr>
            <a:r>
              <a:rPr lang="en-US" sz="1800" b="1" dirty="0">
                <a:solidFill>
                  <a:srgbClr val="B45309"/>
                </a:solidFill>
                <a:latin typeface="Calibri" pitchFamily="34" charset="0"/>
                <a:ea typeface="Calibri" pitchFamily="34" charset="-122"/>
                <a:cs typeface="Calibri" pitchFamily="34" charset="-120"/>
              </a:rPr>
              <a:t>96,9–97,9 %</a:t>
            </a:r>
            <a:endParaRPr lang="en-US" sz="1800" dirty="0"/>
          </a:p>
          <a:p>
            <a:pPr algn="ctr" indent="0" marL="0">
              <a:buNone/>
            </a:pPr>
            <a:r>
              <a:rPr lang="en-US" sz="1000" dirty="0">
                <a:solidFill>
                  <a:srgbClr val="334155"/>
                </a:solidFill>
                <a:latin typeface="Calibri" pitchFamily="34" charset="0"/>
                <a:ea typeface="Calibri" pitchFamily="34" charset="-122"/>
                <a:cs typeface="Calibri" pitchFamily="34" charset="-120"/>
              </a:rPr>
              <a:t>disponibilidad proyectada</a:t>
            </a:r>
            <a:endParaRPr lang="en-US" sz="1800" dirty="0"/>
          </a:p>
        </p:txBody>
      </p:sp>
      <p:sp>
        <p:nvSpPr>
          <p:cNvPr id="13" name="Autor"/>
          <p:cNvSpPr txBox="1"/>
          <p:nvPr/>
        </p:nvSpPr>
        <p:spPr>
          <a:xfrm>
            <a:off x="457200" y="6236208"/>
            <a:ext cx="82296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Nilthon Rosinaldo Chite Vilca  ·  Ingeniería Eléctrica  ·  Universidad Continental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Foto de sección" descr="Grupo electrógeno Rivera Diesel (RVS 514) en obra">    </p:cNvPr>
          <p:cNvPicPr>
            <a:picLocks noChangeAspect="1"/>
          </p:cNvPicPr>
          <p:nvPr/>
        </p:nvPicPr>
        <p:blipFill>
          <a:blip r:embed="rId1"/>
          <a:stretch>
            <a:fillRect/>
          </a:stretch>
        </p:blipFill>
        <p:spPr>
          <a:xfrm>
            <a:off x="0" y="0"/>
            <a:ext cx="9144000" cy="3840480"/>
          </a:xfrm>
          <a:prstGeom prst="rect">
            <a:avLst/>
          </a:prstGeom>
        </p:spPr>
      </p:pic>
      <p:sp>
        <p:nvSpPr>
          <p:cNvPr id="3" name="Logo fondo"/>
          <p:cNvSpPr/>
          <p:nvPr/>
        </p:nvSpPr>
        <p:spPr>
          <a:xfrm>
            <a:off x="6903720" y="201168"/>
            <a:ext cx="1783080" cy="457200"/>
          </a:xfrm>
          <a:prstGeom prst="roundRect">
            <a:avLst>
              <a:gd name="adj" fmla="val 14000"/>
            </a:avLst>
          </a:prstGeom>
          <a:solidFill>
            <a:srgbClr val="FFFFFF"/>
          </a:solidFill>
          <a:ln w="9525">
            <a:solidFill>
              <a:srgbClr val="FFFFFF"/>
            </a:solidFill>
            <a:prstDash val="solid"/>
          </a:ln>
        </p:spPr>
      </p:sp>
      <p:pic>
        <p:nvPicPr>
          <p:cNvPr id="4" name="Logo Universidad Continental" descr="Logo Universidad Continental">    </p:cNvPr>
          <p:cNvPicPr>
            <a:picLocks noChangeAspect="1"/>
          </p:cNvPicPr>
          <p:nvPr/>
        </p:nvPicPr>
        <p:blipFill>
          <a:blip r:embed="rId2"/>
          <a:stretch>
            <a:fillRect/>
          </a:stretch>
        </p:blipFill>
        <p:spPr>
          <a:xfrm>
            <a:off x="7068312" y="274320"/>
            <a:ext cx="1463040" cy="306324"/>
          </a:xfrm>
          <a:prstGeom prst="rect">
            <a:avLst/>
          </a:prstGeom>
        </p:spPr>
      </p:pic>
      <p:sp>
        <p:nvSpPr>
          <p:cNvPr id="5" name="Pie de foto fondo"/>
          <p:cNvSpPr/>
          <p:nvPr/>
        </p:nvSpPr>
        <p:spPr>
          <a:xfrm>
            <a:off x="0" y="3529584"/>
            <a:ext cx="9144000" cy="310896"/>
          </a:xfrm>
          <a:prstGeom prst="rect">
            <a:avLst/>
          </a:prstGeom>
          <a:solidFill>
            <a:srgbClr val="0F172A">
              <a:alpha val="65000"/>
            </a:srgbClr>
          </a:solidFill>
          <a:ln w="12700">
            <a:solidFill>
              <a:srgbClr val="0F172A">
                <a:alpha val="0"/>
              </a:srgbClr>
            </a:solidFill>
            <a:prstDash val="solid"/>
          </a:ln>
        </p:spPr>
      </p:sp>
      <p:sp>
        <p:nvSpPr>
          <p:cNvPr id="6" name="Pie de foto"/>
          <p:cNvSpPr txBox="1"/>
          <p:nvPr/>
        </p:nvSpPr>
        <p:spPr>
          <a:xfrm>
            <a:off x="457200" y="3529584"/>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Grupo electrógeno Rivera Diesel (RVS 514) · foto de campo del autor</a:t>
            </a:r>
            <a:endParaRPr lang="en-US" sz="950" dirty="0"/>
          </a:p>
        </p:txBody>
      </p:sp>
      <p:sp>
        <p:nvSpPr>
          <p:cNvPr id="7" name="Número de sección"/>
          <p:cNvSpPr txBox="1"/>
          <p:nvPr/>
        </p:nvSpPr>
        <p:spPr>
          <a:xfrm>
            <a:off x="457200" y="4160520"/>
            <a:ext cx="1188720" cy="822960"/>
          </a:xfrm>
          <a:prstGeom prst="rect">
            <a:avLst/>
          </a:prstGeom>
          <a:noFill/>
          <a:ln/>
        </p:spPr>
        <p:txBody>
          <a:bodyPr wrap="square" lIns="0" tIns="0" rIns="0" bIns="0" rtlCol="0" anchor="ctr"/>
          <a:lstStyle/>
          <a:p>
            <a:pPr indent="0" marL="0">
              <a:buNone/>
            </a:pPr>
            <a:r>
              <a:rPr lang="en-US" sz="5400" b="1" dirty="0">
                <a:solidFill>
                  <a:srgbClr val="B45309"/>
                </a:solidFill>
                <a:latin typeface="Calibri" pitchFamily="34" charset="0"/>
                <a:ea typeface="Calibri" pitchFamily="34" charset="-122"/>
                <a:cs typeface="Calibri" pitchFamily="34" charset="-120"/>
              </a:rPr>
              <a:t>A</a:t>
            </a:r>
            <a:endParaRPr lang="en-US" sz="5400" dirty="0"/>
          </a:p>
        </p:txBody>
      </p:sp>
      <p:sp>
        <p:nvSpPr>
          <p:cNvPr id="8" name="Título de sección"/>
          <p:cNvSpPr txBox="1"/>
          <p:nvPr/>
        </p:nvSpPr>
        <p:spPr>
          <a:xfrm>
            <a:off x="1691640" y="4160520"/>
            <a:ext cx="6995160" cy="822960"/>
          </a:xfrm>
          <a:prstGeom prst="rect">
            <a:avLst/>
          </a:prstGeom>
          <a:noFill/>
          <a:ln/>
        </p:spPr>
        <p:txBody>
          <a:bodyPr wrap="square" lIns="0" tIns="0" rIns="0" bIns="0" rtlCol="0" anchor="ctr"/>
          <a:lstStyle/>
          <a:p>
            <a:pPr indent="0" marL="0">
              <a:buNone/>
            </a:pPr>
            <a:r>
              <a:rPr lang="en-US" sz="3200" b="1" dirty="0">
                <a:solidFill>
                  <a:srgbClr val="1E3A8A"/>
                </a:solidFill>
                <a:latin typeface="Calibri" pitchFamily="34" charset="0"/>
                <a:ea typeface="Calibri" pitchFamily="34" charset="-122"/>
                <a:cs typeface="Calibri" pitchFamily="34" charset="-120"/>
              </a:rPr>
              <a:t>Anexos de respaldo</a:t>
            </a:r>
            <a:endParaRPr lang="en-US" sz="3200" dirty="0"/>
          </a:p>
        </p:txBody>
      </p:sp>
      <p:sp>
        <p:nvSpPr>
          <p:cNvPr id="9" name="Pregunta de sección"/>
          <p:cNvSpPr txBox="1"/>
          <p:nvPr/>
        </p:nvSpPr>
        <p:spPr>
          <a:xfrm>
            <a:off x="1691640" y="5029200"/>
            <a:ext cx="699516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No se exponen: sirven para responder las preguntas del jurado.</a:t>
            </a:r>
            <a:endParaRPr lang="en-US" sz="1300" dirty="0"/>
          </a:p>
        </p:txBody>
      </p:sp>
      <p:sp>
        <p:nvSpPr>
          <p:cNvPr id="10" name="Viñeta 1"/>
          <p:cNvSpPr/>
          <p:nvPr/>
        </p:nvSpPr>
        <p:spPr>
          <a:xfrm>
            <a:off x="1719072" y="5495544"/>
            <a:ext cx="109728" cy="109728"/>
          </a:xfrm>
          <a:prstGeom prst="ellipse">
            <a:avLst/>
          </a:prstGeom>
          <a:solidFill>
            <a:srgbClr val="B45309"/>
          </a:solidFill>
          <a:ln w="12700">
            <a:solidFill>
              <a:srgbClr val="B45309"/>
            </a:solidFill>
            <a:prstDash val="solid"/>
          </a:ln>
        </p:spPr>
      </p:sp>
      <p:sp>
        <p:nvSpPr>
          <p:cNvPr id="11" name="Contenido 1"/>
          <p:cNvSpPr txBox="1"/>
          <p:nvPr/>
        </p:nvSpPr>
        <p:spPr>
          <a:xfrm>
            <a:off x="1920240" y="5413248"/>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A1–A3 · Antecedentes, criticidad y confiabilidad</a:t>
            </a:r>
            <a:endParaRPr lang="en-US" sz="1250" dirty="0"/>
          </a:p>
        </p:txBody>
      </p:sp>
      <p:sp>
        <p:nvSpPr>
          <p:cNvPr id="12" name="Viñeta 2"/>
          <p:cNvSpPr/>
          <p:nvPr/>
        </p:nvSpPr>
        <p:spPr>
          <a:xfrm>
            <a:off x="1719072" y="5824728"/>
            <a:ext cx="109728" cy="109728"/>
          </a:xfrm>
          <a:prstGeom prst="ellipse">
            <a:avLst/>
          </a:prstGeom>
          <a:solidFill>
            <a:srgbClr val="B45309"/>
          </a:solidFill>
          <a:ln w="12700">
            <a:solidFill>
              <a:srgbClr val="B45309"/>
            </a:solidFill>
            <a:prstDash val="solid"/>
          </a:ln>
        </p:spPr>
      </p:sp>
      <p:sp>
        <p:nvSpPr>
          <p:cNvPr id="13" name="Contenido 2"/>
          <p:cNvSpPr txBox="1"/>
          <p:nvPr/>
        </p:nvSpPr>
        <p:spPr>
          <a:xfrm>
            <a:off x="1920240" y="5742432"/>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A4–A11 · AMEF del generador, árboles, planes y recursos</a:t>
            </a:r>
            <a:endParaRPr lang="en-US" sz="1250" dirty="0"/>
          </a:p>
        </p:txBody>
      </p:sp>
      <p:sp>
        <p:nvSpPr>
          <p:cNvPr id="14" name="Viñeta 3"/>
          <p:cNvSpPr/>
          <p:nvPr/>
        </p:nvSpPr>
        <p:spPr>
          <a:xfrm>
            <a:off x="1719072" y="6153912"/>
            <a:ext cx="109728" cy="109728"/>
          </a:xfrm>
          <a:prstGeom prst="ellipse">
            <a:avLst/>
          </a:prstGeom>
          <a:solidFill>
            <a:srgbClr val="B45309"/>
          </a:solidFill>
          <a:ln w="12700">
            <a:solidFill>
              <a:srgbClr val="B45309"/>
            </a:solidFill>
            <a:prstDash val="solid"/>
          </a:ln>
        </p:spPr>
      </p:sp>
      <p:sp>
        <p:nvSpPr>
          <p:cNvPr id="15" name="Contenido 3"/>
          <p:cNvSpPr txBox="1"/>
          <p:nvPr/>
        </p:nvSpPr>
        <p:spPr>
          <a:xfrm>
            <a:off x="1920240" y="6071616"/>
            <a:ext cx="6400800" cy="27432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A12–A15 · Inversión, horas recuperadas y escenarios económicos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6 · MARCO TEÓRICO · ANTECEDENTES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Tres tesis nacionales aplicaron RCM a grupos electrógenos y mejoraron su disponibilidad</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Esta tesis aplica el mismo enfoque a una flota de alquiler con canibalización, en Moquegua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2.1 Antecedentes (internacionales, nacionales y locales). Cifras tal como las reporta cada antecedente.</a:t>
            </a:r>
            <a:endParaRPr lang="en-US" sz="900" dirty="0"/>
          </a:p>
        </p:txBody>
      </p:sp>
      <p:sp>
        <p:nvSpPr>
          <p:cNvPr id="8" name="Antecedente 1 fondo"/>
          <p:cNvSpPr/>
          <p:nvPr/>
        </p:nvSpPr>
        <p:spPr>
          <a:xfrm>
            <a:off x="457200" y="1600200"/>
            <a:ext cx="4023360" cy="1627632"/>
          </a:xfrm>
          <a:prstGeom prst="roundRect">
            <a:avLst>
              <a:gd name="adj" fmla="val 3933"/>
            </a:avLst>
          </a:prstGeom>
          <a:solidFill>
            <a:srgbClr val="EEF2FA"/>
          </a:solidFill>
          <a:ln w="9525">
            <a:solidFill>
              <a:srgbClr val="EEF2FA"/>
            </a:solidFill>
            <a:prstDash val="solid"/>
          </a:ln>
        </p:spPr>
      </p:sp>
      <p:sp>
        <p:nvSpPr>
          <p:cNvPr id="9" name="Antecedente 1 autor"/>
          <p:cNvSpPr txBox="1"/>
          <p:nvPr/>
        </p:nvSpPr>
        <p:spPr>
          <a:xfrm>
            <a:off x="640080" y="1728216"/>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Tuesta (2021)</a:t>
            </a:r>
            <a:endParaRPr lang="en-US" sz="1250" dirty="0"/>
          </a:p>
        </p:txBody>
      </p:sp>
      <p:sp>
        <p:nvSpPr>
          <p:cNvPr id="10" name="Antecedente 1 contexto"/>
          <p:cNvSpPr txBox="1"/>
          <p:nvPr/>
        </p:nvSpPr>
        <p:spPr>
          <a:xfrm>
            <a:off x="640080" y="2002536"/>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Empresa Santa Elena · plan RCM para motores de grupos electrógenos</a:t>
            </a:r>
            <a:endParaRPr lang="en-US" sz="1050" dirty="0"/>
          </a:p>
        </p:txBody>
      </p:sp>
      <p:sp>
        <p:nvSpPr>
          <p:cNvPr id="11" name="Antecedente 1 cifra"/>
          <p:cNvSpPr txBox="1"/>
          <p:nvPr/>
        </p:nvSpPr>
        <p:spPr>
          <a:xfrm>
            <a:off x="640080" y="2468880"/>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 a 4 %</a:t>
            </a:r>
            <a:endParaRPr lang="en-US" sz="2600" dirty="0"/>
          </a:p>
        </p:txBody>
      </p:sp>
      <p:sp>
        <p:nvSpPr>
          <p:cNvPr id="12" name="Antecedente 1 resultado"/>
          <p:cNvSpPr txBox="1"/>
          <p:nvPr/>
        </p:nvSpPr>
        <p:spPr>
          <a:xfrm>
            <a:off x="2103120" y="2468880"/>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mejora en los años siguientes</a:t>
            </a:r>
            <a:endParaRPr lang="en-US" sz="1050" dirty="0"/>
          </a:p>
        </p:txBody>
      </p:sp>
      <p:sp>
        <p:nvSpPr>
          <p:cNvPr id="13" name="Antecedente 2 fondo"/>
          <p:cNvSpPr/>
          <p:nvPr/>
        </p:nvSpPr>
        <p:spPr>
          <a:xfrm>
            <a:off x="4663440" y="1600200"/>
            <a:ext cx="4023360" cy="1627632"/>
          </a:xfrm>
          <a:prstGeom prst="roundRect">
            <a:avLst>
              <a:gd name="adj" fmla="val 3933"/>
            </a:avLst>
          </a:prstGeom>
          <a:solidFill>
            <a:srgbClr val="EEF2FA"/>
          </a:solidFill>
          <a:ln w="9525">
            <a:solidFill>
              <a:srgbClr val="EEF2FA"/>
            </a:solidFill>
            <a:prstDash val="solid"/>
          </a:ln>
        </p:spPr>
      </p:sp>
      <p:sp>
        <p:nvSpPr>
          <p:cNvPr id="14" name="Antecedente 2 autor"/>
          <p:cNvSpPr txBox="1"/>
          <p:nvPr/>
        </p:nvSpPr>
        <p:spPr>
          <a:xfrm>
            <a:off x="4846320" y="1728216"/>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Sayre Llana (2023)</a:t>
            </a:r>
            <a:endParaRPr lang="en-US" sz="1250" dirty="0"/>
          </a:p>
        </p:txBody>
      </p:sp>
      <p:sp>
        <p:nvSpPr>
          <p:cNvPr id="15" name="Antecedente 2 contexto"/>
          <p:cNvSpPr txBox="1"/>
          <p:nvPr/>
        </p:nvSpPr>
        <p:spPr>
          <a:xfrm>
            <a:off x="4846320" y="2002536"/>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Consorcio Naval e Industrial · plan de mantenimiento por confiabilidad</a:t>
            </a:r>
            <a:endParaRPr lang="en-US" sz="1050" dirty="0"/>
          </a:p>
        </p:txBody>
      </p:sp>
      <p:sp>
        <p:nvSpPr>
          <p:cNvPr id="16" name="Antecedente 2 cifra"/>
          <p:cNvSpPr txBox="1"/>
          <p:nvPr/>
        </p:nvSpPr>
        <p:spPr>
          <a:xfrm>
            <a:off x="4846320" y="2468880"/>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95 %</a:t>
            </a:r>
            <a:endParaRPr lang="en-US" sz="2600" dirty="0"/>
          </a:p>
        </p:txBody>
      </p:sp>
      <p:sp>
        <p:nvSpPr>
          <p:cNvPr id="17" name="Antecedente 2 resultado"/>
          <p:cNvSpPr txBox="1"/>
          <p:nvPr/>
        </p:nvSpPr>
        <p:spPr>
          <a:xfrm>
            <a:off x="6309360" y="2468880"/>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disponibilidad total (+25 % frente a meses previos)</a:t>
            </a:r>
            <a:endParaRPr lang="en-US" sz="1050" dirty="0"/>
          </a:p>
        </p:txBody>
      </p:sp>
      <p:sp>
        <p:nvSpPr>
          <p:cNvPr id="18" name="Antecedente 3 fondo"/>
          <p:cNvSpPr/>
          <p:nvPr/>
        </p:nvSpPr>
        <p:spPr>
          <a:xfrm>
            <a:off x="457200" y="3355848"/>
            <a:ext cx="4023360" cy="1627632"/>
          </a:xfrm>
          <a:prstGeom prst="roundRect">
            <a:avLst>
              <a:gd name="adj" fmla="val 3933"/>
            </a:avLst>
          </a:prstGeom>
          <a:solidFill>
            <a:srgbClr val="FDF1E1"/>
          </a:solidFill>
          <a:ln w="15875">
            <a:solidFill>
              <a:srgbClr val="B45309"/>
            </a:solidFill>
            <a:prstDash val="solid"/>
          </a:ln>
        </p:spPr>
      </p:sp>
      <p:sp>
        <p:nvSpPr>
          <p:cNvPr id="19" name="Antecedente 3 autor"/>
          <p:cNvSpPr txBox="1"/>
          <p:nvPr/>
        </p:nvSpPr>
        <p:spPr>
          <a:xfrm>
            <a:off x="640080" y="3483864"/>
            <a:ext cx="3657600" cy="256032"/>
          </a:xfrm>
          <a:prstGeom prst="rect">
            <a:avLst/>
          </a:prstGeom>
          <a:noFill/>
          <a:ln/>
        </p:spPr>
        <p:txBody>
          <a:bodyPr wrap="square" lIns="0" tIns="0" rIns="0" bIns="0" rtlCol="0" anchor="t"/>
          <a:lstStyle/>
          <a:p>
            <a:pPr indent="0" marL="0">
              <a:buNone/>
            </a:pPr>
            <a:r>
              <a:rPr lang="en-US" sz="1250" b="1" dirty="0">
                <a:solidFill>
                  <a:srgbClr val="B45309"/>
                </a:solidFill>
                <a:latin typeface="Calibri" pitchFamily="34" charset="0"/>
                <a:ea typeface="Calibri" pitchFamily="34" charset="-122"/>
                <a:cs typeface="Calibri" pitchFamily="34" charset="-120"/>
              </a:rPr>
              <a:t>Illesca Cangalaya y Ureta Cirineo (2024)</a:t>
            </a:r>
            <a:endParaRPr lang="en-US" sz="1250" dirty="0"/>
          </a:p>
        </p:txBody>
      </p:sp>
      <p:sp>
        <p:nvSpPr>
          <p:cNvPr id="20" name="Antecedente 3 contexto"/>
          <p:cNvSpPr txBox="1"/>
          <p:nvPr/>
        </p:nvSpPr>
        <p:spPr>
          <a:xfrm>
            <a:off x="640080" y="3758184"/>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Alquiler de grupos para minería · RCM + TPM</a:t>
            </a:r>
            <a:endParaRPr lang="en-US" sz="1050" dirty="0"/>
          </a:p>
        </p:txBody>
      </p:sp>
      <p:sp>
        <p:nvSpPr>
          <p:cNvPr id="21" name="Antecedente 3 cifra"/>
          <p:cNvSpPr txBox="1"/>
          <p:nvPr/>
        </p:nvSpPr>
        <p:spPr>
          <a:xfrm>
            <a:off x="640080" y="4224528"/>
            <a:ext cx="1417320" cy="59436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+7,48 %</a:t>
            </a:r>
            <a:endParaRPr lang="en-US" sz="2600" dirty="0"/>
          </a:p>
        </p:txBody>
      </p:sp>
      <p:sp>
        <p:nvSpPr>
          <p:cNvPr id="22" name="Antecedente 3 resultado"/>
          <p:cNvSpPr txBox="1"/>
          <p:nvPr/>
        </p:nvSpPr>
        <p:spPr>
          <a:xfrm>
            <a:off x="2103120" y="4224528"/>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disponibilidad; mantenimiento correctivo −15 %</a:t>
            </a:r>
            <a:endParaRPr lang="en-US" sz="1050" dirty="0"/>
          </a:p>
        </p:txBody>
      </p:sp>
      <p:sp>
        <p:nvSpPr>
          <p:cNvPr id="23" name="Antecedente 4 fondo"/>
          <p:cNvSpPr/>
          <p:nvPr/>
        </p:nvSpPr>
        <p:spPr>
          <a:xfrm>
            <a:off x="4663440" y="3355848"/>
            <a:ext cx="4023360" cy="1627632"/>
          </a:xfrm>
          <a:prstGeom prst="roundRect">
            <a:avLst>
              <a:gd name="adj" fmla="val 3933"/>
            </a:avLst>
          </a:prstGeom>
          <a:solidFill>
            <a:srgbClr val="EEF2FA"/>
          </a:solidFill>
          <a:ln w="9525">
            <a:solidFill>
              <a:srgbClr val="EEF2FA"/>
            </a:solidFill>
            <a:prstDash val="solid"/>
          </a:ln>
        </p:spPr>
      </p:sp>
      <p:sp>
        <p:nvSpPr>
          <p:cNvPr id="24" name="Antecedente 4 autor"/>
          <p:cNvSpPr txBox="1"/>
          <p:nvPr/>
        </p:nvSpPr>
        <p:spPr>
          <a:xfrm>
            <a:off x="4846320" y="3483864"/>
            <a:ext cx="3657600" cy="256032"/>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Achahuanco Molina (2020) · local</a:t>
            </a:r>
            <a:endParaRPr lang="en-US" sz="1250" dirty="0"/>
          </a:p>
        </p:txBody>
      </p:sp>
      <p:sp>
        <p:nvSpPr>
          <p:cNvPr id="25" name="Antecedente 4 contexto"/>
          <p:cNvSpPr txBox="1"/>
          <p:nvPr/>
        </p:nvSpPr>
        <p:spPr>
          <a:xfrm>
            <a:off x="4846320" y="3758184"/>
            <a:ext cx="3657600" cy="402336"/>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 San José, Arequipa · RCM del autotransformador de 600 MVA</a:t>
            </a:r>
            <a:endParaRPr lang="en-US" sz="1050" dirty="0"/>
          </a:p>
        </p:txBody>
      </p:sp>
      <p:sp>
        <p:nvSpPr>
          <p:cNvPr id="26" name="Antecedente 4 cifra"/>
          <p:cNvSpPr txBox="1"/>
          <p:nvPr/>
        </p:nvSpPr>
        <p:spPr>
          <a:xfrm>
            <a:off x="4846320" y="4224528"/>
            <a:ext cx="1417320" cy="59436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95 %</a:t>
            </a:r>
            <a:endParaRPr lang="en-US" sz="2600" dirty="0"/>
          </a:p>
        </p:txBody>
      </p:sp>
      <p:sp>
        <p:nvSpPr>
          <p:cNvPr id="27" name="Antecedente 4 resultado"/>
          <p:cNvSpPr txBox="1"/>
          <p:nvPr/>
        </p:nvSpPr>
        <p:spPr>
          <a:xfrm>
            <a:off x="6309360" y="4224528"/>
            <a:ext cx="2194560" cy="59436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de confiabilidad estimada; criticidad 120</a:t>
            </a:r>
            <a:endParaRPr lang="en-US" sz="1050" dirty="0"/>
          </a:p>
        </p:txBody>
      </p:sp>
      <p:sp>
        <p:nvSpPr>
          <p:cNvPr id="28" name="Base internacional fondo"/>
          <p:cNvSpPr/>
          <p:nvPr/>
        </p:nvSpPr>
        <p:spPr>
          <a:xfrm>
            <a:off x="457200" y="5166360"/>
            <a:ext cx="8229600" cy="731520"/>
          </a:xfrm>
          <a:prstGeom prst="roundRect">
            <a:avLst>
              <a:gd name="adj" fmla="val 8750"/>
            </a:avLst>
          </a:prstGeom>
          <a:solidFill>
            <a:srgbClr val="FFFFFF"/>
          </a:solidFill>
          <a:ln w="9525">
            <a:solidFill>
              <a:srgbClr val="CBD5E1"/>
            </a:solidFill>
            <a:prstDash val="solid"/>
          </a:ln>
        </p:spPr>
      </p:sp>
      <p:sp>
        <p:nvSpPr>
          <p:cNvPr id="29" name="Base internacional etiqueta"/>
          <p:cNvSpPr txBox="1"/>
          <p:nvPr/>
        </p:nvSpPr>
        <p:spPr>
          <a:xfrm>
            <a:off x="640080" y="5239512"/>
            <a:ext cx="7863840" cy="201168"/>
          </a:xfrm>
          <a:prstGeom prst="rect">
            <a:avLst/>
          </a:prstGeom>
          <a:noFill/>
          <a:ln/>
        </p:spPr>
        <p:txBody>
          <a:bodyPr wrap="square" lIns="0" tIns="0" rIns="0" bIns="0" rtlCol="0" anchor="t"/>
          <a:lstStyle/>
          <a:p>
            <a:pPr indent="0" marL="0">
              <a:buNone/>
            </a:pPr>
            <a:r>
              <a:rPr lang="en-US" sz="950" b="1" spc="100" kern="0" dirty="0">
                <a:solidFill>
                  <a:srgbClr val="64748B"/>
                </a:solidFill>
                <a:latin typeface="Calibri" pitchFamily="34" charset="0"/>
                <a:ea typeface="Calibri" pitchFamily="34" charset="-122"/>
                <a:cs typeface="Calibri" pitchFamily="34" charset="-120"/>
              </a:rPr>
              <a:t>BASE METODOLÓGICA INTERNACIONAL</a:t>
            </a:r>
            <a:endParaRPr lang="en-US" sz="950" dirty="0"/>
          </a:p>
        </p:txBody>
      </p:sp>
      <p:sp>
        <p:nvSpPr>
          <p:cNvPr id="30" name="Base internacional texto"/>
          <p:cNvSpPr txBox="1"/>
          <p:nvPr/>
        </p:nvSpPr>
        <p:spPr>
          <a:xfrm>
            <a:off x="640080" y="5458968"/>
            <a:ext cx="7863840" cy="402336"/>
          </a:xfrm>
          <a:prstGeom prst="rect">
            <a:avLst/>
          </a:prstGeom>
          <a:noFill/>
          <a:ln/>
        </p:spPr>
        <p:txBody>
          <a:bodyPr wrap="square" lIns="0" tIns="0" rIns="0" bIns="0" rtlCol="0" anchor="t"/>
          <a:lstStyle/>
          <a:p>
            <a:pPr indent="0" marL="0">
              <a:buNone/>
            </a:pPr>
            <a:r>
              <a:rPr lang="en-US" sz="1000" b="1" dirty="0">
                <a:solidFill>
                  <a:srgbClr val="1E3A8A"/>
                </a:solidFill>
                <a:latin typeface="Calibri" pitchFamily="34" charset="0"/>
                <a:ea typeface="Calibri" pitchFamily="34" charset="-122"/>
                <a:cs typeface="Calibri" pitchFamily="34" charset="-120"/>
              </a:rPr>
              <a:t>Campos-López et al. (2019): </a:t>
            </a:r>
            <a:pPr indent="0" marL="0">
              <a:buNone/>
            </a:pPr>
            <a:r>
              <a:rPr lang="en-US" sz="1000" dirty="0">
                <a:solidFill>
                  <a:srgbClr val="334155"/>
                </a:solidFill>
                <a:latin typeface="Calibri" pitchFamily="34" charset="0"/>
                <a:ea typeface="Calibri" pitchFamily="34" charset="-122"/>
                <a:cs typeface="Calibri" pitchFamily="34" charset="-120"/>
              </a:rPr>
              <a:t>RCM con SAE JA1011, ISO 14224 y NPR · </a:t>
            </a:r>
            <a:pPr indent="0" marL="0">
              <a:buNone/>
            </a:pPr>
            <a:r>
              <a:rPr lang="en-US" sz="1000" b="1" dirty="0">
                <a:solidFill>
                  <a:srgbClr val="1E3A8A"/>
                </a:solidFill>
                <a:latin typeface="Calibri" pitchFamily="34" charset="0"/>
                <a:ea typeface="Calibri" pitchFamily="34" charset="-122"/>
                <a:cs typeface="Calibri" pitchFamily="34" charset="-120"/>
              </a:rPr>
              <a:t>Jaramillo (2021): </a:t>
            </a:r>
            <a:pPr indent="0" marL="0">
              <a:buNone/>
            </a:pPr>
            <a:r>
              <a:rPr lang="en-US" sz="1000" dirty="0">
                <a:solidFill>
                  <a:srgbClr val="334155"/>
                </a:solidFill>
                <a:latin typeface="Calibri" pitchFamily="34" charset="0"/>
                <a:ea typeface="Calibri" pitchFamily="34" charset="-122"/>
                <a:cs typeface="Calibri" pitchFamily="34" charset="-120"/>
              </a:rPr>
              <a:t>por qué fracasan los proyectos RCM · </a:t>
            </a:r>
            <a:pPr indent="0" marL="0">
              <a:buNone/>
            </a:pPr>
            <a:r>
              <a:rPr lang="en-US" sz="1000" b="1" dirty="0">
                <a:solidFill>
                  <a:srgbClr val="1E3A8A"/>
                </a:solidFill>
                <a:latin typeface="Calibri" pitchFamily="34" charset="0"/>
                <a:ea typeface="Calibri" pitchFamily="34" charset="-122"/>
                <a:cs typeface="Calibri" pitchFamily="34" charset="-120"/>
              </a:rPr>
              <a:t>Alrifaey et al. (2020): </a:t>
            </a:r>
            <a:pPr indent="0" marL="0">
              <a:buNone/>
            </a:pPr>
            <a:r>
              <a:rPr lang="en-US" sz="1000" dirty="0">
                <a:solidFill>
                  <a:srgbClr val="334155"/>
                </a:solidFill>
                <a:latin typeface="Calibri" pitchFamily="34" charset="0"/>
                <a:ea typeface="Calibri" pitchFamily="34" charset="-122"/>
                <a:cs typeface="Calibri" pitchFamily="34" charset="-120"/>
              </a:rPr>
              <a:t>RCM híbrido en un generador de turbina de gas</a:t>
            </a:r>
            <a:endParaRPr lang="en-US" sz="1000" dirty="0"/>
          </a:p>
        </p:txBody>
      </p:sp>
      <p:sp>
        <p:nvSpPr>
          <p:cNvPr id="31"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SELECCIÓN DEL ACTIVO CRÍTICO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Solo 3 grupos de 500 kW alcanzan criticidad alta entre los 20 de la flota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muestra la define la matriz: GI500-19 (150), GI500-16 (140) y GI500-20 (130)</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(ponderación de criticidad y rangos) y Cap. IV, figura «Criticidad de equipos en servicio». Fórmula de la consecuencia: reconstruida por mí y verificada en los 20 equipos.</a:t>
            </a:r>
            <a:endParaRPr lang="en-US" sz="900" dirty="0"/>
          </a:p>
        </p:txBody>
      </p:sp>
      <p:sp>
        <p:nvSpPr>
          <p:cNvPr id="8" name="Etiqueta CRITICIDAD TOTAL POR EQU"/>
          <p:cNvSpPr txBox="1"/>
          <p:nvPr/>
        </p:nvSpPr>
        <p:spPr>
          <a:xfrm>
            <a:off x="457200" y="1463040"/>
            <a:ext cx="47548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CRITICIDAD TOTAL POR EQUIPO</a:t>
            </a:r>
            <a:endParaRPr lang="en-US" sz="1100" dirty="0"/>
          </a:p>
        </p:txBody>
      </p:sp>
      <p:graphicFrame>
        <p:nvGraphicFramePr>
          <p:cNvPr id="9" name="Gráfico criticidad" descr="Criticidad total de 20 grupos electrógenos: GI500-19 150, GI500-16 140, GI500-20 130, GI250-01 84, GI250-02 75, GI800-01 69, GI250-03 62, GI500-02 60, GI320-01 60, GI450-01 56, GI70-01 56, GI100-01 54, GI150-01 54, GI120-01 50, GI600-02 48, GI600-01 46, GI60-01 44, GI1000-01 36, GI1600-01 30, GI1200-01 20"/>
          <p:cNvGraphicFramePr/>
          <p:nvPr/>
        </p:nvGraphicFramePr>
        <p:xfrm>
          <a:off x="320040" y="1664208"/>
          <a:ext cx="4892040" cy="4279392"/>
        </p:xfrm>
        <a:graphic xmlns:a="http://schemas.openxmlformats.org/drawingml/2006/main">
          <a:graphicData uri="http://schemas.openxmlformats.org/drawingml/2006/chart">
            <c:chart xmlns:c="http://schemas.openxmlformats.org/drawingml/2006/chart" r:id="rId2"/>
          </a:graphicData>
        </a:graphic>
      </p:graphicFrame>
      <p:sp>
        <p:nvSpPr>
          <p:cNvPr id="10" name="Etiqueta CÓMO SE CALCULA"/>
          <p:cNvSpPr txBox="1"/>
          <p:nvPr/>
        </p:nvSpPr>
        <p:spPr>
          <a:xfrm>
            <a:off x="5440680" y="1463040"/>
            <a:ext cx="32461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CALCULA</a:t>
            </a:r>
            <a:endParaRPr lang="en-US" sz="1100" dirty="0"/>
          </a:p>
        </p:txBody>
      </p:sp>
      <p:sp>
        <p:nvSpPr>
          <p:cNvPr id="11" name="Fórmula fondo"/>
          <p:cNvSpPr/>
          <p:nvPr/>
        </p:nvSpPr>
        <p:spPr>
          <a:xfrm>
            <a:off x="5440680" y="1737360"/>
            <a:ext cx="3246120" cy="1965960"/>
          </a:xfrm>
          <a:prstGeom prst="roundRect">
            <a:avLst>
              <a:gd name="adj" fmla="val 3256"/>
            </a:avLst>
          </a:prstGeom>
          <a:solidFill>
            <a:srgbClr val="EEF2FA"/>
          </a:solidFill>
          <a:ln w="9525">
            <a:solidFill>
              <a:srgbClr val="EEF2FA"/>
            </a:solidFill>
            <a:prstDash val="solid"/>
          </a:ln>
        </p:spPr>
      </p:sp>
      <p:sp>
        <p:nvSpPr>
          <p:cNvPr id="12" name="Fórmula criticidad"/>
          <p:cNvSpPr txBox="1"/>
          <p:nvPr/>
        </p:nvSpPr>
        <p:spPr>
          <a:xfrm>
            <a:off x="5605272" y="1828800"/>
            <a:ext cx="2971800" cy="292608"/>
          </a:xfrm>
          <a:prstGeom prst="rect">
            <a:avLst/>
          </a:prstGeom>
          <a:noFill/>
          <a:ln/>
        </p:spPr>
        <p:txBody>
          <a:bodyPr wrap="square" lIns="0" tIns="0" rIns="0" bIns="0" rtlCol="0" anchor="t"/>
          <a:lstStyle/>
          <a:p>
            <a:pPr indent="0" marL="0">
              <a:buNone/>
            </a:pPr>
            <a:r>
              <a:rPr lang="en-US" sz="1250" b="1" dirty="0">
                <a:solidFill>
                  <a:srgbClr val="1E3A8A"/>
                </a:solidFill>
                <a:latin typeface="Calibri" pitchFamily="34" charset="0"/>
                <a:ea typeface="Calibri" pitchFamily="34" charset="-122"/>
                <a:cs typeface="Calibri" pitchFamily="34" charset="-120"/>
              </a:rPr>
              <a:t>Criticidad = Frecuencia × Consecuencia</a:t>
            </a:r>
            <a:endParaRPr lang="en-US" sz="1250" dirty="0"/>
          </a:p>
        </p:txBody>
      </p:sp>
      <p:sp>
        <p:nvSpPr>
          <p:cNvPr id="13" name="Fórmula consecuencia"/>
          <p:cNvSpPr txBox="1"/>
          <p:nvPr/>
        </p:nvSpPr>
        <p:spPr>
          <a:xfrm>
            <a:off x="5605272" y="2157984"/>
            <a:ext cx="2971800" cy="4572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Consecuencia = TPR × Impacto operacional + Costo + Ambiental + Seguridad</a:t>
            </a:r>
            <a:endParaRPr lang="en-US" sz="1050" dirty="0"/>
          </a:p>
        </p:txBody>
      </p:sp>
      <p:sp>
        <p:nvSpPr>
          <p:cNvPr id="14" name="Ejemplo etiqueta"/>
          <p:cNvSpPr txBox="1"/>
          <p:nvPr/>
        </p:nvSpPr>
        <p:spPr>
          <a:xfrm>
            <a:off x="5605272" y="2697480"/>
            <a:ext cx="2971800" cy="219456"/>
          </a:xfrm>
          <a:prstGeom prst="rect">
            <a:avLst/>
          </a:prstGeom>
          <a:noFill/>
          <a:ln/>
        </p:spPr>
        <p:txBody>
          <a:bodyPr wrap="square" lIns="0" tIns="0" rIns="0" bIns="0" rtlCol="0" anchor="t"/>
          <a:lstStyle/>
          <a:p>
            <a:pPr indent="0" marL="0">
              <a:buNone/>
            </a:pPr>
            <a:r>
              <a:rPr lang="en-US" sz="1000" b="1" dirty="0">
                <a:solidFill>
                  <a:srgbClr val="64748B"/>
                </a:solidFill>
                <a:latin typeface="Calibri" pitchFamily="34" charset="0"/>
                <a:ea typeface="Calibri" pitchFamily="34" charset="-122"/>
                <a:cs typeface="Calibri" pitchFamily="34" charset="-120"/>
              </a:rPr>
              <a:t>Ejemplo GI500-19</a:t>
            </a:r>
            <a:endParaRPr lang="en-US" sz="1000" dirty="0"/>
          </a:p>
        </p:txBody>
      </p:sp>
      <p:sp>
        <p:nvSpPr>
          <p:cNvPr id="15" name="Ejemplo cálculo"/>
          <p:cNvSpPr txBox="1"/>
          <p:nvPr/>
        </p:nvSpPr>
        <p:spPr>
          <a:xfrm>
            <a:off x="5605272" y="2926080"/>
            <a:ext cx="2971800" cy="329184"/>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5 × (4 × 4 + 5 + 4 + 5) = 5 × 30 = 150</a:t>
            </a:r>
            <a:endParaRPr lang="en-US" sz="1300" dirty="0"/>
          </a:p>
        </p:txBody>
      </p:sp>
      <p:sp>
        <p:nvSpPr>
          <p:cNvPr id="16" name="Fórmula nota"/>
          <p:cNvSpPr txBox="1"/>
          <p:nvPr/>
        </p:nvSpPr>
        <p:spPr>
          <a:xfrm>
            <a:off x="5605272" y="3310128"/>
            <a:ext cx="2971800" cy="329184"/>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TPR: tiempo promedio de reparación. Escalas de 1 a 5.</a:t>
            </a:r>
            <a:endParaRPr lang="en-US" sz="950" dirty="0"/>
          </a:p>
        </p:txBody>
      </p:sp>
      <p:sp>
        <p:nvSpPr>
          <p:cNvPr id="17" name="Etiqueta EQUIPOS POR NIVEL"/>
          <p:cNvSpPr txBox="1"/>
          <p:nvPr/>
        </p:nvSpPr>
        <p:spPr>
          <a:xfrm>
            <a:off x="5440680" y="3886200"/>
            <a:ext cx="32461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EQUIPOS POR NIVEL</a:t>
            </a:r>
            <a:endParaRPr lang="en-US" sz="1100" dirty="0"/>
          </a:p>
        </p:txBody>
      </p:sp>
      <p:sp>
        <p:nvSpPr>
          <p:cNvPr id="18" name="Rango C fondo"/>
          <p:cNvSpPr/>
          <p:nvPr/>
        </p:nvSpPr>
        <p:spPr>
          <a:xfrm>
            <a:off x="5440680" y="4160520"/>
            <a:ext cx="3246120" cy="512064"/>
          </a:xfrm>
          <a:prstGeom prst="roundRect">
            <a:avLst>
              <a:gd name="adj" fmla="val 12500"/>
            </a:avLst>
          </a:prstGeom>
          <a:solidFill>
            <a:srgbClr val="FDF1E1"/>
          </a:solidFill>
          <a:ln w="15875">
            <a:solidFill>
              <a:srgbClr val="B45309"/>
            </a:solidFill>
            <a:prstDash val="solid"/>
          </a:ln>
        </p:spPr>
      </p:sp>
      <p:sp>
        <p:nvSpPr>
          <p:cNvPr id="19" name="Rango C cifra"/>
          <p:cNvSpPr txBox="1"/>
          <p:nvPr/>
        </p:nvSpPr>
        <p:spPr>
          <a:xfrm>
            <a:off x="5550408" y="4160520"/>
            <a:ext cx="548640" cy="512064"/>
          </a:xfrm>
          <a:prstGeom prst="rect">
            <a:avLst/>
          </a:prstGeom>
          <a:noFill/>
          <a:ln/>
        </p:spPr>
        <p:txBody>
          <a:bodyPr wrap="square" lIns="0" tIns="0" rIns="0" bIns="0" rtlCol="0" anchor="ctr"/>
          <a:lstStyle/>
          <a:p>
            <a:pPr algn="ctr" indent="0" marL="0">
              <a:buNone/>
            </a:pPr>
            <a:r>
              <a:rPr lang="en-US" sz="2200" b="1" dirty="0">
                <a:solidFill>
                  <a:srgbClr val="B45309"/>
                </a:solidFill>
                <a:latin typeface="Calibri" pitchFamily="34" charset="0"/>
                <a:ea typeface="Calibri" pitchFamily="34" charset="-122"/>
                <a:cs typeface="Calibri" pitchFamily="34" charset="-120"/>
              </a:rPr>
              <a:t>3</a:t>
            </a:r>
            <a:endParaRPr lang="en-US" sz="2200" dirty="0"/>
          </a:p>
        </p:txBody>
      </p:sp>
      <p:sp>
        <p:nvSpPr>
          <p:cNvPr id="20" name="Rango C texto"/>
          <p:cNvSpPr txBox="1"/>
          <p:nvPr/>
        </p:nvSpPr>
        <p:spPr>
          <a:xfrm>
            <a:off x="6172200" y="4160520"/>
            <a:ext cx="2423160" cy="512064"/>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C  </a:t>
            </a:r>
            <a:pPr indent="0" marL="0">
              <a:buNone/>
            </a:pPr>
            <a:r>
              <a:rPr lang="en-US" sz="1100" dirty="0">
                <a:solidFill>
                  <a:srgbClr val="334155"/>
                </a:solidFill>
                <a:latin typeface="Calibri" pitchFamily="34" charset="0"/>
                <a:ea typeface="Calibri" pitchFamily="34" charset="-122"/>
                <a:cs typeface="Calibri" pitchFamily="34" charset="-120"/>
              </a:rPr>
              <a:t>criticidad alta (90–200)</a:t>
            </a:r>
            <a:endParaRPr lang="en-US" sz="1100" dirty="0"/>
          </a:p>
        </p:txBody>
      </p:sp>
      <p:sp>
        <p:nvSpPr>
          <p:cNvPr id="21" name="Rango SC fondo"/>
          <p:cNvSpPr/>
          <p:nvPr/>
        </p:nvSpPr>
        <p:spPr>
          <a:xfrm>
            <a:off x="5440680" y="4764024"/>
            <a:ext cx="3246120" cy="512064"/>
          </a:xfrm>
          <a:prstGeom prst="roundRect">
            <a:avLst>
              <a:gd name="adj" fmla="val 12500"/>
            </a:avLst>
          </a:prstGeom>
          <a:solidFill>
            <a:srgbClr val="EEF2FA"/>
          </a:solidFill>
          <a:ln w="9525">
            <a:solidFill>
              <a:srgbClr val="EEF2FA"/>
            </a:solidFill>
            <a:prstDash val="solid"/>
          </a:ln>
        </p:spPr>
      </p:sp>
      <p:sp>
        <p:nvSpPr>
          <p:cNvPr id="22" name="Rango SC cifra"/>
          <p:cNvSpPr txBox="1"/>
          <p:nvPr/>
        </p:nvSpPr>
        <p:spPr>
          <a:xfrm>
            <a:off x="5550408" y="4764024"/>
            <a:ext cx="548640" cy="512064"/>
          </a:xfrm>
          <a:prstGeom prst="rect">
            <a:avLst/>
          </a:prstGeom>
          <a:noFill/>
          <a:ln/>
        </p:spPr>
        <p:txBody>
          <a:bodyPr wrap="square" lIns="0" tIns="0" rIns="0" bIns="0" rtlCol="0" anchor="ctr"/>
          <a:lstStyle/>
          <a:p>
            <a:pPr algn="ctr" indent="0" marL="0">
              <a:buNone/>
            </a:pPr>
            <a:r>
              <a:rPr lang="en-US" sz="2200" b="1" dirty="0">
                <a:solidFill>
                  <a:srgbClr val="334155"/>
                </a:solidFill>
                <a:latin typeface="Calibri" pitchFamily="34" charset="0"/>
                <a:ea typeface="Calibri" pitchFamily="34" charset="-122"/>
                <a:cs typeface="Calibri" pitchFamily="34" charset="-120"/>
              </a:rPr>
              <a:t>14</a:t>
            </a:r>
            <a:endParaRPr lang="en-US" sz="2200" dirty="0"/>
          </a:p>
        </p:txBody>
      </p:sp>
      <p:sp>
        <p:nvSpPr>
          <p:cNvPr id="23" name="Rango SC texto"/>
          <p:cNvSpPr txBox="1"/>
          <p:nvPr/>
        </p:nvSpPr>
        <p:spPr>
          <a:xfrm>
            <a:off x="6172200" y="4764024"/>
            <a:ext cx="2423160" cy="512064"/>
          </a:xfrm>
          <a:prstGeom prst="rect">
            <a:avLst/>
          </a:prstGeom>
          <a:noFill/>
          <a:ln/>
        </p:spPr>
        <p:txBody>
          <a:bodyPr wrap="square" lIns="0" tIns="0" rIns="0" bIns="0" rtlCol="0" anchor="ctr"/>
          <a:lstStyle/>
          <a:p>
            <a:pPr indent="0" marL="0">
              <a:buNone/>
            </a:pPr>
            <a:r>
              <a:rPr lang="en-US" sz="1100" b="1" dirty="0">
                <a:solidFill>
                  <a:srgbClr val="334155"/>
                </a:solidFill>
                <a:latin typeface="Calibri" pitchFamily="34" charset="0"/>
                <a:ea typeface="Calibri" pitchFamily="34" charset="-122"/>
                <a:cs typeface="Calibri" pitchFamily="34" charset="-120"/>
              </a:rPr>
              <a:t>SC  </a:t>
            </a:r>
            <a:pPr indent="0" marL="0">
              <a:buNone/>
            </a:pPr>
            <a:r>
              <a:rPr lang="en-US" sz="1100" dirty="0">
                <a:solidFill>
                  <a:srgbClr val="334155"/>
                </a:solidFill>
                <a:latin typeface="Calibri" pitchFamily="34" charset="0"/>
                <a:ea typeface="Calibri" pitchFamily="34" charset="-122"/>
                <a:cs typeface="Calibri" pitchFamily="34" charset="-120"/>
              </a:rPr>
              <a:t>criticidad media (40–89)</a:t>
            </a:r>
            <a:endParaRPr lang="en-US" sz="1100" dirty="0"/>
          </a:p>
        </p:txBody>
      </p:sp>
      <p:sp>
        <p:nvSpPr>
          <p:cNvPr id="24" name="Rango NC fondo"/>
          <p:cNvSpPr/>
          <p:nvPr/>
        </p:nvSpPr>
        <p:spPr>
          <a:xfrm>
            <a:off x="5440680" y="5367528"/>
            <a:ext cx="3246120" cy="512064"/>
          </a:xfrm>
          <a:prstGeom prst="roundRect">
            <a:avLst>
              <a:gd name="adj" fmla="val 12500"/>
            </a:avLst>
          </a:prstGeom>
          <a:solidFill>
            <a:srgbClr val="EEF2FA"/>
          </a:solidFill>
          <a:ln w="9525">
            <a:solidFill>
              <a:srgbClr val="EEF2FA"/>
            </a:solidFill>
            <a:prstDash val="solid"/>
          </a:ln>
        </p:spPr>
      </p:sp>
      <p:sp>
        <p:nvSpPr>
          <p:cNvPr id="25" name="Rango NC cifra"/>
          <p:cNvSpPr txBox="1"/>
          <p:nvPr/>
        </p:nvSpPr>
        <p:spPr>
          <a:xfrm>
            <a:off x="5550408" y="5367528"/>
            <a:ext cx="548640" cy="512064"/>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3</a:t>
            </a:r>
            <a:endParaRPr lang="en-US" sz="2200" dirty="0"/>
          </a:p>
        </p:txBody>
      </p:sp>
      <p:sp>
        <p:nvSpPr>
          <p:cNvPr id="26" name="Rango NC texto"/>
          <p:cNvSpPr txBox="1"/>
          <p:nvPr/>
        </p:nvSpPr>
        <p:spPr>
          <a:xfrm>
            <a:off x="6172200" y="5367528"/>
            <a:ext cx="2423160" cy="512064"/>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NC  </a:t>
            </a:r>
            <a:pPr indent="0" marL="0">
              <a:buNone/>
            </a:pPr>
            <a:r>
              <a:rPr lang="en-US" sz="1100" dirty="0">
                <a:solidFill>
                  <a:srgbClr val="334155"/>
                </a:solidFill>
                <a:latin typeface="Calibri" pitchFamily="34" charset="0"/>
                <a:ea typeface="Calibri" pitchFamily="34" charset="-122"/>
                <a:cs typeface="Calibri" pitchFamily="34" charset="-120"/>
              </a:rPr>
              <a:t>criticidad baja (5–39)</a:t>
            </a:r>
            <a:endParaRPr lang="en-US" sz="1100" dirty="0"/>
          </a:p>
        </p:txBody>
      </p:sp>
      <p:sp>
        <p:nvSpPr>
          <p:cNvPr id="27"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4.1 · DIAGNÓSTICO · CONFIABILIDAD POR EQUIPO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Ningún equipo crítico supera 45 % de probabilidad de operar 200 h sin fallar</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Confiabilidad R(t) = e^(−t / MTBF), ecuación (5) de la tesis, con el MTBF base 2019–2022</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tesis recomienda intervenir en intervalos menores a 200 h: el plan concentra sus inspecciones en ≤ 250 h</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II, ecuación (5); Cap. IV, 4.1 (MTBF base y figuras de confiabilidad por equipo). Curvas y R(200 h): cálculo propio con el modelo exponencial.</a:t>
            </a:r>
            <a:endParaRPr lang="en-US" sz="900" dirty="0"/>
          </a:p>
        </p:txBody>
      </p:sp>
      <p:sp>
        <p:nvSpPr>
          <p:cNvPr id="9" name="Etiqueta PROBABILIDAD DE OPERAR t"/>
          <p:cNvSpPr txBox="1"/>
          <p:nvPr/>
        </p:nvSpPr>
        <p:spPr>
          <a:xfrm>
            <a:off x="457200" y="1874520"/>
            <a:ext cx="52120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PROBABILIDAD DE OPERAR t HORAS SIN FALLAR</a:t>
            </a:r>
            <a:endParaRPr lang="en-US" sz="1100" dirty="0"/>
          </a:p>
        </p:txBody>
      </p:sp>
      <p:graphicFrame>
        <p:nvGraphicFramePr>
          <p:cNvPr id="10" name="Gráfico confiabilidad" descr="Curvas de confiabilidad exponencial de tres grupos: GI500-16 R(200 h) = 25 %, GI500-19 R(200 h) = 44 %, GI500-20 R(200 h) = 27 %"/>
          <p:cNvGraphicFramePr/>
          <p:nvPr/>
        </p:nvGraphicFramePr>
        <p:xfrm>
          <a:off x="320040" y="2103120"/>
          <a:ext cx="5349240" cy="3794760"/>
        </p:xfrm>
        <a:graphic xmlns:a="http://schemas.openxmlformats.org/drawingml/2006/main">
          <a:graphicData uri="http://schemas.openxmlformats.org/drawingml/2006/chart">
            <c:chart xmlns:c="http://schemas.openxmlformats.org/drawingml/2006/chart" r:id="rId2"/>
          </a:graphicData>
        </a:graphic>
      </p:graphicFrame>
      <p:sp>
        <p:nvSpPr>
          <p:cNvPr id="11" name="Etiqueta R(200 h) POR EQUIPO"/>
          <p:cNvSpPr txBox="1"/>
          <p:nvPr/>
        </p:nvSpPr>
        <p:spPr>
          <a:xfrm>
            <a:off x="5943600" y="1874520"/>
            <a:ext cx="27432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R(200 h) POR EQUIPO</a:t>
            </a:r>
            <a:endParaRPr lang="en-US" sz="1100" dirty="0"/>
          </a:p>
        </p:txBody>
      </p:sp>
      <p:sp>
        <p:nvSpPr>
          <p:cNvPr id="12" name="GI500-16 tarjeta"/>
          <p:cNvSpPr/>
          <p:nvPr/>
        </p:nvSpPr>
        <p:spPr>
          <a:xfrm>
            <a:off x="5943600" y="2148840"/>
            <a:ext cx="2743200" cy="859536"/>
          </a:xfrm>
          <a:prstGeom prst="roundRect">
            <a:avLst>
              <a:gd name="adj" fmla="val 7447"/>
            </a:avLst>
          </a:prstGeom>
          <a:solidFill>
            <a:srgbClr val="FDF1E1"/>
          </a:solidFill>
          <a:ln w="15875">
            <a:solidFill>
              <a:srgbClr val="B45309"/>
            </a:solidFill>
            <a:prstDash val="solid"/>
          </a:ln>
        </p:spPr>
      </p:sp>
      <p:sp>
        <p:nvSpPr>
          <p:cNvPr id="13" name="GI500-16 cifra"/>
          <p:cNvSpPr txBox="1"/>
          <p:nvPr/>
        </p:nvSpPr>
        <p:spPr>
          <a:xfrm>
            <a:off x="6080760" y="2194560"/>
            <a:ext cx="1051560" cy="768096"/>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25 %</a:t>
            </a:r>
            <a:endParaRPr lang="en-US" sz="2600" dirty="0"/>
          </a:p>
        </p:txBody>
      </p:sp>
      <p:sp>
        <p:nvSpPr>
          <p:cNvPr id="14" name="GI500-16 detalle"/>
          <p:cNvSpPr txBox="1"/>
          <p:nvPr/>
        </p:nvSpPr>
        <p:spPr>
          <a:xfrm>
            <a:off x="7178040" y="2194560"/>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GI500-16</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145,3 h · 43 fallas</a:t>
            </a:r>
            <a:endParaRPr lang="en-US" sz="1050" dirty="0"/>
          </a:p>
        </p:txBody>
      </p:sp>
      <p:sp>
        <p:nvSpPr>
          <p:cNvPr id="15" name="GI500-19 tarjeta"/>
          <p:cNvSpPr/>
          <p:nvPr/>
        </p:nvSpPr>
        <p:spPr>
          <a:xfrm>
            <a:off x="5943600" y="3118104"/>
            <a:ext cx="2743200" cy="859536"/>
          </a:xfrm>
          <a:prstGeom prst="roundRect">
            <a:avLst>
              <a:gd name="adj" fmla="val 7447"/>
            </a:avLst>
          </a:prstGeom>
          <a:solidFill>
            <a:srgbClr val="EEF2FA"/>
          </a:solidFill>
          <a:ln w="9525">
            <a:solidFill>
              <a:srgbClr val="EEF2FA"/>
            </a:solidFill>
            <a:prstDash val="solid"/>
          </a:ln>
        </p:spPr>
      </p:sp>
      <p:sp>
        <p:nvSpPr>
          <p:cNvPr id="16" name="GI500-19 cifra"/>
          <p:cNvSpPr txBox="1"/>
          <p:nvPr/>
        </p:nvSpPr>
        <p:spPr>
          <a:xfrm>
            <a:off x="6080760" y="3163824"/>
            <a:ext cx="1051560" cy="768096"/>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44 %</a:t>
            </a:r>
            <a:endParaRPr lang="en-US" sz="2600" dirty="0"/>
          </a:p>
        </p:txBody>
      </p:sp>
      <p:sp>
        <p:nvSpPr>
          <p:cNvPr id="17" name="GI500-19 detalle"/>
          <p:cNvSpPr txBox="1"/>
          <p:nvPr/>
        </p:nvSpPr>
        <p:spPr>
          <a:xfrm>
            <a:off x="7178040" y="3163824"/>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GI500-19</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245,0 h · 49 fallas</a:t>
            </a:r>
            <a:endParaRPr lang="en-US" sz="1050" dirty="0"/>
          </a:p>
        </p:txBody>
      </p:sp>
      <p:sp>
        <p:nvSpPr>
          <p:cNvPr id="18" name="GI500-20 tarjeta"/>
          <p:cNvSpPr/>
          <p:nvPr/>
        </p:nvSpPr>
        <p:spPr>
          <a:xfrm>
            <a:off x="5943600" y="4087368"/>
            <a:ext cx="2743200" cy="859536"/>
          </a:xfrm>
          <a:prstGeom prst="roundRect">
            <a:avLst>
              <a:gd name="adj" fmla="val 7447"/>
            </a:avLst>
          </a:prstGeom>
          <a:solidFill>
            <a:srgbClr val="EEF2FA"/>
          </a:solidFill>
          <a:ln w="9525">
            <a:solidFill>
              <a:srgbClr val="EEF2FA"/>
            </a:solidFill>
            <a:prstDash val="solid"/>
          </a:ln>
        </p:spPr>
      </p:sp>
      <p:sp>
        <p:nvSpPr>
          <p:cNvPr id="19" name="GI500-20 cifra"/>
          <p:cNvSpPr txBox="1"/>
          <p:nvPr/>
        </p:nvSpPr>
        <p:spPr>
          <a:xfrm>
            <a:off x="6080760" y="4133088"/>
            <a:ext cx="1051560" cy="768096"/>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27 %</a:t>
            </a:r>
            <a:endParaRPr lang="en-US" sz="2600" dirty="0"/>
          </a:p>
        </p:txBody>
      </p:sp>
      <p:sp>
        <p:nvSpPr>
          <p:cNvPr id="20" name="GI500-20 detalle"/>
          <p:cNvSpPr txBox="1"/>
          <p:nvPr/>
        </p:nvSpPr>
        <p:spPr>
          <a:xfrm>
            <a:off x="7178040" y="4133088"/>
            <a:ext cx="1463040" cy="768096"/>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GI500-20</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MTBF 152,8 h · 21 fallas</a:t>
            </a:r>
            <a:endParaRPr lang="en-US" sz="1050" dirty="0"/>
          </a:p>
        </p:txBody>
      </p:sp>
      <p:sp>
        <p:nvSpPr>
          <p:cNvPr id="21" name="Lectura fondo"/>
          <p:cNvSpPr/>
          <p:nvPr/>
        </p:nvSpPr>
        <p:spPr>
          <a:xfrm>
            <a:off x="5943600" y="5102352"/>
            <a:ext cx="2743200" cy="795528"/>
          </a:xfrm>
          <a:prstGeom prst="roundRect">
            <a:avLst>
              <a:gd name="adj" fmla="val 8046"/>
            </a:avLst>
          </a:prstGeom>
          <a:solidFill>
            <a:srgbClr val="FFFFFF"/>
          </a:solidFill>
          <a:ln w="9525">
            <a:solidFill>
              <a:srgbClr val="CBD5E1"/>
            </a:solidFill>
            <a:prstDash val="solid"/>
          </a:ln>
        </p:spPr>
      </p:sp>
      <p:sp>
        <p:nvSpPr>
          <p:cNvPr id="22" name="Lectura texto"/>
          <p:cNvSpPr txBox="1"/>
          <p:nvPr/>
        </p:nvSpPr>
        <p:spPr>
          <a:xfrm>
            <a:off x="6053328" y="5138928"/>
            <a:ext cx="2560320" cy="731520"/>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Coincide con las curvas de la tesis: ≈ 30 % (GI500-16), &lt; 50 % (GI500-19) y &lt; 30 % (GI500-20) a 200 h.</a:t>
            </a:r>
            <a:endParaRPr lang="en-US" sz="950" dirty="0"/>
          </a:p>
        </p:txBody>
      </p:sp>
      <p:sp>
        <p:nvSpPr>
          <p:cNvPr id="23"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APLICACIÓN DEL RCM · AMEF DEL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7 de los 8 modos de falla del generador superan NPR 180: la excitación es el punto débil</a:t>
            </a:r>
            <a:endParaRPr lang="en-US" sz="24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AMEF del generador Stamford: 2 subsistemas · 5 funciones · 5 fallas funcionales · 8 modos de falla</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 D = 5 en los 8 modos, mejorar la detección baja todos los NPR del generador a la vez</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«AMEF del sistema Generador (alternador)» y tabla «Matriz del NPR». Textos resumidos; conteos: cálculo propio.</a:t>
            </a:r>
            <a:endParaRPr lang="en-US" sz="900" dirty="0"/>
          </a:p>
        </p:txBody>
      </p:sp>
      <p:sp>
        <p:nvSpPr>
          <p:cNvPr id="9" name="Etiqueta CÓMO SE LEE UNA FILA · E"/>
          <p:cNvSpPr txBox="1"/>
          <p:nvPr/>
        </p:nvSpPr>
        <p:spPr>
          <a:xfrm>
            <a:off x="457200" y="18288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LEE UNA FILA · EL MODO DE MAYOR NPR</a:t>
            </a:r>
            <a:endParaRPr lang="en-US" sz="1100" dirty="0"/>
          </a:p>
        </p:txBody>
      </p:sp>
      <p:sp>
        <p:nvSpPr>
          <p:cNvPr id="10" name="Cadena 1 fondo"/>
          <p:cNvSpPr/>
          <p:nvPr/>
        </p:nvSpPr>
        <p:spPr>
          <a:xfrm>
            <a:off x="457200" y="2084832"/>
            <a:ext cx="1517904" cy="1005840"/>
          </a:xfrm>
          <a:prstGeom prst="roundRect">
            <a:avLst>
              <a:gd name="adj" fmla="val 6364"/>
            </a:avLst>
          </a:prstGeom>
          <a:solidFill>
            <a:srgbClr val="EEF2FA"/>
          </a:solidFill>
          <a:ln w="9525">
            <a:solidFill>
              <a:srgbClr val="EEF2FA"/>
            </a:solidFill>
            <a:prstDash val="solid"/>
          </a:ln>
        </p:spPr>
      </p:sp>
      <p:sp>
        <p:nvSpPr>
          <p:cNvPr id="11" name="Cadena 1 etiqueta"/>
          <p:cNvSpPr txBox="1"/>
          <p:nvPr/>
        </p:nvSpPr>
        <p:spPr>
          <a:xfrm>
            <a:off x="548640"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FUNCIÓN 1</a:t>
            </a:r>
            <a:endParaRPr lang="en-US" sz="950" dirty="0"/>
          </a:p>
        </p:txBody>
      </p:sp>
      <p:sp>
        <p:nvSpPr>
          <p:cNvPr id="12" name="Cadena 1 texto"/>
          <p:cNvSpPr txBox="1"/>
          <p:nvPr/>
        </p:nvSpPr>
        <p:spPr>
          <a:xfrm>
            <a:off x="548640"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Proteger diodos rotativos y varistores contra picos de tensión</a:t>
            </a:r>
            <a:endParaRPr lang="en-US" sz="950" dirty="0"/>
          </a:p>
        </p:txBody>
      </p:sp>
      <p:sp>
        <p:nvSpPr>
          <p:cNvPr id="13" name="Cadena 1 flecha"/>
          <p:cNvSpPr/>
          <p:nvPr/>
        </p:nvSpPr>
        <p:spPr>
          <a:xfrm>
            <a:off x="2002536" y="2587752"/>
            <a:ext cx="128016" cy="0"/>
          </a:xfrm>
          <a:prstGeom prst="line">
            <a:avLst/>
          </a:prstGeom>
          <a:noFill/>
          <a:ln w="15875">
            <a:solidFill>
              <a:srgbClr val="64748B"/>
            </a:solidFill>
            <a:prstDash val="solid"/>
            <a:tailEnd type="triangle"/>
          </a:ln>
        </p:spPr>
      </p:sp>
      <p:sp>
        <p:nvSpPr>
          <p:cNvPr id="14" name="Cadena 2 fondo"/>
          <p:cNvSpPr/>
          <p:nvPr/>
        </p:nvSpPr>
        <p:spPr>
          <a:xfrm>
            <a:off x="2157984" y="2084832"/>
            <a:ext cx="1517904" cy="1005840"/>
          </a:xfrm>
          <a:prstGeom prst="roundRect">
            <a:avLst>
              <a:gd name="adj" fmla="val 6364"/>
            </a:avLst>
          </a:prstGeom>
          <a:solidFill>
            <a:srgbClr val="EEF2FA"/>
          </a:solidFill>
          <a:ln w="9525">
            <a:solidFill>
              <a:srgbClr val="EEF2FA"/>
            </a:solidFill>
            <a:prstDash val="solid"/>
          </a:ln>
        </p:spPr>
      </p:sp>
      <p:sp>
        <p:nvSpPr>
          <p:cNvPr id="15" name="Cadena 2 etiqueta"/>
          <p:cNvSpPr txBox="1"/>
          <p:nvPr/>
        </p:nvSpPr>
        <p:spPr>
          <a:xfrm>
            <a:off x="2249424"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FALLA FUNCIONAL A</a:t>
            </a:r>
            <a:endParaRPr lang="en-US" sz="950" dirty="0"/>
          </a:p>
        </p:txBody>
      </p:sp>
      <p:sp>
        <p:nvSpPr>
          <p:cNvPr id="16" name="Cadena 2 texto"/>
          <p:cNvSpPr txBox="1"/>
          <p:nvPr/>
        </p:nvSpPr>
        <p:spPr>
          <a:xfrm>
            <a:off x="2249424"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Varistores o diodos no protegen contra picos o inversión de polaridad</a:t>
            </a:r>
            <a:endParaRPr lang="en-US" sz="950" dirty="0"/>
          </a:p>
        </p:txBody>
      </p:sp>
      <p:sp>
        <p:nvSpPr>
          <p:cNvPr id="17" name="Cadena 2 flecha"/>
          <p:cNvSpPr/>
          <p:nvPr/>
        </p:nvSpPr>
        <p:spPr>
          <a:xfrm>
            <a:off x="3703320" y="2587752"/>
            <a:ext cx="128016" cy="0"/>
          </a:xfrm>
          <a:prstGeom prst="line">
            <a:avLst/>
          </a:prstGeom>
          <a:noFill/>
          <a:ln w="15875">
            <a:solidFill>
              <a:srgbClr val="64748B"/>
            </a:solidFill>
            <a:prstDash val="solid"/>
            <a:tailEnd type="triangle"/>
          </a:ln>
        </p:spPr>
      </p:sp>
      <p:sp>
        <p:nvSpPr>
          <p:cNvPr id="18" name="Cadena 3 fondo"/>
          <p:cNvSpPr/>
          <p:nvPr/>
        </p:nvSpPr>
        <p:spPr>
          <a:xfrm>
            <a:off x="3858768" y="2084832"/>
            <a:ext cx="1517904" cy="1005840"/>
          </a:xfrm>
          <a:prstGeom prst="roundRect">
            <a:avLst>
              <a:gd name="adj" fmla="val 6364"/>
            </a:avLst>
          </a:prstGeom>
          <a:solidFill>
            <a:srgbClr val="EEF2FA"/>
          </a:solidFill>
          <a:ln w="9525">
            <a:solidFill>
              <a:srgbClr val="EEF2FA"/>
            </a:solidFill>
            <a:prstDash val="solid"/>
          </a:ln>
        </p:spPr>
      </p:sp>
      <p:sp>
        <p:nvSpPr>
          <p:cNvPr id="19" name="Cadena 3 etiqueta"/>
          <p:cNvSpPr txBox="1"/>
          <p:nvPr/>
        </p:nvSpPr>
        <p:spPr>
          <a:xfrm>
            <a:off x="3950208"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MODO DE FALLA 1</a:t>
            </a:r>
            <a:endParaRPr lang="en-US" sz="950" dirty="0"/>
          </a:p>
        </p:txBody>
      </p:sp>
      <p:sp>
        <p:nvSpPr>
          <p:cNvPr id="20" name="Cadena 3 texto"/>
          <p:cNvSpPr txBox="1"/>
          <p:nvPr/>
        </p:nvSpPr>
        <p:spPr>
          <a:xfrm>
            <a:off x="3950208"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Varistor en cortocircuito por descarga transitoria</a:t>
            </a:r>
            <a:endParaRPr lang="en-US" sz="950" dirty="0"/>
          </a:p>
        </p:txBody>
      </p:sp>
      <p:sp>
        <p:nvSpPr>
          <p:cNvPr id="21" name="Cadena 3 flecha"/>
          <p:cNvSpPr/>
          <p:nvPr/>
        </p:nvSpPr>
        <p:spPr>
          <a:xfrm>
            <a:off x="5404104" y="2587752"/>
            <a:ext cx="128016" cy="0"/>
          </a:xfrm>
          <a:prstGeom prst="line">
            <a:avLst/>
          </a:prstGeom>
          <a:noFill/>
          <a:ln w="15875">
            <a:solidFill>
              <a:srgbClr val="64748B"/>
            </a:solidFill>
            <a:prstDash val="solid"/>
            <a:tailEnd type="triangle"/>
          </a:ln>
        </p:spPr>
      </p:sp>
      <p:sp>
        <p:nvSpPr>
          <p:cNvPr id="22" name="Cadena 4 fondo"/>
          <p:cNvSpPr/>
          <p:nvPr/>
        </p:nvSpPr>
        <p:spPr>
          <a:xfrm>
            <a:off x="5559552" y="2084832"/>
            <a:ext cx="1517904" cy="1005840"/>
          </a:xfrm>
          <a:prstGeom prst="roundRect">
            <a:avLst>
              <a:gd name="adj" fmla="val 6364"/>
            </a:avLst>
          </a:prstGeom>
          <a:solidFill>
            <a:srgbClr val="EEF2FA"/>
          </a:solidFill>
          <a:ln w="9525">
            <a:solidFill>
              <a:srgbClr val="EEF2FA"/>
            </a:solidFill>
            <a:prstDash val="solid"/>
          </a:ln>
        </p:spPr>
      </p:sp>
      <p:sp>
        <p:nvSpPr>
          <p:cNvPr id="23" name="Cadena 4 etiqueta"/>
          <p:cNvSpPr txBox="1"/>
          <p:nvPr/>
        </p:nvSpPr>
        <p:spPr>
          <a:xfrm>
            <a:off x="5650992" y="2148840"/>
            <a:ext cx="1335024" cy="201168"/>
          </a:xfrm>
          <a:prstGeom prst="rect">
            <a:avLst/>
          </a:prstGeom>
          <a:noFill/>
          <a:ln/>
        </p:spPr>
        <p:txBody>
          <a:bodyPr wrap="square" lIns="0" tIns="0" rIns="0" bIns="0" rtlCol="0" anchor="t"/>
          <a:lstStyle/>
          <a:p>
            <a:pPr indent="0" marL="0">
              <a:buNone/>
            </a:pPr>
            <a:r>
              <a:rPr lang="en-US" sz="950" b="1" dirty="0">
                <a:solidFill>
                  <a:srgbClr val="1E3A8A"/>
                </a:solidFill>
                <a:latin typeface="Calibri" pitchFamily="34" charset="0"/>
                <a:ea typeface="Calibri" pitchFamily="34" charset="-122"/>
                <a:cs typeface="Calibri" pitchFamily="34" charset="-120"/>
              </a:rPr>
              <a:t>EFECTO</a:t>
            </a:r>
            <a:endParaRPr lang="en-US" sz="950" dirty="0"/>
          </a:p>
        </p:txBody>
      </p:sp>
      <p:sp>
        <p:nvSpPr>
          <p:cNvPr id="24" name="Cadena 4 texto"/>
          <p:cNvSpPr txBox="1"/>
          <p:nvPr/>
        </p:nvSpPr>
        <p:spPr>
          <a:xfrm>
            <a:off x="5650992" y="2359152"/>
            <a:ext cx="1335024" cy="6949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Se quema el varistor; riesgo de daño en diodos del rotor y tarjeta AVR</a:t>
            </a:r>
            <a:endParaRPr lang="en-US" sz="950" dirty="0"/>
          </a:p>
        </p:txBody>
      </p:sp>
      <p:sp>
        <p:nvSpPr>
          <p:cNvPr id="25" name="Cadena 4 flecha"/>
          <p:cNvSpPr/>
          <p:nvPr/>
        </p:nvSpPr>
        <p:spPr>
          <a:xfrm>
            <a:off x="7104888" y="2587752"/>
            <a:ext cx="128016" cy="0"/>
          </a:xfrm>
          <a:prstGeom prst="line">
            <a:avLst/>
          </a:prstGeom>
          <a:noFill/>
          <a:ln w="15875">
            <a:solidFill>
              <a:srgbClr val="64748B"/>
            </a:solidFill>
            <a:prstDash val="solid"/>
            <a:tailEnd type="triangle"/>
          </a:ln>
        </p:spPr>
      </p:sp>
      <p:sp>
        <p:nvSpPr>
          <p:cNvPr id="26" name="NPR fondo"/>
          <p:cNvSpPr/>
          <p:nvPr/>
        </p:nvSpPr>
        <p:spPr>
          <a:xfrm>
            <a:off x="7260336" y="2084832"/>
            <a:ext cx="1426464" cy="1005840"/>
          </a:xfrm>
          <a:prstGeom prst="roundRect">
            <a:avLst>
              <a:gd name="adj" fmla="val 6364"/>
            </a:avLst>
          </a:prstGeom>
          <a:solidFill>
            <a:srgbClr val="FDF1E1"/>
          </a:solidFill>
          <a:ln w="15875">
            <a:solidFill>
              <a:srgbClr val="B45309"/>
            </a:solidFill>
            <a:prstDash val="solid"/>
          </a:ln>
        </p:spPr>
      </p:sp>
      <p:sp>
        <p:nvSpPr>
          <p:cNvPr id="27" name="NPR etiqueta"/>
          <p:cNvSpPr txBox="1"/>
          <p:nvPr/>
        </p:nvSpPr>
        <p:spPr>
          <a:xfrm>
            <a:off x="7351776" y="2148840"/>
            <a:ext cx="1243584" cy="201168"/>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NPR = S × O × D</a:t>
            </a:r>
            <a:endParaRPr lang="en-US" sz="950" dirty="0"/>
          </a:p>
        </p:txBody>
      </p:sp>
      <p:sp>
        <p:nvSpPr>
          <p:cNvPr id="28" name="NPR cifra"/>
          <p:cNvSpPr txBox="1"/>
          <p:nvPr/>
        </p:nvSpPr>
        <p:spPr>
          <a:xfrm>
            <a:off x="7351776" y="2340864"/>
            <a:ext cx="1243584" cy="420624"/>
          </a:xfrm>
          <a:prstGeom prst="rect">
            <a:avLst/>
          </a:prstGeom>
          <a:noFill/>
          <a:ln/>
        </p:spPr>
        <p:txBody>
          <a:bodyPr wrap="square" lIns="0" tIns="0" rIns="0" bIns="0" rtlCol="0" anchor="ctr"/>
          <a:lstStyle/>
          <a:p>
            <a:pPr indent="0" marL="0">
              <a:buNone/>
            </a:pPr>
            <a:r>
              <a:rPr lang="en-US" sz="2800" b="1" dirty="0">
                <a:solidFill>
                  <a:srgbClr val="B45309"/>
                </a:solidFill>
                <a:latin typeface="Calibri" pitchFamily="34" charset="0"/>
                <a:ea typeface="Calibri" pitchFamily="34" charset="-122"/>
                <a:cs typeface="Calibri" pitchFamily="34" charset="-120"/>
              </a:rPr>
              <a:t>280</a:t>
            </a:r>
            <a:endParaRPr lang="en-US" sz="2800" dirty="0"/>
          </a:p>
        </p:txBody>
      </p:sp>
      <p:sp>
        <p:nvSpPr>
          <p:cNvPr id="29" name="NPR detalle"/>
          <p:cNvSpPr txBox="1"/>
          <p:nvPr/>
        </p:nvSpPr>
        <p:spPr>
          <a:xfrm>
            <a:off x="7351776" y="2779776"/>
            <a:ext cx="1243584" cy="23774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S 7 × O 8 × D 5</a:t>
            </a:r>
            <a:endParaRPr lang="en-US" sz="950" dirty="0"/>
          </a:p>
        </p:txBody>
      </p:sp>
      <p:sp>
        <p:nvSpPr>
          <p:cNvPr id="30" name="Etiqueta LOS 8 MODOS DE FALLA DEL"/>
          <p:cNvSpPr txBox="1"/>
          <p:nvPr/>
        </p:nvSpPr>
        <p:spPr>
          <a:xfrm>
            <a:off x="457200" y="3246120"/>
            <a:ext cx="55778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LOS 8 MODOS DE FALLA DEL GENERADOR</a:t>
            </a:r>
            <a:endParaRPr lang="en-US" sz="1100" dirty="0"/>
          </a:p>
        </p:txBody>
      </p:sp>
      <p:graphicFrame>
        <p:nvGraphicFramePr>
          <p:cNvPr id="24" name="Tabla modos del generador"/>
          <p:cNvGraphicFramePr>
            <a:graphicFrameLocks noGrp="1"/>
          </p:cNvGraphicFramePr>
          <p:nvPr>
            <p:extLst>
              <p:ext uri="{D42A27DB-BD31-4B8C-83A1-F6EECF244321}">
                <p14:modId xmlns:p14="http://schemas.microsoft.com/office/powerpoint/2010/main" val="1579011935"/>
              </p:ext>
            </p:extLst>
          </p:nvPr>
        </p:nvGraphicFramePr>
        <p:xfrm>
          <a:off x="457200" y="3502152"/>
          <a:ext cx="5577840" cy="914400"/>
        </p:xfrm>
        <a:graphic>
          <a:graphicData uri="http://schemas.openxmlformats.org/drawingml/2006/table">
            <a:tbl>
              <a:tblPr/>
              <a:tblGrid>
                <a:gridCol w="502920"/>
                <a:gridCol w="2697480"/>
                <a:gridCol w="1051560"/>
                <a:gridCol w="777240"/>
                <a:gridCol w="548640"/>
              </a:tblGrid>
              <a:tr h="26517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 de falla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Subsistema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 × O × D</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NPR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Varistor en cortocircuito por descarga transitoria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45309"/>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Diodos rotativos abiertos o en corto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Corrosión por humedad en pines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6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Sulfatación por condensación (HR &gt; 95 %)</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6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210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Falla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8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45309"/>
                          </a:solidFill>
                          <a:latin typeface="Calibri" pitchFamily="34" charset="0"/>
                          <a:ea typeface="Calibri" pitchFamily="34" charset="-122"/>
                          <a:cs typeface="Calibri" pitchFamily="34" charset="-120"/>
                        </a:rPr>
                        <a:t>280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dirty="0">
                          <a:solidFill>
                            <a:srgbClr val="64748B"/>
                          </a:solidFill>
                          <a:latin typeface="Calibri" pitchFamily="34" charset="0"/>
                          <a:ea typeface="Calibri" pitchFamily="34" charset="-122"/>
                          <a:cs typeface="Calibri" pitchFamily="34" charset="-120"/>
                        </a:rPr>
                        <a:t>Bobinado de excitación abierto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00" dirty="0">
                          <a:solidFill>
                            <a:srgbClr val="64748B"/>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64748B"/>
                          </a:solidFill>
                          <a:latin typeface="Calibri" pitchFamily="34" charset="0"/>
                          <a:ea typeface="Calibri" pitchFamily="34" charset="-122"/>
                          <a:cs typeface="Calibri" pitchFamily="34" charset="-120"/>
                        </a:rPr>
                        <a:t>7 × 1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b="1" dirty="0">
                          <a:solidFill>
                            <a:srgbClr val="64748B"/>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Interrupción en el puente de diodos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Excitación</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7 × 7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Daño estructural interno (aflojamiento, aislamiento)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Electromecánico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8 × 6 × 5</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3A8A"/>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32" name="Cifra 1 tarjeta"/>
          <p:cNvSpPr/>
          <p:nvPr/>
        </p:nvSpPr>
        <p:spPr>
          <a:xfrm>
            <a:off x="6263640" y="3502152"/>
            <a:ext cx="2423160" cy="1143000"/>
          </a:xfrm>
          <a:prstGeom prst="roundRect">
            <a:avLst>
              <a:gd name="adj" fmla="val 5600"/>
            </a:avLst>
          </a:prstGeom>
          <a:solidFill>
            <a:srgbClr val="FDF1E1"/>
          </a:solidFill>
          <a:ln w="15875">
            <a:solidFill>
              <a:srgbClr val="B45309"/>
            </a:solidFill>
            <a:prstDash val="solid"/>
          </a:ln>
        </p:spPr>
      </p:sp>
      <p:sp>
        <p:nvSpPr>
          <p:cNvPr id="33" name="Cifra 1 cifra"/>
          <p:cNvSpPr txBox="1"/>
          <p:nvPr/>
        </p:nvSpPr>
        <p:spPr>
          <a:xfrm>
            <a:off x="6400800" y="3575304"/>
            <a:ext cx="2194560" cy="45720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7 de 8</a:t>
            </a:r>
            <a:endParaRPr lang="en-US" sz="2600" dirty="0"/>
          </a:p>
        </p:txBody>
      </p:sp>
      <p:sp>
        <p:nvSpPr>
          <p:cNvPr id="34" name="Cifra 1 etiqueta"/>
          <p:cNvSpPr txBox="1"/>
          <p:nvPr/>
        </p:nvSpPr>
        <p:spPr>
          <a:xfrm>
            <a:off x="6400800" y="4050792"/>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modos sobre NPR 180</a:t>
            </a:r>
            <a:endParaRPr lang="en-US" sz="1100" dirty="0"/>
          </a:p>
        </p:txBody>
      </p:sp>
      <p:sp>
        <p:nvSpPr>
          <p:cNvPr id="35" name="Cifra 1 detalle"/>
          <p:cNvSpPr txBox="1"/>
          <p:nvPr/>
        </p:nvSpPr>
        <p:spPr>
          <a:xfrm>
            <a:off x="6400800" y="4279392"/>
            <a:ext cx="2194560" cy="32918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6 de los 7 de excitación (AVR, diodos y varistor)</a:t>
            </a:r>
            <a:endParaRPr lang="en-US" sz="950" dirty="0"/>
          </a:p>
        </p:txBody>
      </p:sp>
      <p:sp>
        <p:nvSpPr>
          <p:cNvPr id="36" name="Cifra 2 tarjeta"/>
          <p:cNvSpPr/>
          <p:nvPr/>
        </p:nvSpPr>
        <p:spPr>
          <a:xfrm>
            <a:off x="6263640" y="4754880"/>
            <a:ext cx="2423160" cy="1143000"/>
          </a:xfrm>
          <a:prstGeom prst="roundRect">
            <a:avLst>
              <a:gd name="adj" fmla="val 5600"/>
            </a:avLst>
          </a:prstGeom>
          <a:solidFill>
            <a:srgbClr val="EEF2FA"/>
          </a:solidFill>
          <a:ln w="9525">
            <a:solidFill>
              <a:srgbClr val="EEF2FA"/>
            </a:solidFill>
            <a:prstDash val="solid"/>
          </a:ln>
        </p:spPr>
      </p:sp>
      <p:sp>
        <p:nvSpPr>
          <p:cNvPr id="37" name="Cifra 2 cifra"/>
          <p:cNvSpPr txBox="1"/>
          <p:nvPr/>
        </p:nvSpPr>
        <p:spPr>
          <a:xfrm>
            <a:off x="6400800" y="4828032"/>
            <a:ext cx="2194560" cy="45720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D = 5</a:t>
            </a:r>
            <a:endParaRPr lang="en-US" sz="2600" dirty="0"/>
          </a:p>
        </p:txBody>
      </p:sp>
      <p:sp>
        <p:nvSpPr>
          <p:cNvPr id="38" name="Cifra 2 etiqueta"/>
          <p:cNvSpPr txBox="1"/>
          <p:nvPr/>
        </p:nvSpPr>
        <p:spPr>
          <a:xfrm>
            <a:off x="6400800" y="5303520"/>
            <a:ext cx="219456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en los 8 modos</a:t>
            </a:r>
            <a:endParaRPr lang="en-US" sz="1100" dirty="0"/>
          </a:p>
        </p:txBody>
      </p:sp>
      <p:sp>
        <p:nvSpPr>
          <p:cNvPr id="39" name="Cifra 2 detalle"/>
          <p:cNvSpPr txBox="1"/>
          <p:nvPr/>
        </p:nvSpPr>
        <p:spPr>
          <a:xfrm>
            <a:off x="6400800" y="5532120"/>
            <a:ext cx="2194560" cy="32918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«posible detección, baja»: se descubren tarde</a:t>
            </a:r>
            <a:endParaRPr lang="en-US" sz="950" dirty="0"/>
          </a:p>
        </p:txBody>
      </p:sp>
      <p:sp>
        <p:nvSpPr>
          <p:cNvPr id="40"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ÁRBOL DE DECISIONES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Motor diésel: 39 de 67 modos a condición; la refrigeración se controla con limpiezas cíclicas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tareas cíclicas se concentran en el paquete térmico y en consumibles de arranque (fusibles, calefactores)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Anexo — árbol de decisiones RCM del sistema motor diésel (67 modos). Agrupación por subsistema según el AMEF (funciones 1–20) y clasificación por tipo de tarea: cálculo propio.</a:t>
            </a:r>
            <a:endParaRPr lang="en-US" sz="900" dirty="0"/>
          </a:p>
        </p:txBody>
      </p:sp>
      <p:sp>
        <p:nvSpPr>
          <p:cNvPr id="8" name="Etiqueta TAREA ASIGNADA POR SUBSI"/>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TAREA ASIGNADA POR SUBSISTEMA (N.° DE MODOS)</a:t>
            </a:r>
            <a:endParaRPr lang="en-US" sz="1100" dirty="0"/>
          </a:p>
        </p:txBody>
      </p:sp>
      <p:graphicFrame>
        <p:nvGraphicFramePr>
          <p:cNvPr id="9" name="Gráfico tareas por subsistema" descr="Barras apiladas de tipo de tarea por subsistema del motor: Admisión de aire: 11/1/7/0; Lubricación: 11/1/1/1; Combustible: 11/0/1/2; Refrigeración: 2/8/0/1; Control (EMS2): 4/1/3/1"/>
          <p:cNvGraphicFramePr/>
          <p:nvPr/>
        </p:nvGraphicFramePr>
        <p:xfrm>
          <a:off x="320040" y="1828800"/>
          <a:ext cx="5303520" cy="4069080"/>
        </p:xfrm>
        <a:graphic xmlns:a="http://schemas.openxmlformats.org/drawingml/2006/main">
          <a:graphicData uri="http://schemas.openxmlformats.org/drawingml/2006/chart">
            <c:chart xmlns:c="http://schemas.openxmlformats.org/drawingml/2006/chart" r:id="rId2"/>
          </a:graphicData>
        </a:graphic>
      </p:graphicFrame>
      <p:sp>
        <p:nvSpPr>
          <p:cNvPr id="10" name="Etiqueta DECISIÓN EN LOS MAYORES "/>
          <p:cNvSpPr txBox="1"/>
          <p:nvPr/>
        </p:nvSpPr>
        <p:spPr>
          <a:xfrm>
            <a:off x="5852160" y="1600200"/>
            <a:ext cx="2834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DECISIÓN EN LOS MAYORES NPR</a:t>
            </a:r>
            <a:endParaRPr lang="en-US" sz="1100" dirty="0"/>
          </a:p>
        </p:txBody>
      </p:sp>
      <p:sp>
        <p:nvSpPr>
          <p:cNvPr id="11" name="Ejemplo 1 fondo"/>
          <p:cNvSpPr/>
          <p:nvPr/>
        </p:nvSpPr>
        <p:spPr>
          <a:xfrm>
            <a:off x="5852160" y="1856232"/>
            <a:ext cx="2834640" cy="914400"/>
          </a:xfrm>
          <a:prstGeom prst="roundRect">
            <a:avLst>
              <a:gd name="adj" fmla="val 7000"/>
            </a:avLst>
          </a:prstGeom>
          <a:solidFill>
            <a:srgbClr val="FDF1E1"/>
          </a:solidFill>
          <a:ln w="12700">
            <a:solidFill>
              <a:srgbClr val="B45309"/>
            </a:solidFill>
            <a:prstDash val="solid"/>
          </a:ln>
        </p:spPr>
      </p:sp>
      <p:sp>
        <p:nvSpPr>
          <p:cNvPr id="12" name="Ejemplo 1 NPR"/>
          <p:cNvSpPr txBox="1"/>
          <p:nvPr/>
        </p:nvSpPr>
        <p:spPr>
          <a:xfrm>
            <a:off x="5925312" y="1911096"/>
            <a:ext cx="502920" cy="310896"/>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336</a:t>
            </a:r>
            <a:endParaRPr lang="en-US" sz="1500" dirty="0"/>
          </a:p>
        </p:txBody>
      </p:sp>
      <p:sp>
        <p:nvSpPr>
          <p:cNvPr id="13" name="Ejemplo 1 modo"/>
          <p:cNvSpPr txBox="1"/>
          <p:nvPr/>
        </p:nvSpPr>
        <p:spPr>
          <a:xfrm>
            <a:off x="6446520" y="191109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9B1 · Filtro de combustible fuera de especificación</a:t>
            </a:r>
            <a:endParaRPr lang="en-US" sz="950" dirty="0"/>
          </a:p>
        </p:txBody>
      </p:sp>
      <p:sp>
        <p:nvSpPr>
          <p:cNvPr id="14" name="Ejemplo 1 tarea"/>
          <p:cNvSpPr txBox="1"/>
          <p:nvPr/>
        </p:nvSpPr>
        <p:spPr>
          <a:xfrm>
            <a:off x="5989320" y="2295144"/>
            <a:ext cx="2633472" cy="43891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Sustitución cíclica: </a:t>
            </a:r>
            <a:pPr indent="0" marL="0">
              <a:buNone/>
            </a:pPr>
            <a:r>
              <a:rPr lang="en-US" sz="950" dirty="0">
                <a:solidFill>
                  <a:srgbClr val="334155"/>
                </a:solidFill>
                <a:latin typeface="Calibri" pitchFamily="34" charset="0"/>
                <a:ea typeface="Calibri" pitchFamily="34" charset="-122"/>
                <a:cs typeface="Calibri" pitchFamily="34" charset="-120"/>
              </a:rPr>
              <a:t>Reemplazo del filtro principal (&lt; 5 µm) cada 250 h</a:t>
            </a:r>
            <a:endParaRPr lang="en-US" sz="950" dirty="0"/>
          </a:p>
        </p:txBody>
      </p:sp>
      <p:sp>
        <p:nvSpPr>
          <p:cNvPr id="15" name="Ejemplo 2 fondo"/>
          <p:cNvSpPr/>
          <p:nvPr/>
        </p:nvSpPr>
        <p:spPr>
          <a:xfrm>
            <a:off x="5852160" y="2862072"/>
            <a:ext cx="2834640" cy="914400"/>
          </a:xfrm>
          <a:prstGeom prst="roundRect">
            <a:avLst>
              <a:gd name="adj" fmla="val 7000"/>
            </a:avLst>
          </a:prstGeom>
          <a:solidFill>
            <a:srgbClr val="EEF2FA"/>
          </a:solidFill>
          <a:ln w="9525">
            <a:solidFill>
              <a:srgbClr val="EEF2FA"/>
            </a:solidFill>
            <a:prstDash val="solid"/>
          </a:ln>
        </p:spPr>
      </p:sp>
      <p:sp>
        <p:nvSpPr>
          <p:cNvPr id="16" name="Ejemplo 2 NPR"/>
          <p:cNvSpPr txBox="1"/>
          <p:nvPr/>
        </p:nvSpPr>
        <p:spPr>
          <a:xfrm>
            <a:off x="5925312" y="291693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294</a:t>
            </a:r>
            <a:endParaRPr lang="en-US" sz="1500" dirty="0"/>
          </a:p>
        </p:txBody>
      </p:sp>
      <p:sp>
        <p:nvSpPr>
          <p:cNvPr id="17" name="Ejemplo 2 modo"/>
          <p:cNvSpPr txBox="1"/>
          <p:nvPr/>
        </p:nvSpPr>
        <p:spPr>
          <a:xfrm>
            <a:off x="6446520" y="291693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5B2 · Nivel de aceite mal medido (sensor)</a:t>
            </a:r>
            <a:endParaRPr lang="en-US" sz="950" dirty="0"/>
          </a:p>
        </p:txBody>
      </p:sp>
      <p:sp>
        <p:nvSpPr>
          <p:cNvPr id="18" name="Ejemplo 2 tarea"/>
          <p:cNvSpPr txBox="1"/>
          <p:nvPr/>
        </p:nvSpPr>
        <p:spPr>
          <a:xfrm>
            <a:off x="5989320" y="330098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A condición: </a:t>
            </a:r>
            <a:pPr indent="0" marL="0">
              <a:buNone/>
            </a:pPr>
            <a:r>
              <a:rPr lang="en-US" sz="950" dirty="0">
                <a:solidFill>
                  <a:srgbClr val="334155"/>
                </a:solidFill>
                <a:latin typeface="Calibri" pitchFamily="34" charset="0"/>
                <a:ea typeface="Calibri" pitchFamily="34" charset="-122"/>
                <a:cs typeface="Calibri" pitchFamily="34" charset="-120"/>
              </a:rPr>
              <a:t>Verificar y recalibrar el sensor de nivel cada 500 h</a:t>
            </a:r>
            <a:endParaRPr lang="en-US" sz="950" dirty="0"/>
          </a:p>
        </p:txBody>
      </p:sp>
      <p:sp>
        <p:nvSpPr>
          <p:cNvPr id="19" name="Ejemplo 3 fondo"/>
          <p:cNvSpPr/>
          <p:nvPr/>
        </p:nvSpPr>
        <p:spPr>
          <a:xfrm>
            <a:off x="5852160" y="3867912"/>
            <a:ext cx="2834640" cy="914400"/>
          </a:xfrm>
          <a:prstGeom prst="roundRect">
            <a:avLst>
              <a:gd name="adj" fmla="val 7000"/>
            </a:avLst>
          </a:prstGeom>
          <a:solidFill>
            <a:srgbClr val="EEF2FA"/>
          </a:solidFill>
          <a:ln w="9525">
            <a:solidFill>
              <a:srgbClr val="EEF2FA"/>
            </a:solidFill>
            <a:prstDash val="solid"/>
          </a:ln>
        </p:spPr>
      </p:sp>
      <p:sp>
        <p:nvSpPr>
          <p:cNvPr id="20" name="Ejemplo 3 NPR"/>
          <p:cNvSpPr txBox="1"/>
          <p:nvPr/>
        </p:nvSpPr>
        <p:spPr>
          <a:xfrm>
            <a:off x="5925312" y="392277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280</a:t>
            </a:r>
            <a:endParaRPr lang="en-US" sz="1500" dirty="0"/>
          </a:p>
        </p:txBody>
      </p:sp>
      <p:sp>
        <p:nvSpPr>
          <p:cNvPr id="21" name="Ejemplo 3 modo"/>
          <p:cNvSpPr txBox="1"/>
          <p:nvPr/>
        </p:nvSpPr>
        <p:spPr>
          <a:xfrm>
            <a:off x="6446520" y="392277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13A1 · Radiador obstruido por polvo</a:t>
            </a:r>
            <a:endParaRPr lang="en-US" sz="950" dirty="0"/>
          </a:p>
        </p:txBody>
      </p:sp>
      <p:sp>
        <p:nvSpPr>
          <p:cNvPr id="22" name="Ejemplo 3 tarea"/>
          <p:cNvSpPr txBox="1"/>
          <p:nvPr/>
        </p:nvSpPr>
        <p:spPr>
          <a:xfrm>
            <a:off x="5989320" y="430682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A condición: </a:t>
            </a:r>
            <a:pPr indent="0" marL="0">
              <a:buNone/>
            </a:pPr>
            <a:r>
              <a:rPr lang="en-US" sz="950" dirty="0">
                <a:solidFill>
                  <a:srgbClr val="334155"/>
                </a:solidFill>
                <a:latin typeface="Calibri" pitchFamily="34" charset="0"/>
                <a:ea typeface="Calibri" pitchFamily="34" charset="-122"/>
                <a:cs typeface="Calibri" pitchFamily="34" charset="-120"/>
              </a:rPr>
              <a:t>Revisar flujo de aire y limpiar cada 250 h (semanal con polvo)</a:t>
            </a:r>
            <a:endParaRPr lang="en-US" sz="950" dirty="0"/>
          </a:p>
        </p:txBody>
      </p:sp>
      <p:sp>
        <p:nvSpPr>
          <p:cNvPr id="23" name="Ejemplo 4 fondo"/>
          <p:cNvSpPr/>
          <p:nvPr/>
        </p:nvSpPr>
        <p:spPr>
          <a:xfrm>
            <a:off x="5852160" y="4873752"/>
            <a:ext cx="2834640" cy="914400"/>
          </a:xfrm>
          <a:prstGeom prst="roundRect">
            <a:avLst>
              <a:gd name="adj" fmla="val 7000"/>
            </a:avLst>
          </a:prstGeom>
          <a:solidFill>
            <a:srgbClr val="EEF2FA"/>
          </a:solidFill>
          <a:ln w="9525">
            <a:solidFill>
              <a:srgbClr val="EEF2FA"/>
            </a:solidFill>
            <a:prstDash val="solid"/>
          </a:ln>
        </p:spPr>
      </p:sp>
      <p:sp>
        <p:nvSpPr>
          <p:cNvPr id="24" name="Ejemplo 4 NPR"/>
          <p:cNvSpPr txBox="1"/>
          <p:nvPr/>
        </p:nvSpPr>
        <p:spPr>
          <a:xfrm>
            <a:off x="5925312" y="4928616"/>
            <a:ext cx="502920" cy="310896"/>
          </a:xfrm>
          <a:prstGeom prst="rect">
            <a:avLst/>
          </a:prstGeom>
          <a:noFill/>
          <a:ln/>
        </p:spPr>
        <p:txBody>
          <a:bodyPr wrap="square" lIns="0" tIns="0" rIns="0" bIns="0"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280</a:t>
            </a:r>
            <a:endParaRPr lang="en-US" sz="1500" dirty="0"/>
          </a:p>
        </p:txBody>
      </p:sp>
      <p:sp>
        <p:nvSpPr>
          <p:cNvPr id="25" name="Ejemplo 4 modo"/>
          <p:cNvSpPr txBox="1"/>
          <p:nvPr/>
        </p:nvSpPr>
        <p:spPr>
          <a:xfrm>
            <a:off x="6446520" y="4928616"/>
            <a:ext cx="2194560" cy="365760"/>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15A2 · Intercooler con residuos</a:t>
            </a:r>
            <a:endParaRPr lang="en-US" sz="950" dirty="0"/>
          </a:p>
        </p:txBody>
      </p:sp>
      <p:sp>
        <p:nvSpPr>
          <p:cNvPr id="26" name="Ejemplo 4 tarea"/>
          <p:cNvSpPr txBox="1"/>
          <p:nvPr/>
        </p:nvSpPr>
        <p:spPr>
          <a:xfrm>
            <a:off x="5989320" y="5312664"/>
            <a:ext cx="2633472" cy="438912"/>
          </a:xfrm>
          <a:prstGeom prst="rect">
            <a:avLst/>
          </a:prstGeom>
          <a:noFill/>
          <a:ln/>
        </p:spPr>
        <p:txBody>
          <a:bodyPr wrap="square" lIns="0" tIns="0" rIns="0" bIns="0" rtlCol="0" anchor="t"/>
          <a:lstStyle/>
          <a:p>
            <a:pPr indent="0" marL="0">
              <a:buNone/>
            </a:pPr>
            <a:r>
              <a:rPr lang="en-US" sz="950" b="1" dirty="0">
                <a:solidFill>
                  <a:srgbClr val="334155"/>
                </a:solidFill>
                <a:latin typeface="Calibri" pitchFamily="34" charset="0"/>
                <a:ea typeface="Calibri" pitchFamily="34" charset="-122"/>
                <a:cs typeface="Calibri" pitchFamily="34" charset="-120"/>
              </a:rPr>
              <a:t>Reacondicionamiento: </a:t>
            </a:r>
            <a:pPr indent="0" marL="0">
              <a:buNone/>
            </a:pPr>
            <a:r>
              <a:rPr lang="en-US" sz="950" dirty="0">
                <a:solidFill>
                  <a:srgbClr val="334155"/>
                </a:solidFill>
                <a:latin typeface="Calibri" pitchFamily="34" charset="0"/>
                <a:ea typeface="Calibri" pitchFamily="34" charset="-122"/>
                <a:cs typeface="Calibri" pitchFamily="34" charset="-120"/>
              </a:rPr>
              <a:t>Limpieza interna con solvente cada 1 000–1 500 h</a:t>
            </a:r>
            <a:endParaRPr lang="en-US" sz="950" dirty="0"/>
          </a:p>
        </p:txBody>
      </p:sp>
      <p:sp>
        <p:nvSpPr>
          <p:cNvPr id="27"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4.3 · ÁRBOL DE DECISIONES ·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Los 8 modos del generador se controlan a condición: se mide antes de intervenir</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Ninguna tarea del generador cambia piezas por tiempo: se interviene solo cuando la medición lo indica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 «Árbol de decisiones RCM Sistema Generador (alternador)». Textos resumidos; clasificación: primera columna marcada «S» (H1/O1).</a:t>
            </a:r>
            <a:endParaRPr lang="en-US" sz="900" dirty="0"/>
          </a:p>
        </p:txBody>
      </p:sp>
      <p:graphicFrame>
        <p:nvGraphicFramePr>
          <p:cNvPr id="26" name="Tabla decisiones del generador"/>
          <p:cNvGraphicFramePr>
            <a:graphicFrameLocks noGrp="1"/>
          </p:cNvGraphicFramePr>
          <p:nvPr>
            <p:extLst>
              <p:ext uri="{D42A27DB-BD31-4B8C-83A1-F6EECF244321}">
                <p14:modId xmlns:p14="http://schemas.microsoft.com/office/powerpoint/2010/main" val="1579011935"/>
              </p:ext>
            </p:extLst>
          </p:nvPr>
        </p:nvGraphicFramePr>
        <p:xfrm>
          <a:off x="457200" y="1600200"/>
          <a:ext cx="6035040" cy="914400"/>
        </p:xfrm>
        <a:graphic>
          <a:graphicData uri="http://schemas.openxmlformats.org/drawingml/2006/table">
            <a:tbl>
              <a:tblPr/>
              <a:tblGrid>
                <a:gridCol w="502920"/>
                <a:gridCol w="960120"/>
                <a:gridCol w="2971800"/>
                <a:gridCol w="1600200"/>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Consecuencia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Tarea a condición propuesta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Oculta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Continuidad o resistencia del varistor (fuera de línea) o inspección visual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1 000 h o 6 meses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Continuidad y caída de voltaje en los diodos del rotor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2 000 h o parada mayor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de pines, pistas y tornillería del AVR; limpieza con spray dieléctrico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1 000 h o 6 meses (HR &gt; 60 %)</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interna del AVR y monitoreo de voltaje (multímetro o DeepSea)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húmedo · 2 000 h seco</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Tensión y frecuencia antes de cada arranque; inspección interna del AVR</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o trimestral · 3 000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Resistencia del bobinado de excitación y prueba con pinza DC</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 1 000 h · 3 000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B45309"/>
                          </a:solidFill>
                          <a:latin typeface="Calibri" pitchFamily="34" charset="0"/>
                          <a:ea typeface="Calibri" pitchFamily="34" charset="-122"/>
                          <a:cs typeface="Calibri" pitchFamily="34" charset="-120"/>
                        </a:rPr>
                        <a:t>Oculta</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Lectura de voltaje en tablero; estabilidad de voltaje y armónicos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Cada 7 días / 500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57200">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Operacional</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Vibraciones en rodamientos, termografía y resistencia de devanados</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250 h · 500 h · 1 000 h</a:t>
                      </a:r>
                      <a:endParaRPr lang="en-US" sz="1000" dirty="0">
                        <a:latin typeface="Calibri" charset="0"/>
                        <a:ea typeface="Calibri" charset="0"/>
                        <a:cs typeface="Calibri" charset="0"/>
                      </a:endParaRPr>
                    </a:p>
                  </a:txBody>
                  <a:tcPr marL="45720" marR="4572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ifra 1 tarjeta"/>
          <p:cNvSpPr/>
          <p:nvPr/>
        </p:nvSpPr>
        <p:spPr>
          <a:xfrm>
            <a:off x="6720840" y="1600200"/>
            <a:ext cx="1965960" cy="1325880"/>
          </a:xfrm>
          <a:prstGeom prst="roundRect">
            <a:avLst>
              <a:gd name="adj" fmla="val 4828"/>
            </a:avLst>
          </a:prstGeom>
          <a:solidFill>
            <a:srgbClr val="FDF1E1"/>
          </a:solidFill>
          <a:ln w="15875">
            <a:solidFill>
              <a:srgbClr val="B45309"/>
            </a:solidFill>
            <a:prstDash val="solid"/>
          </a:ln>
        </p:spPr>
      </p:sp>
      <p:sp>
        <p:nvSpPr>
          <p:cNvPr id="10" name="Cifra 1 cifra"/>
          <p:cNvSpPr txBox="1"/>
          <p:nvPr/>
        </p:nvSpPr>
        <p:spPr>
          <a:xfrm>
            <a:off x="6858000" y="1673352"/>
            <a:ext cx="1737360" cy="50292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8 de 8</a:t>
            </a:r>
            <a:endParaRPr lang="en-US" sz="2600" dirty="0"/>
          </a:p>
        </p:txBody>
      </p:sp>
      <p:sp>
        <p:nvSpPr>
          <p:cNvPr id="11" name="Cifra 1 texto"/>
          <p:cNvSpPr txBox="1"/>
          <p:nvPr/>
        </p:nvSpPr>
        <p:spPr>
          <a:xfrm>
            <a:off x="6858000" y="2194560"/>
            <a:ext cx="1737360" cy="65836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modos con tarea a condición (columna H1/O1 = S)</a:t>
            </a:r>
            <a:endParaRPr lang="en-US" sz="1000" dirty="0"/>
          </a:p>
        </p:txBody>
      </p:sp>
      <p:sp>
        <p:nvSpPr>
          <p:cNvPr id="12" name="Cifra 2 tarjeta"/>
          <p:cNvSpPr/>
          <p:nvPr/>
        </p:nvSpPr>
        <p:spPr>
          <a:xfrm>
            <a:off x="6720840" y="3063240"/>
            <a:ext cx="1965960" cy="1600200"/>
          </a:xfrm>
          <a:prstGeom prst="roundRect">
            <a:avLst>
              <a:gd name="adj" fmla="val 4000"/>
            </a:avLst>
          </a:prstGeom>
          <a:solidFill>
            <a:srgbClr val="EEF2FA"/>
          </a:solidFill>
          <a:ln w="9525">
            <a:solidFill>
              <a:srgbClr val="EEF2FA"/>
            </a:solidFill>
            <a:prstDash val="solid"/>
          </a:ln>
        </p:spPr>
      </p:sp>
      <p:sp>
        <p:nvSpPr>
          <p:cNvPr id="13" name="Cifra 2 cifra"/>
          <p:cNvSpPr txBox="1"/>
          <p:nvPr/>
        </p:nvSpPr>
        <p:spPr>
          <a:xfrm>
            <a:off x="6858000" y="3136392"/>
            <a:ext cx="173736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2</a:t>
            </a:r>
            <a:endParaRPr lang="en-US" sz="2600" dirty="0"/>
          </a:p>
        </p:txBody>
      </p:sp>
      <p:sp>
        <p:nvSpPr>
          <p:cNvPr id="14" name="Cifra 2 texto"/>
          <p:cNvSpPr txBox="1"/>
          <p:nvPr/>
        </p:nvSpPr>
        <p:spPr>
          <a:xfrm>
            <a:off x="6858000" y="3657600"/>
            <a:ext cx="1737360" cy="91440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fallas ocultas (1A1 y 4A3): solo se revelan con pruebas, no en operación normal</a:t>
            </a:r>
            <a:endParaRPr lang="en-US" sz="1000" dirty="0"/>
          </a:p>
        </p:txBody>
      </p:sp>
      <p:sp>
        <p:nvSpPr>
          <p:cNvPr id="15" name="Cifra 3 tarjeta"/>
          <p:cNvSpPr/>
          <p:nvPr/>
        </p:nvSpPr>
        <p:spPr>
          <a:xfrm>
            <a:off x="6720840" y="4800600"/>
            <a:ext cx="1965960" cy="1024128"/>
          </a:xfrm>
          <a:prstGeom prst="roundRect">
            <a:avLst>
              <a:gd name="adj" fmla="val 6250"/>
            </a:avLst>
          </a:prstGeom>
          <a:solidFill>
            <a:srgbClr val="EEF2FA"/>
          </a:solidFill>
          <a:ln w="9525">
            <a:solidFill>
              <a:srgbClr val="EEF2FA"/>
            </a:solidFill>
            <a:prstDash val="solid"/>
          </a:ln>
        </p:spPr>
      </p:sp>
      <p:sp>
        <p:nvSpPr>
          <p:cNvPr id="16" name="Cifra 3 cifra"/>
          <p:cNvSpPr txBox="1"/>
          <p:nvPr/>
        </p:nvSpPr>
        <p:spPr>
          <a:xfrm>
            <a:off x="6858000" y="4846320"/>
            <a:ext cx="1737360" cy="411480"/>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250 a 3 000 h</a:t>
            </a:r>
            <a:endParaRPr lang="en-US" sz="1800" dirty="0"/>
          </a:p>
        </p:txBody>
      </p:sp>
      <p:sp>
        <p:nvSpPr>
          <p:cNvPr id="17" name="Cifra 3 texto"/>
          <p:cNvSpPr txBox="1"/>
          <p:nvPr/>
        </p:nvSpPr>
        <p:spPr>
          <a:xfrm>
            <a:off x="6858000" y="5257800"/>
            <a:ext cx="1737360" cy="502920"/>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rango de frecuencias; semanal para la lectura de voltaje</a:t>
            </a:r>
            <a:endParaRPr lang="en-US" sz="1000" dirty="0"/>
          </a:p>
        </p:txBody>
      </p:sp>
      <p:sp>
        <p:nvSpPr>
          <p:cNvPr id="18"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34 de las 67 actividades del plan del motor se ejecutan cada 250 h o antes</a:t>
            </a:r>
            <a:endParaRPr lang="en-US" sz="25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Plan del sistema motor diésel: una actividad por modo de falla, con frecuencia, personal y justificación</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técnico electromecánico lidera 44 de las 67 actividades: es el recurso crítico del plan</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 y Anexo — «Plan de mantenimiento para el sistema Motor Diésel» (67 actividades). Agrupación por frecuencia y por responsable principal (primer personal listado): cálculo propio.</a:t>
            </a:r>
            <a:endParaRPr lang="en-US" sz="900" dirty="0"/>
          </a:p>
        </p:txBody>
      </p:sp>
      <p:sp>
        <p:nvSpPr>
          <p:cNvPr id="9" name="Etiqueta ACTIVIDADES POR FRECUENC"/>
          <p:cNvSpPr txBox="1"/>
          <p:nvPr/>
        </p:nvSpPr>
        <p:spPr>
          <a:xfrm>
            <a:off x="457200" y="1874520"/>
            <a:ext cx="402336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ACTIVIDADES POR FRECUENCIA</a:t>
            </a:r>
            <a:endParaRPr lang="en-US" sz="1100" dirty="0"/>
          </a:p>
        </p:txBody>
      </p:sp>
      <p:graphicFrame>
        <p:nvGraphicFramePr>
          <p:cNvPr id="10" name="Gráfico frecuencias" descr="Actividades del plan del motor por frecuencia: Diario o por jornada 2, Hasta 250 h (semanal a mensual) 32, 300 a 1 000 h 24, 1 500 h o más 7, A condición (por umbral) 1, Tras cada servicio 1"/>
          <p:cNvGraphicFramePr/>
          <p:nvPr/>
        </p:nvGraphicFramePr>
        <p:xfrm>
          <a:off x="320040" y="2103120"/>
          <a:ext cx="4206240" cy="2743200"/>
        </p:xfrm>
        <a:graphic xmlns:a="http://schemas.openxmlformats.org/drawingml/2006/main">
          <a:graphicData uri="http://schemas.openxmlformats.org/drawingml/2006/chart">
            <c:chart xmlns:c="http://schemas.openxmlformats.org/drawingml/2006/chart" r:id="rId2"/>
          </a:graphicData>
        </a:graphic>
      </p:graphicFrame>
      <p:sp>
        <p:nvSpPr>
          <p:cNvPr id="11" name="Etiqueta RESPONSABLE PRINCIPAL"/>
          <p:cNvSpPr txBox="1"/>
          <p:nvPr/>
        </p:nvSpPr>
        <p:spPr>
          <a:xfrm>
            <a:off x="475488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RESPONSABLE PRINCIPAL</a:t>
            </a:r>
            <a:endParaRPr lang="en-US" sz="1100" dirty="0"/>
          </a:p>
        </p:txBody>
      </p:sp>
      <p:graphicFrame>
        <p:nvGraphicFramePr>
          <p:cNvPr id="12" name="Gráfico responsables" descr="Actividades del plan del motor por responsable principal: Técnico electromecánico 44, Operario 13, Servicios externos 9, Personal predictivo 1"/>
          <p:cNvGraphicFramePr/>
          <p:nvPr/>
        </p:nvGraphicFramePr>
        <p:xfrm>
          <a:off x="4617720" y="2103120"/>
          <a:ext cx="4114800" cy="2743200"/>
        </p:xfrm>
        <a:graphic xmlns:a="http://schemas.openxmlformats.org/drawingml/2006/main">
          <a:graphicData uri="http://schemas.openxmlformats.org/drawingml/2006/chart">
            <c:chart xmlns:c="http://schemas.openxmlformats.org/drawingml/2006/chart" r:id="rId3"/>
          </a:graphicData>
        </a:graphic>
      </p:graphicFrame>
      <p:sp>
        <p:nvSpPr>
          <p:cNvPr id="13" name="Resumen 1 fondo"/>
          <p:cNvSpPr/>
          <p:nvPr/>
        </p:nvSpPr>
        <p:spPr>
          <a:xfrm>
            <a:off x="457200" y="5029200"/>
            <a:ext cx="2651760" cy="841248"/>
          </a:xfrm>
          <a:prstGeom prst="roundRect">
            <a:avLst>
              <a:gd name="adj" fmla="val 7609"/>
            </a:avLst>
          </a:prstGeom>
          <a:solidFill>
            <a:srgbClr val="EEF2FA"/>
          </a:solidFill>
          <a:ln w="9525">
            <a:solidFill>
              <a:srgbClr val="EEF2FA"/>
            </a:solidFill>
            <a:prstDash val="solid"/>
          </a:ln>
        </p:spPr>
      </p:sp>
      <p:sp>
        <p:nvSpPr>
          <p:cNvPr id="14" name="Resumen 1 cifra"/>
          <p:cNvSpPr txBox="1"/>
          <p:nvPr/>
        </p:nvSpPr>
        <p:spPr>
          <a:xfrm>
            <a:off x="566928" y="5029200"/>
            <a:ext cx="868680" cy="841248"/>
          </a:xfrm>
          <a:prstGeom prst="rect">
            <a:avLst/>
          </a:prstGeom>
          <a:noFill/>
          <a:ln/>
        </p:spPr>
        <p:txBody>
          <a:bodyPr wrap="square" lIns="0" tIns="0" rIns="0" bIns="0" rtlCol="0" anchor="ctr"/>
          <a:lstStyle/>
          <a:p>
            <a:pPr algn="ctr" indent="0" marL="0">
              <a:buNone/>
            </a:pPr>
            <a:r>
              <a:rPr lang="en-US" sz="2400" b="1" dirty="0">
                <a:solidFill>
                  <a:srgbClr val="1E3A8A"/>
                </a:solidFill>
                <a:latin typeface="Calibri" pitchFamily="34" charset="0"/>
                <a:ea typeface="Calibri" pitchFamily="34" charset="-122"/>
                <a:cs typeface="Calibri" pitchFamily="34" charset="-120"/>
              </a:rPr>
              <a:t>67</a:t>
            </a:r>
            <a:endParaRPr lang="en-US" sz="2400" dirty="0"/>
          </a:p>
        </p:txBody>
      </p:sp>
      <p:sp>
        <p:nvSpPr>
          <p:cNvPr id="15" name="Resumen 1 texto"/>
          <p:cNvSpPr txBox="1"/>
          <p:nvPr/>
        </p:nvSpPr>
        <p:spPr>
          <a:xfrm>
            <a:off x="146304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actividades: una por modo de falla del AMEF</a:t>
            </a:r>
            <a:endParaRPr lang="en-US" sz="1000" dirty="0"/>
          </a:p>
        </p:txBody>
      </p:sp>
      <p:sp>
        <p:nvSpPr>
          <p:cNvPr id="16" name="Resumen 2 fondo"/>
          <p:cNvSpPr/>
          <p:nvPr/>
        </p:nvSpPr>
        <p:spPr>
          <a:xfrm>
            <a:off x="3246120" y="5029200"/>
            <a:ext cx="2651760" cy="841248"/>
          </a:xfrm>
          <a:prstGeom prst="roundRect">
            <a:avLst>
              <a:gd name="adj" fmla="val 7609"/>
            </a:avLst>
          </a:prstGeom>
          <a:solidFill>
            <a:srgbClr val="FDF1E1"/>
          </a:solidFill>
          <a:ln w="15875">
            <a:solidFill>
              <a:srgbClr val="B45309"/>
            </a:solidFill>
            <a:prstDash val="solid"/>
          </a:ln>
        </p:spPr>
      </p:sp>
      <p:sp>
        <p:nvSpPr>
          <p:cNvPr id="17" name="Resumen 2 cifra"/>
          <p:cNvSpPr txBox="1"/>
          <p:nvPr/>
        </p:nvSpPr>
        <p:spPr>
          <a:xfrm>
            <a:off x="3355848" y="5029200"/>
            <a:ext cx="868680" cy="841248"/>
          </a:xfrm>
          <a:prstGeom prst="rect">
            <a:avLst/>
          </a:prstGeom>
          <a:noFill/>
          <a:ln/>
        </p:spPr>
        <p:txBody>
          <a:bodyPr wrap="square" lIns="0" tIns="0" rIns="0" bIns="0" rtlCol="0" anchor="ctr"/>
          <a:lstStyle/>
          <a:p>
            <a:pPr algn="ctr" indent="0" marL="0">
              <a:buNone/>
            </a:pPr>
            <a:r>
              <a:rPr lang="en-US" sz="2400" b="1" dirty="0">
                <a:solidFill>
                  <a:srgbClr val="B45309"/>
                </a:solidFill>
                <a:latin typeface="Calibri" pitchFamily="34" charset="0"/>
                <a:ea typeface="Calibri" pitchFamily="34" charset="-122"/>
                <a:cs typeface="Calibri" pitchFamily="34" charset="-120"/>
              </a:rPr>
              <a:t>51 %</a:t>
            </a:r>
            <a:endParaRPr lang="en-US" sz="2400" dirty="0"/>
          </a:p>
        </p:txBody>
      </p:sp>
      <p:sp>
        <p:nvSpPr>
          <p:cNvPr id="18" name="Resumen 2 texto"/>
          <p:cNvSpPr txBox="1"/>
          <p:nvPr/>
        </p:nvSpPr>
        <p:spPr>
          <a:xfrm>
            <a:off x="425196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diarias o cada ≤ 250 h: inspecciones cortas y frecuentes</a:t>
            </a:r>
            <a:endParaRPr lang="en-US" sz="1000" dirty="0"/>
          </a:p>
        </p:txBody>
      </p:sp>
      <p:sp>
        <p:nvSpPr>
          <p:cNvPr id="19" name="Resumen 3 fondo"/>
          <p:cNvSpPr/>
          <p:nvPr/>
        </p:nvSpPr>
        <p:spPr>
          <a:xfrm>
            <a:off x="6035040" y="5029200"/>
            <a:ext cx="2651760" cy="841248"/>
          </a:xfrm>
          <a:prstGeom prst="roundRect">
            <a:avLst>
              <a:gd name="adj" fmla="val 7609"/>
            </a:avLst>
          </a:prstGeom>
          <a:solidFill>
            <a:srgbClr val="EEF2FA"/>
          </a:solidFill>
          <a:ln w="9525">
            <a:solidFill>
              <a:srgbClr val="EEF2FA"/>
            </a:solidFill>
            <a:prstDash val="solid"/>
          </a:ln>
        </p:spPr>
      </p:sp>
      <p:sp>
        <p:nvSpPr>
          <p:cNvPr id="20" name="Resumen 3 cifra"/>
          <p:cNvSpPr txBox="1"/>
          <p:nvPr/>
        </p:nvSpPr>
        <p:spPr>
          <a:xfrm>
            <a:off x="6144768" y="5029200"/>
            <a:ext cx="868680" cy="841248"/>
          </a:xfrm>
          <a:prstGeom prst="rect">
            <a:avLst/>
          </a:prstGeom>
          <a:noFill/>
          <a:ln/>
        </p:spPr>
        <p:txBody>
          <a:bodyPr wrap="square" lIns="0" tIns="0" rIns="0" bIns="0" rtlCol="0" anchor="ctr"/>
          <a:lstStyle/>
          <a:p>
            <a:pPr algn="ctr" indent="0" marL="0">
              <a:buNone/>
            </a:pPr>
            <a:r>
              <a:rPr lang="en-US" sz="2400" b="1" dirty="0">
                <a:solidFill>
                  <a:srgbClr val="1E3A8A"/>
                </a:solidFill>
                <a:latin typeface="Calibri" pitchFamily="34" charset="0"/>
                <a:ea typeface="Calibri" pitchFamily="34" charset="-122"/>
                <a:cs typeface="Calibri" pitchFamily="34" charset="-120"/>
              </a:rPr>
              <a:t>7</a:t>
            </a:r>
            <a:endParaRPr lang="en-US" sz="2400" dirty="0"/>
          </a:p>
        </p:txBody>
      </p:sp>
      <p:sp>
        <p:nvSpPr>
          <p:cNvPr id="21" name="Resumen 3 texto"/>
          <p:cNvSpPr txBox="1"/>
          <p:nvPr/>
        </p:nvSpPr>
        <p:spPr>
          <a:xfrm>
            <a:off x="7040880" y="5029200"/>
            <a:ext cx="1572768" cy="841248"/>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de 1 500 h o más: inyectores, turbo y calefactores</a:t>
            </a:r>
            <a:endParaRPr lang="en-US" sz="1000" dirty="0"/>
          </a:p>
        </p:txBody>
      </p:sp>
      <p:sp>
        <p:nvSpPr>
          <p:cNvPr id="22"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MOTOR DIÉSEL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Cada modo de mayor riesgo tiene en el plan una tarea con criterio medible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Las tareas fijan umbrales verificables (ΔP, µm, °C): el técnico decide con datos, no por costumbre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Anexo — Plan de mantenimiento del sistema Motor Diésel (actividad, frecuencia y personal) y Matriz del NPR. Textos resumidos de la tesis.</a:t>
            </a:r>
            <a:endParaRPr lang="en-US" sz="900" dirty="0"/>
          </a:p>
        </p:txBody>
      </p:sp>
      <p:graphicFrame>
        <p:nvGraphicFramePr>
          <p:cNvPr id="28" name="Tabla tareas clave"/>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48640"/>
                <a:gridCol w="2057400"/>
                <a:gridCol w="3246120"/>
                <a:gridCol w="1188720"/>
                <a:gridCol w="118872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NPR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 de falla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Tarea del plan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548640">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336</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9B1  </a:t>
                      </a:r>
                      <a:pPr indent="0" marL="0">
                        <a:buNone/>
                      </a:pPr>
                      <a:r>
                        <a:rPr lang="en-US" sz="1000" b="1" dirty="0">
                          <a:solidFill>
                            <a:srgbClr val="1E3A8A"/>
                          </a:solidFill>
                          <a:latin typeface="Calibri" pitchFamily="34" charset="0"/>
                          <a:ea typeface="Calibri" pitchFamily="34" charset="-122"/>
                          <a:cs typeface="Calibri" pitchFamily="34" charset="-120"/>
                        </a:rPr>
                        <a:t>Filtro de combustible fuera de especificación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Cambio de filtros por ΔP; sensor WIF (agua en Racor) con drenaje automático y registro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A condición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294</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5B2  </a:t>
                      </a:r>
                      <a:pPr indent="0" marL="0">
                        <a:buNone/>
                      </a:pPr>
                      <a:r>
                        <a:rPr lang="en-US" sz="1000" b="1" dirty="0">
                          <a:solidFill>
                            <a:srgbClr val="1E3A8A"/>
                          </a:solidFill>
                          <a:latin typeface="Calibri" pitchFamily="34" charset="0"/>
                          <a:ea typeface="Calibri" pitchFamily="34" charset="-122"/>
                          <a:cs typeface="Calibri" pitchFamily="34" charset="-120"/>
                        </a:rPr>
                        <a:t>Nivel de aceite mal medido (sensor)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Verificación del sensor de nivel y recalibración técnica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 / trimestral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8A1  </a:t>
                      </a:r>
                      <a:pPr indent="0" marL="0">
                        <a:buNone/>
                      </a:pPr>
                      <a:r>
                        <a:rPr lang="en-US" sz="1000" b="1" dirty="0">
                          <a:solidFill>
                            <a:srgbClr val="1E3A8A"/>
                          </a:solidFill>
                          <a:latin typeface="Calibri" pitchFamily="34" charset="0"/>
                          <a:ea typeface="Calibri" pitchFamily="34" charset="-122"/>
                          <a:cs typeface="Calibri" pitchFamily="34" charset="-120"/>
                        </a:rPr>
                        <a:t>Filtro de aceite incorrecto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Reemplazo del filtro de aceite por uno de micraje ≤ 30 µm</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300 h / manual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13A1  </a:t>
                      </a:r>
                      <a:pPr indent="0" marL="0">
                        <a:buNone/>
                      </a:pPr>
                      <a:r>
                        <a:rPr lang="en-US" sz="1000" b="1" dirty="0">
                          <a:solidFill>
                            <a:srgbClr val="1E3A8A"/>
                          </a:solidFill>
                          <a:latin typeface="Calibri" pitchFamily="34" charset="0"/>
                          <a:ea typeface="Calibri" pitchFamily="34" charset="-122"/>
                          <a:cs typeface="Calibri" pitchFamily="34" charset="-120"/>
                        </a:rPr>
                        <a:t>Radiador obstruido por polvo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Tensión y alineación de fajas del ventilador; rodamientos del cubo; registro CMMS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Servicios externos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15A1  </a:t>
                      </a:r>
                      <a:pPr indent="0" marL="0">
                        <a:buNone/>
                      </a:pPr>
                      <a:r>
                        <a:rPr lang="en-US" sz="1000" b="1" dirty="0">
                          <a:solidFill>
                            <a:srgbClr val="1E3A8A"/>
                          </a:solidFill>
                          <a:latin typeface="Calibri" pitchFamily="34" charset="0"/>
                          <a:ea typeface="Calibri" pitchFamily="34" charset="-122"/>
                          <a:cs typeface="Calibri" pitchFamily="34" charset="-120"/>
                        </a:rPr>
                        <a:t>Intercooler obstruido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Limpieza del intercooler para bajar el aire de carga a &lt; 113 °C</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1 000 h / semestral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Servicios ext. + 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algn="ctr" indent="0" marL="0">
                        <a:buNone/>
                      </a:pPr>
                      <a:r>
                        <a:rPr lang="en-US" sz="1400" b="1" dirty="0">
                          <a:solidFill>
                            <a:srgbClr val="1E3A8A"/>
                          </a:solidFill>
                          <a:latin typeface="Calibri" pitchFamily="34" charset="0"/>
                          <a:ea typeface="Calibri" pitchFamily="34" charset="-122"/>
                          <a:cs typeface="Calibri" pitchFamily="34" charset="-120"/>
                        </a:rPr>
                        <a:t>245</a:t>
                      </a:r>
                      <a:endParaRPr lang="en-US" sz="14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64748B"/>
                          </a:solidFill>
                          <a:latin typeface="Calibri" pitchFamily="34" charset="0"/>
                          <a:ea typeface="Calibri" pitchFamily="34" charset="-122"/>
                          <a:cs typeface="Calibri" pitchFamily="34" charset="-120"/>
                        </a:rPr>
                        <a:t>20A1  </a:t>
                      </a:r>
                      <a:pPr indent="0" marL="0">
                        <a:buNone/>
                      </a:pPr>
                      <a:r>
                        <a:rPr lang="en-US" sz="1000" b="1" dirty="0">
                          <a:solidFill>
                            <a:srgbClr val="1E3A8A"/>
                          </a:solidFill>
                          <a:latin typeface="Calibri" pitchFamily="34" charset="0"/>
                          <a:ea typeface="Calibri" pitchFamily="34" charset="-122"/>
                          <a:cs typeface="Calibri" pitchFamily="34" charset="-120"/>
                        </a:rPr>
                        <a:t>Protección térmica que no actúa (falla oculta)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Simulación de alarma a 98 °C y apagado a 105 °C, con registro en EMS2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34155"/>
                          </a:solidFill>
                          <a:latin typeface="Calibri" pitchFamily="34" charset="0"/>
                          <a:ea typeface="Calibri" pitchFamily="34" charset="-122"/>
                          <a:cs typeface="Calibri" pitchFamily="34" charset="-120"/>
                        </a:rPr>
                        <a:t>500 h y tras evento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Etiqueta UMBRALES QUE FIJA EL PLA"/>
          <p:cNvSpPr txBox="1"/>
          <p:nvPr/>
        </p:nvSpPr>
        <p:spPr>
          <a:xfrm>
            <a:off x="457200" y="52578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UMBRALES QUE FIJA EL PLAN DEL MOTOR</a:t>
            </a:r>
            <a:endParaRPr lang="en-US" sz="1100" dirty="0"/>
          </a:p>
        </p:txBody>
      </p:sp>
      <p:sp>
        <p:nvSpPr>
          <p:cNvPr id="10" name="Umbral 1"/>
          <p:cNvSpPr txBox="1"/>
          <p:nvPr/>
        </p:nvSpPr>
        <p:spPr>
          <a:xfrm>
            <a:off x="457200"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5 kPa</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ΔP en intercooler</a:t>
            </a:r>
            <a:endParaRPr lang="en-US" sz="1300" dirty="0"/>
          </a:p>
        </p:txBody>
      </p:sp>
      <p:sp>
        <p:nvSpPr>
          <p:cNvPr id="11" name="Umbral 2"/>
          <p:cNvSpPr txBox="1"/>
          <p:nvPr/>
        </p:nvSpPr>
        <p:spPr>
          <a:xfrm>
            <a:off x="1847088"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113 °C</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aire de carga</a:t>
            </a:r>
            <a:endParaRPr lang="en-US" sz="1300" dirty="0"/>
          </a:p>
        </p:txBody>
      </p:sp>
      <p:sp>
        <p:nvSpPr>
          <p:cNvPr id="12" name="Umbral 3"/>
          <p:cNvSpPr txBox="1"/>
          <p:nvPr/>
        </p:nvSpPr>
        <p:spPr>
          <a:xfrm>
            <a:off x="3236976"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30–48 L</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nivel de aceite</a:t>
            </a:r>
            <a:endParaRPr lang="en-US" sz="1300" dirty="0"/>
          </a:p>
        </p:txBody>
      </p:sp>
      <p:sp>
        <p:nvSpPr>
          <p:cNvPr id="13" name="Umbral 4"/>
          <p:cNvSpPr txBox="1"/>
          <p:nvPr/>
        </p:nvSpPr>
        <p:spPr>
          <a:xfrm>
            <a:off x="4626864"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250–300 kPa</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presión de aceite</a:t>
            </a:r>
            <a:endParaRPr lang="en-US" sz="1300" dirty="0"/>
          </a:p>
        </p:txBody>
      </p:sp>
      <p:sp>
        <p:nvSpPr>
          <p:cNvPr id="14" name="Umbral 5"/>
          <p:cNvSpPr txBox="1"/>
          <p:nvPr/>
        </p:nvSpPr>
        <p:spPr>
          <a:xfrm>
            <a:off x="6016752"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 0,12 L/h</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consumo de aceite</a:t>
            </a:r>
            <a:endParaRPr lang="en-US" sz="1300" dirty="0"/>
          </a:p>
        </p:txBody>
      </p:sp>
      <p:sp>
        <p:nvSpPr>
          <p:cNvPr id="15" name="Umbral 6"/>
          <p:cNvSpPr txBox="1"/>
          <p:nvPr/>
        </p:nvSpPr>
        <p:spPr>
          <a:xfrm>
            <a:off x="7406640" y="5486400"/>
            <a:ext cx="1325880" cy="475488"/>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98 / 105 °C</a:t>
            </a:r>
            <a:endParaRPr lang="en-US" sz="1300" dirty="0"/>
          </a:p>
          <a:p>
            <a:pPr indent="0" marL="0">
              <a:buNone/>
            </a:pPr>
            <a:r>
              <a:rPr lang="en-US" sz="950" dirty="0">
                <a:solidFill>
                  <a:srgbClr val="334155"/>
                </a:solidFill>
                <a:latin typeface="Calibri" pitchFamily="34" charset="0"/>
                <a:ea typeface="Calibri" pitchFamily="34" charset="-122"/>
                <a:cs typeface="Calibri" pitchFamily="34" charset="-120"/>
              </a:rPr>
              <a:t>alarma / apagado</a:t>
            </a:r>
            <a:endParaRPr lang="en-US" sz="1300" dirty="0"/>
          </a:p>
        </p:txBody>
      </p:sp>
      <p:sp>
        <p:nvSpPr>
          <p:cNvPr id="16"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GENERADOR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plan del generador detecta la falla de excitación antes de que deje al equipo sin voltaje</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Rizado DC, step-test del AVR y monitoreo V/f convierten fallas sorpresivas en alarmas tempranas</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«Plan de mantenimiento para el sistema Generador (alternador)». Textos resumidos.</a:t>
            </a:r>
            <a:endParaRPr lang="en-US" sz="900" dirty="0"/>
          </a:p>
        </p:txBody>
      </p:sp>
      <p:graphicFrame>
        <p:nvGraphicFramePr>
          <p:cNvPr id="29" name="Tabla plan del generador"/>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502920"/>
                <a:gridCol w="1325880"/>
                <a:gridCol w="3566160"/>
                <a:gridCol w="1508760"/>
                <a:gridCol w="132588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Componente</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Actividad y criterio de decisión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Frecuencia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Personal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1A1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Varistor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Ensayo de tensión de clamp del MOV + termografía; criterio ±10 % del nominal o ΔT local &gt; 20 °C</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 condición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planner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2A1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Diodos rotativos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Rizado DC del campo y desbalance de corriente; si supera el umbral, medir caída en diodos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h según tendencia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 técnicos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AVR (corrosión)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Step-test del lazo AVR: droop, compensaciones y THD %</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 6 meses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3A2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AVR (sulfatación)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Inspección interna: sulfatación, pines y soldaduras; voltaje con DeepSea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1 000 h húmedo · 2 000 h seco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predictivo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Falla del AVR</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Monitoreo continuo de V/f con alarmas por excepción; registro 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 + operario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4A2</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Bobinado de excitación</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Aislamiento &gt; 1 MΩ y prueba de excitación con pinza DC, en vacío y con carga</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500 / 1 000 / 3 000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4A3</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Puente de diodos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Monitoreo continuo de V/f con alarmas por excepción; registro 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Semanal</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Operario + predictivo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5A1</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1E3A8A"/>
                          </a:solidFill>
                          <a:latin typeface="Calibri" pitchFamily="34" charset="0"/>
                          <a:ea typeface="Calibri" pitchFamily="34" charset="-122"/>
                          <a:cs typeface="Calibri" pitchFamily="34" charset="-120"/>
                        </a:rPr>
                        <a:t>Rodamientos y devanados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Vibraciones (mm/s RMS), termografía y resistencia de devanados</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250 / 500 / 1 000 h</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Predictivo + técnico</a:t>
                      </a:r>
                      <a:endParaRPr lang="en-US" sz="1000" dirty="0">
                        <a:latin typeface="Calibri" charset="0"/>
                        <a:ea typeface="Calibri" charset="0"/>
                        <a:cs typeface="Calibri" charset="0"/>
                      </a:endParaRPr>
                    </a:p>
                  </a:txBody>
                  <a:tcPr marL="54864" marR="54864"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A9</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RECURSO HUMANO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Cinco perfiles ejecutan el plan; el técnico electromecánico participa en 67 de las 93 actividades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 equipo multidisciplinario analiza; un planner registra en CMMS: así se corta la decisión informal y no trazable</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4.3.1 (equipo de trabajo) y 4.4.1 (tabla «Cantidad de personal solicitada» y planes de los tres grupos de sistemas). Participación por perfil: cálculo propio sobre 93 actividades.</a:t>
            </a:r>
            <a:endParaRPr lang="en-US" sz="900" dirty="0"/>
          </a:p>
        </p:txBody>
      </p:sp>
      <p:sp>
        <p:nvSpPr>
          <p:cNvPr id="8" name="Etiqueta PARTICIPACIÓN EN LAS 93 "/>
          <p:cNvSpPr txBox="1"/>
          <p:nvPr/>
        </p:nvSpPr>
        <p:spPr>
          <a:xfrm>
            <a:off x="457200" y="1600200"/>
            <a:ext cx="42062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PARTICIPACIÓN EN LAS 93 ACTIVIDADES DEL PLAN</a:t>
            </a:r>
            <a:endParaRPr lang="en-US" sz="1100" dirty="0"/>
          </a:p>
        </p:txBody>
      </p:sp>
      <p:graphicFrame>
        <p:nvGraphicFramePr>
          <p:cNvPr id="9" name="Gráfico participación" descr="Actividades en que participa cada perfil: Técnico electromecánico 67, Operario 21, Planner de planta 7, Servicios externos 12, Personal predictivo 6, Jefe de taller 4"/>
          <p:cNvGraphicFramePr/>
          <p:nvPr/>
        </p:nvGraphicFramePr>
        <p:xfrm>
          <a:off x="320040" y="1828800"/>
          <a:ext cx="4343400" cy="2743200"/>
        </p:xfrm>
        <a:graphic xmlns:a="http://schemas.openxmlformats.org/drawingml/2006/main">
          <a:graphicData uri="http://schemas.openxmlformats.org/drawingml/2006/chart">
            <c:chart xmlns:c="http://schemas.openxmlformats.org/drawingml/2006/chart" r:id="rId2"/>
          </a:graphicData>
        </a:graphic>
      </p:graphicFrame>
      <p:sp>
        <p:nvSpPr>
          <p:cNvPr id="10" name="Perfil 1"/>
          <p:cNvSpPr txBox="1"/>
          <p:nvPr/>
        </p:nvSpPr>
        <p:spPr>
          <a:xfrm>
            <a:off x="457200" y="4681728"/>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Técnico electromecánico: </a:t>
            </a:r>
            <a:pPr indent="0" marL="0">
              <a:buNone/>
            </a:pPr>
            <a:r>
              <a:rPr lang="en-US" sz="950" dirty="0">
                <a:solidFill>
                  <a:srgbClr val="334155"/>
                </a:solidFill>
                <a:latin typeface="Calibri" pitchFamily="34" charset="0"/>
                <a:ea typeface="Calibri" pitchFamily="34" charset="-122"/>
                <a:cs typeface="Calibri" pitchFamily="34" charset="-120"/>
              </a:rPr>
              <a:t>mediciones, calibraciones, pruebas y sustituciones</a:t>
            </a:r>
            <a:endParaRPr lang="en-US" sz="950" dirty="0"/>
          </a:p>
        </p:txBody>
      </p:sp>
      <p:sp>
        <p:nvSpPr>
          <p:cNvPr id="11" name="Perfil 2"/>
          <p:cNvSpPr txBox="1"/>
          <p:nvPr/>
        </p:nvSpPr>
        <p:spPr>
          <a:xfrm>
            <a:off x="457200" y="4946904"/>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Operario: </a:t>
            </a:r>
            <a:pPr indent="0" marL="0">
              <a:buNone/>
            </a:pPr>
            <a:r>
              <a:rPr lang="en-US" sz="950" dirty="0">
                <a:solidFill>
                  <a:srgbClr val="334155"/>
                </a:solidFill>
                <a:latin typeface="Calibri" pitchFamily="34" charset="0"/>
                <a:ea typeface="Calibri" pitchFamily="34" charset="-122"/>
                <a:cs typeface="Calibri" pitchFamily="34" charset="-120"/>
              </a:rPr>
              <a:t>inspecciones de nivel, limpieza y fugas</a:t>
            </a:r>
            <a:endParaRPr lang="en-US" sz="950" dirty="0"/>
          </a:p>
        </p:txBody>
      </p:sp>
      <p:sp>
        <p:nvSpPr>
          <p:cNvPr id="12" name="Perfil 3"/>
          <p:cNvSpPr txBox="1"/>
          <p:nvPr/>
        </p:nvSpPr>
        <p:spPr>
          <a:xfrm>
            <a:off x="457200" y="5212080"/>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Planner de planta: </a:t>
            </a:r>
            <a:pPr indent="0" marL="0">
              <a:buNone/>
            </a:pPr>
            <a:r>
              <a:rPr lang="en-US" sz="950" dirty="0">
                <a:solidFill>
                  <a:srgbClr val="334155"/>
                </a:solidFill>
                <a:latin typeface="Calibri" pitchFamily="34" charset="0"/>
                <a:ea typeface="Calibri" pitchFamily="34" charset="-122"/>
                <a:cs typeface="Calibri" pitchFamily="34" charset="-120"/>
              </a:rPr>
              <a:t>programa y registra las OT en el sistema de gestión</a:t>
            </a:r>
            <a:endParaRPr lang="en-US" sz="950" dirty="0"/>
          </a:p>
        </p:txBody>
      </p:sp>
      <p:sp>
        <p:nvSpPr>
          <p:cNvPr id="13" name="Perfil 4"/>
          <p:cNvSpPr txBox="1"/>
          <p:nvPr/>
        </p:nvSpPr>
        <p:spPr>
          <a:xfrm>
            <a:off x="457200" y="5477256"/>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Personal predictivo: </a:t>
            </a:r>
            <a:pPr indent="0" marL="0">
              <a:buNone/>
            </a:pPr>
            <a:r>
              <a:rPr lang="en-US" sz="950" dirty="0">
                <a:solidFill>
                  <a:srgbClr val="334155"/>
                </a:solidFill>
                <a:latin typeface="Calibri" pitchFamily="34" charset="0"/>
                <a:ea typeface="Calibri" pitchFamily="34" charset="-122"/>
                <a:cs typeface="Calibri" pitchFamily="34" charset="-120"/>
              </a:rPr>
              <a:t>vibraciones, termografía y armónicos</a:t>
            </a:r>
            <a:endParaRPr lang="en-US" sz="950" dirty="0"/>
          </a:p>
        </p:txBody>
      </p:sp>
      <p:sp>
        <p:nvSpPr>
          <p:cNvPr id="14" name="Perfil 5"/>
          <p:cNvSpPr txBox="1"/>
          <p:nvPr/>
        </p:nvSpPr>
        <p:spPr>
          <a:xfrm>
            <a:off x="457200" y="5742432"/>
            <a:ext cx="4206240" cy="256032"/>
          </a:xfrm>
          <a:prstGeom prst="rect">
            <a:avLst/>
          </a:prstGeom>
          <a:noFill/>
          <a:ln/>
        </p:spPr>
        <p:txBody>
          <a:bodyPr wrap="square" lIns="0" tIns="0" rIns="0" bIns="0" rtlCol="0" anchor="ctr"/>
          <a:lstStyle/>
          <a:p>
            <a:pPr indent="0" marL="0">
              <a:buNone/>
            </a:pPr>
            <a:r>
              <a:rPr lang="en-US" sz="950" b="1" dirty="0">
                <a:solidFill>
                  <a:srgbClr val="1E3A8A"/>
                </a:solidFill>
                <a:latin typeface="Calibri" pitchFamily="34" charset="0"/>
                <a:ea typeface="Calibri" pitchFamily="34" charset="-122"/>
                <a:cs typeface="Calibri" pitchFamily="34" charset="-120"/>
              </a:rPr>
              <a:t>Servicios externos: </a:t>
            </a:r>
            <a:pPr indent="0" marL="0">
              <a:buNone/>
            </a:pPr>
            <a:r>
              <a:rPr lang="en-US" sz="950" dirty="0">
                <a:solidFill>
                  <a:srgbClr val="334155"/>
                </a:solidFill>
                <a:latin typeface="Calibri" pitchFamily="34" charset="0"/>
                <a:ea typeface="Calibri" pitchFamily="34" charset="-122"/>
                <a:cs typeface="Calibri" pitchFamily="34" charset="-120"/>
              </a:rPr>
              <a:t>análisis de aceite y limpiezas químicas</a:t>
            </a:r>
            <a:endParaRPr lang="en-US" sz="950" dirty="0"/>
          </a:p>
        </p:txBody>
      </p:sp>
      <p:sp>
        <p:nvSpPr>
          <p:cNvPr id="15" name="Etiqueta EQUIPO DE ANÁLISIS RCM P"/>
          <p:cNvSpPr txBox="1"/>
          <p:nvPr/>
        </p:nvSpPr>
        <p:spPr>
          <a:xfrm>
            <a:off x="4937760" y="1600200"/>
            <a:ext cx="37490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EQUIPO DE ANÁLISIS RCM PROPUESTO</a:t>
            </a:r>
            <a:endParaRPr lang="en-US" sz="1100" dirty="0"/>
          </a:p>
        </p:txBody>
      </p:sp>
      <p:sp>
        <p:nvSpPr>
          <p:cNvPr id="16" name="Rol 1 fondo"/>
          <p:cNvSpPr/>
          <p:nvPr/>
        </p:nvSpPr>
        <p:spPr>
          <a:xfrm>
            <a:off x="4937760" y="1874520"/>
            <a:ext cx="3749040" cy="713232"/>
          </a:xfrm>
          <a:prstGeom prst="roundRect">
            <a:avLst>
              <a:gd name="adj" fmla="val 8974"/>
            </a:avLst>
          </a:prstGeom>
          <a:solidFill>
            <a:srgbClr val="FDF1E1"/>
          </a:solidFill>
          <a:ln w="15875">
            <a:solidFill>
              <a:srgbClr val="B45309"/>
            </a:solidFill>
            <a:prstDash val="solid"/>
          </a:ln>
        </p:spPr>
      </p:sp>
      <p:sp>
        <p:nvSpPr>
          <p:cNvPr id="17" name="Rol 1 círculo"/>
          <p:cNvSpPr/>
          <p:nvPr/>
        </p:nvSpPr>
        <p:spPr>
          <a:xfrm>
            <a:off x="5047488" y="2057400"/>
            <a:ext cx="347472" cy="347472"/>
          </a:xfrm>
          <a:prstGeom prst="ellipse">
            <a:avLst/>
          </a:prstGeom>
          <a:solidFill>
            <a:srgbClr val="B45309"/>
          </a:solidFill>
          <a:ln w="12700">
            <a:solidFill>
              <a:srgbClr val="B45309"/>
            </a:solidFill>
            <a:prstDash val="solid"/>
          </a:ln>
        </p:spPr>
      </p:sp>
      <p:sp>
        <p:nvSpPr>
          <p:cNvPr id="18" name="Rol 1 cifra"/>
          <p:cNvSpPr txBox="1"/>
          <p:nvPr/>
        </p:nvSpPr>
        <p:spPr>
          <a:xfrm>
            <a:off x="5047488" y="20574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Rol 1 texto"/>
          <p:cNvSpPr txBox="1"/>
          <p:nvPr/>
        </p:nvSpPr>
        <p:spPr>
          <a:xfrm>
            <a:off x="5532120" y="1874520"/>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Facilitador</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aplica las siete preguntas del RCM y guía al grupo (el autor)</a:t>
            </a:r>
            <a:endParaRPr lang="en-US" sz="1150" dirty="0"/>
          </a:p>
        </p:txBody>
      </p:sp>
      <p:sp>
        <p:nvSpPr>
          <p:cNvPr id="20" name="Rol 2 fondo"/>
          <p:cNvSpPr/>
          <p:nvPr/>
        </p:nvSpPr>
        <p:spPr>
          <a:xfrm>
            <a:off x="4937760" y="2679192"/>
            <a:ext cx="3749040" cy="713232"/>
          </a:xfrm>
          <a:prstGeom prst="roundRect">
            <a:avLst>
              <a:gd name="adj" fmla="val 8974"/>
            </a:avLst>
          </a:prstGeom>
          <a:solidFill>
            <a:srgbClr val="EEF2FA"/>
          </a:solidFill>
          <a:ln w="9525">
            <a:solidFill>
              <a:srgbClr val="EEF2FA"/>
            </a:solidFill>
            <a:prstDash val="solid"/>
          </a:ln>
        </p:spPr>
      </p:sp>
      <p:sp>
        <p:nvSpPr>
          <p:cNvPr id="21" name="Rol 2 círculo"/>
          <p:cNvSpPr/>
          <p:nvPr/>
        </p:nvSpPr>
        <p:spPr>
          <a:xfrm>
            <a:off x="5047488" y="2862072"/>
            <a:ext cx="347472" cy="347472"/>
          </a:xfrm>
          <a:prstGeom prst="ellipse">
            <a:avLst/>
          </a:prstGeom>
          <a:solidFill>
            <a:srgbClr val="1E3A8A"/>
          </a:solidFill>
          <a:ln w="12700">
            <a:solidFill>
              <a:srgbClr val="1E3A8A"/>
            </a:solidFill>
            <a:prstDash val="solid"/>
          </a:ln>
        </p:spPr>
      </p:sp>
      <p:sp>
        <p:nvSpPr>
          <p:cNvPr id="22" name="Rol 2 cifra"/>
          <p:cNvSpPr txBox="1"/>
          <p:nvPr/>
        </p:nvSpPr>
        <p:spPr>
          <a:xfrm>
            <a:off x="5047488" y="2862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Rol 2 texto"/>
          <p:cNvSpPr txBox="1"/>
          <p:nvPr/>
        </p:nvSpPr>
        <p:spPr>
          <a:xfrm>
            <a:off x="5532120" y="2679192"/>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Supervisor de producción</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define funciones y consecuencias desde el cliente</a:t>
            </a:r>
            <a:endParaRPr lang="en-US" sz="1150" dirty="0"/>
          </a:p>
        </p:txBody>
      </p:sp>
      <p:sp>
        <p:nvSpPr>
          <p:cNvPr id="24" name="Rol 3 fondo"/>
          <p:cNvSpPr/>
          <p:nvPr/>
        </p:nvSpPr>
        <p:spPr>
          <a:xfrm>
            <a:off x="4937760" y="3483864"/>
            <a:ext cx="3749040" cy="713232"/>
          </a:xfrm>
          <a:prstGeom prst="roundRect">
            <a:avLst>
              <a:gd name="adj" fmla="val 8974"/>
            </a:avLst>
          </a:prstGeom>
          <a:solidFill>
            <a:srgbClr val="EEF2FA"/>
          </a:solidFill>
          <a:ln w="9525">
            <a:solidFill>
              <a:srgbClr val="EEF2FA"/>
            </a:solidFill>
            <a:prstDash val="solid"/>
          </a:ln>
        </p:spPr>
      </p:sp>
      <p:sp>
        <p:nvSpPr>
          <p:cNvPr id="25" name="Rol 3 círculo"/>
          <p:cNvSpPr/>
          <p:nvPr/>
        </p:nvSpPr>
        <p:spPr>
          <a:xfrm>
            <a:off x="5047488" y="3666744"/>
            <a:ext cx="347472" cy="347472"/>
          </a:xfrm>
          <a:prstGeom prst="ellipse">
            <a:avLst/>
          </a:prstGeom>
          <a:solidFill>
            <a:srgbClr val="1E3A8A"/>
          </a:solidFill>
          <a:ln w="12700">
            <a:solidFill>
              <a:srgbClr val="1E3A8A"/>
            </a:solidFill>
            <a:prstDash val="solid"/>
          </a:ln>
        </p:spPr>
      </p:sp>
      <p:sp>
        <p:nvSpPr>
          <p:cNvPr id="26" name="Rol 3 cifra"/>
          <p:cNvSpPr txBox="1"/>
          <p:nvPr/>
        </p:nvSpPr>
        <p:spPr>
          <a:xfrm>
            <a:off x="5047488" y="36667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Rol 3 texto"/>
          <p:cNvSpPr txBox="1"/>
          <p:nvPr/>
        </p:nvSpPr>
        <p:spPr>
          <a:xfrm>
            <a:off x="5532120" y="3483864"/>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Operador de campo</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aporta los modos de falla reales y sus efectos</a:t>
            </a:r>
            <a:endParaRPr lang="en-US" sz="1150" dirty="0"/>
          </a:p>
        </p:txBody>
      </p:sp>
      <p:sp>
        <p:nvSpPr>
          <p:cNvPr id="28" name="Rol 4 fondo"/>
          <p:cNvSpPr/>
          <p:nvPr/>
        </p:nvSpPr>
        <p:spPr>
          <a:xfrm>
            <a:off x="4937760" y="4288536"/>
            <a:ext cx="3749040" cy="713232"/>
          </a:xfrm>
          <a:prstGeom prst="roundRect">
            <a:avLst>
              <a:gd name="adj" fmla="val 8974"/>
            </a:avLst>
          </a:prstGeom>
          <a:solidFill>
            <a:srgbClr val="EEF2FA"/>
          </a:solidFill>
          <a:ln w="9525">
            <a:solidFill>
              <a:srgbClr val="EEF2FA"/>
            </a:solidFill>
            <a:prstDash val="solid"/>
          </a:ln>
        </p:spPr>
      </p:sp>
      <p:sp>
        <p:nvSpPr>
          <p:cNvPr id="29" name="Rol 4 círculo"/>
          <p:cNvSpPr/>
          <p:nvPr/>
        </p:nvSpPr>
        <p:spPr>
          <a:xfrm>
            <a:off x="5047488" y="4471416"/>
            <a:ext cx="347472" cy="347472"/>
          </a:xfrm>
          <a:prstGeom prst="ellipse">
            <a:avLst/>
          </a:prstGeom>
          <a:solidFill>
            <a:srgbClr val="1E3A8A"/>
          </a:solidFill>
          <a:ln w="12700">
            <a:solidFill>
              <a:srgbClr val="1E3A8A"/>
            </a:solidFill>
            <a:prstDash val="solid"/>
          </a:ln>
        </p:spPr>
      </p:sp>
      <p:sp>
        <p:nvSpPr>
          <p:cNvPr id="30" name="Rol 4 cifra"/>
          <p:cNvSpPr txBox="1"/>
          <p:nvPr/>
        </p:nvSpPr>
        <p:spPr>
          <a:xfrm>
            <a:off x="5047488" y="44714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Rol 4 texto"/>
          <p:cNvSpPr txBox="1"/>
          <p:nvPr/>
        </p:nvSpPr>
        <p:spPr>
          <a:xfrm>
            <a:off x="5532120" y="4288536"/>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Técnico de taller</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evalúa la factibilidad de las tareas y la canibalización</a:t>
            </a:r>
            <a:endParaRPr lang="en-US" sz="1150" dirty="0"/>
          </a:p>
        </p:txBody>
      </p:sp>
      <p:sp>
        <p:nvSpPr>
          <p:cNvPr id="32" name="Rol 5 fondo"/>
          <p:cNvSpPr/>
          <p:nvPr/>
        </p:nvSpPr>
        <p:spPr>
          <a:xfrm>
            <a:off x="4937760" y="5093208"/>
            <a:ext cx="3749040" cy="713232"/>
          </a:xfrm>
          <a:prstGeom prst="roundRect">
            <a:avLst>
              <a:gd name="adj" fmla="val 8974"/>
            </a:avLst>
          </a:prstGeom>
          <a:solidFill>
            <a:srgbClr val="EEF2FA"/>
          </a:solidFill>
          <a:ln w="9525">
            <a:solidFill>
              <a:srgbClr val="EEF2FA"/>
            </a:solidFill>
            <a:prstDash val="solid"/>
          </a:ln>
        </p:spPr>
      </p:sp>
      <p:sp>
        <p:nvSpPr>
          <p:cNvPr id="33" name="Rol 5 círculo"/>
          <p:cNvSpPr/>
          <p:nvPr/>
        </p:nvSpPr>
        <p:spPr>
          <a:xfrm>
            <a:off x="5047488" y="5276088"/>
            <a:ext cx="347472" cy="347472"/>
          </a:xfrm>
          <a:prstGeom prst="ellipse">
            <a:avLst/>
          </a:prstGeom>
          <a:solidFill>
            <a:srgbClr val="1E3A8A"/>
          </a:solidFill>
          <a:ln w="12700">
            <a:solidFill>
              <a:srgbClr val="1E3A8A"/>
            </a:solidFill>
            <a:prstDash val="solid"/>
          </a:ln>
        </p:spPr>
      </p:sp>
      <p:sp>
        <p:nvSpPr>
          <p:cNvPr id="34" name="Rol 5 cifra"/>
          <p:cNvSpPr txBox="1"/>
          <p:nvPr/>
        </p:nvSpPr>
        <p:spPr>
          <a:xfrm>
            <a:off x="5047488" y="527608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Rol 5 texto"/>
          <p:cNvSpPr txBox="1"/>
          <p:nvPr/>
        </p:nvSpPr>
        <p:spPr>
          <a:xfrm>
            <a:off x="5532120" y="5093208"/>
            <a:ext cx="3063240" cy="713232"/>
          </a:xfrm>
          <a:prstGeom prst="rect">
            <a:avLst/>
          </a:prstGeom>
          <a:noFill/>
          <a:ln/>
        </p:spPr>
        <p:txBody>
          <a:bodyPr wrap="square" lIns="0" tIns="0" rIns="0" bIns="0" rtlCol="0" anchor="ctr"/>
          <a:lstStyle/>
          <a:p>
            <a:pPr indent="0" marL="0">
              <a:buNone/>
            </a:pPr>
            <a:r>
              <a:rPr lang="en-US" sz="1150" b="1" dirty="0">
                <a:solidFill>
                  <a:srgbClr val="1E3A8A"/>
                </a:solidFill>
                <a:latin typeface="Calibri" pitchFamily="34" charset="0"/>
                <a:ea typeface="Calibri" pitchFamily="34" charset="-122"/>
                <a:cs typeface="Calibri" pitchFamily="34" charset="-120"/>
              </a:rPr>
              <a:t>Supervisor de ingeniería</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decide rediseños y la visión estratégica</a:t>
            </a:r>
            <a:endParaRPr lang="en-US" sz="1150" dirty="0"/>
          </a:p>
        </p:txBody>
      </p:sp>
      <p:sp>
        <p:nvSpPr>
          <p:cNvPr id="36"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PLAN DE MANTENIMIENTO · RECURSO MATERIAL</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plan requiere 91 recursos materiales; el 85 % de su costo es instrumentación de medición</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Sin instrumentos no hay mantenimiento a condición: la inversión compra capacidad de diagnóstico</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 tablas «Recursos, máquinas herramientas, herramientas e insumos» y «Análisis presupuestal…» (91 ítems, US$ 54 709). Agrupación por categoría: cálculo propio.</a:t>
            </a:r>
            <a:endParaRPr lang="en-US" sz="900" dirty="0"/>
          </a:p>
        </p:txBody>
      </p:sp>
      <p:sp>
        <p:nvSpPr>
          <p:cNvPr id="8" name="Etiqueta COSTO POR CATEGORÍA (US$"/>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COSTO POR CATEGORÍA (US$)</a:t>
            </a:r>
            <a:endParaRPr lang="en-US" sz="1100" dirty="0"/>
          </a:p>
        </p:txBody>
      </p:sp>
      <p:graphicFrame>
        <p:nvGraphicFramePr>
          <p:cNvPr id="9" name="Gráfico costo por categoría" descr="Costo del recurso material por categoría: Medición mecánica, térmica y de fluidos US$ 17170, Medición eléctrica US$ 15960, Diagnóstico electrónico US$ 13400, Herramientas e insumos US$ 4589, Repuestos US$ 3590"/>
          <p:cNvGraphicFramePr/>
          <p:nvPr/>
        </p:nvGraphicFramePr>
        <p:xfrm>
          <a:off x="320040" y="1828800"/>
          <a:ext cx="5257800" cy="4069080"/>
        </p:xfrm>
        <a:graphic xmlns:a="http://schemas.openxmlformats.org/drawingml/2006/main">
          <a:graphicData uri="http://schemas.openxmlformats.org/drawingml/2006/chart">
            <c:chart xmlns:c="http://schemas.openxmlformats.org/drawingml/2006/chart" r:id="rId2"/>
          </a:graphicData>
        </a:graphic>
      </p:graphicFrame>
      <p:sp>
        <p:nvSpPr>
          <p:cNvPr id="10" name="Cifra 1 tarjeta"/>
          <p:cNvSpPr/>
          <p:nvPr/>
        </p:nvSpPr>
        <p:spPr>
          <a:xfrm>
            <a:off x="5897880" y="1783080"/>
            <a:ext cx="2788920" cy="1280160"/>
          </a:xfrm>
          <a:prstGeom prst="roundRect">
            <a:avLst>
              <a:gd name="adj" fmla="val 5000"/>
            </a:avLst>
          </a:prstGeom>
          <a:solidFill>
            <a:srgbClr val="EEF2FA"/>
          </a:solidFill>
          <a:ln w="9525">
            <a:solidFill>
              <a:srgbClr val="EEF2FA"/>
            </a:solidFill>
            <a:prstDash val="solid"/>
          </a:ln>
        </p:spPr>
      </p:sp>
      <p:sp>
        <p:nvSpPr>
          <p:cNvPr id="11" name="Cifra 1 cifra"/>
          <p:cNvSpPr txBox="1"/>
          <p:nvPr/>
        </p:nvSpPr>
        <p:spPr>
          <a:xfrm>
            <a:off x="6062472" y="1856232"/>
            <a:ext cx="251460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US$ 54 709</a:t>
            </a:r>
            <a:endParaRPr lang="en-US" sz="2600" dirty="0"/>
          </a:p>
        </p:txBody>
      </p:sp>
      <p:sp>
        <p:nvSpPr>
          <p:cNvPr id="12" name="Cifra 1 etiqueta"/>
          <p:cNvSpPr txBox="1"/>
          <p:nvPr/>
        </p:nvSpPr>
        <p:spPr>
          <a:xfrm>
            <a:off x="6062472" y="236829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91 ítems presupuestados</a:t>
            </a:r>
            <a:endParaRPr lang="en-US" sz="1100" dirty="0"/>
          </a:p>
        </p:txBody>
      </p:sp>
      <p:sp>
        <p:nvSpPr>
          <p:cNvPr id="13" name="Cifra 1 detalle"/>
          <p:cNvSpPr txBox="1"/>
          <p:nvPr/>
        </p:nvSpPr>
        <p:spPr>
          <a:xfrm>
            <a:off x="6062472" y="262432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instrumentos, herramientas, insumos y repuestos</a:t>
            </a:r>
            <a:endParaRPr lang="en-US" sz="1000" dirty="0"/>
          </a:p>
        </p:txBody>
      </p:sp>
      <p:sp>
        <p:nvSpPr>
          <p:cNvPr id="14" name="Cifra 2 tarjeta"/>
          <p:cNvSpPr/>
          <p:nvPr/>
        </p:nvSpPr>
        <p:spPr>
          <a:xfrm>
            <a:off x="5897880" y="3200400"/>
            <a:ext cx="2788920" cy="1280160"/>
          </a:xfrm>
          <a:prstGeom prst="roundRect">
            <a:avLst>
              <a:gd name="adj" fmla="val 5000"/>
            </a:avLst>
          </a:prstGeom>
          <a:solidFill>
            <a:srgbClr val="FDF1E1"/>
          </a:solidFill>
          <a:ln w="15875">
            <a:solidFill>
              <a:srgbClr val="B45309"/>
            </a:solidFill>
            <a:prstDash val="solid"/>
          </a:ln>
        </p:spPr>
      </p:sp>
      <p:sp>
        <p:nvSpPr>
          <p:cNvPr id="15" name="Cifra 2 cifra"/>
          <p:cNvSpPr txBox="1"/>
          <p:nvPr/>
        </p:nvSpPr>
        <p:spPr>
          <a:xfrm>
            <a:off x="6062472" y="3273552"/>
            <a:ext cx="2514600" cy="502920"/>
          </a:xfrm>
          <a:prstGeom prst="rect">
            <a:avLst/>
          </a:prstGeom>
          <a:noFill/>
          <a:ln/>
        </p:spPr>
        <p:txBody>
          <a:bodyPr wrap="square" lIns="0" tIns="0" rIns="0" bIns="0" rtlCol="0" anchor="ctr"/>
          <a:lstStyle/>
          <a:p>
            <a:pPr indent="0" marL="0">
              <a:buNone/>
            </a:pPr>
            <a:r>
              <a:rPr lang="en-US" sz="2600" b="1" dirty="0">
                <a:solidFill>
                  <a:srgbClr val="B45309"/>
                </a:solidFill>
                <a:latin typeface="Calibri" pitchFamily="34" charset="0"/>
                <a:ea typeface="Calibri" pitchFamily="34" charset="-122"/>
                <a:cs typeface="Calibri" pitchFamily="34" charset="-120"/>
              </a:rPr>
              <a:t>85 %</a:t>
            </a:r>
            <a:endParaRPr lang="en-US" sz="2600" dirty="0"/>
          </a:p>
        </p:txBody>
      </p:sp>
      <p:sp>
        <p:nvSpPr>
          <p:cNvPr id="16" name="Cifra 2 etiqueta"/>
          <p:cNvSpPr txBox="1"/>
          <p:nvPr/>
        </p:nvSpPr>
        <p:spPr>
          <a:xfrm>
            <a:off x="6062472" y="378561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en instrumentación</a:t>
            </a:r>
            <a:endParaRPr lang="en-US" sz="1100" dirty="0"/>
          </a:p>
        </p:txBody>
      </p:sp>
      <p:sp>
        <p:nvSpPr>
          <p:cNvPr id="17" name="Cifra 2 detalle"/>
          <p:cNvSpPr txBox="1"/>
          <p:nvPr/>
        </p:nvSpPr>
        <p:spPr>
          <a:xfrm>
            <a:off x="6062472" y="404164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US$ 46 530: medición mecánica, eléctrica y diagnóstico EMS2</a:t>
            </a:r>
            <a:endParaRPr lang="en-US" sz="1000" dirty="0"/>
          </a:p>
        </p:txBody>
      </p:sp>
      <p:sp>
        <p:nvSpPr>
          <p:cNvPr id="18" name="Cifra 3 tarjeta"/>
          <p:cNvSpPr/>
          <p:nvPr/>
        </p:nvSpPr>
        <p:spPr>
          <a:xfrm>
            <a:off x="5897880" y="4617720"/>
            <a:ext cx="2788920" cy="1280160"/>
          </a:xfrm>
          <a:prstGeom prst="roundRect">
            <a:avLst>
              <a:gd name="adj" fmla="val 5000"/>
            </a:avLst>
          </a:prstGeom>
          <a:solidFill>
            <a:srgbClr val="EEF2FA"/>
          </a:solidFill>
          <a:ln w="9525">
            <a:solidFill>
              <a:srgbClr val="EEF2FA"/>
            </a:solidFill>
            <a:prstDash val="solid"/>
          </a:ln>
        </p:spPr>
      </p:sp>
      <p:sp>
        <p:nvSpPr>
          <p:cNvPr id="19" name="Cifra 3 cifra"/>
          <p:cNvSpPr txBox="1"/>
          <p:nvPr/>
        </p:nvSpPr>
        <p:spPr>
          <a:xfrm>
            <a:off x="6062472" y="4690872"/>
            <a:ext cx="2514600" cy="502920"/>
          </a:xfrm>
          <a:prstGeom prst="rect">
            <a:avLst/>
          </a:prstGeom>
          <a:noFill/>
          <a:ln/>
        </p:spPr>
        <p:txBody>
          <a:bodyPr wrap="square" lIns="0" tIns="0" rIns="0" bIns="0" rtlCol="0" anchor="ctr"/>
          <a:lstStyle/>
          <a:p>
            <a:pPr indent="0" marL="0">
              <a:buNone/>
            </a:pPr>
            <a:r>
              <a:rPr lang="en-US" sz="2600" b="1" dirty="0">
                <a:solidFill>
                  <a:srgbClr val="1E3A8A"/>
                </a:solidFill>
                <a:latin typeface="Calibri" pitchFamily="34" charset="0"/>
                <a:ea typeface="Calibri" pitchFamily="34" charset="-122"/>
                <a:cs typeface="Calibri" pitchFamily="34" charset="-120"/>
              </a:rPr>
              <a:t>Toda la flota</a:t>
            </a:r>
            <a:endParaRPr lang="en-US" sz="2600" dirty="0"/>
          </a:p>
        </p:txBody>
      </p:sp>
      <p:sp>
        <p:nvSpPr>
          <p:cNvPr id="20" name="Cifra 3 etiqueta"/>
          <p:cNvSpPr txBox="1"/>
          <p:nvPr/>
        </p:nvSpPr>
        <p:spPr>
          <a:xfrm>
            <a:off x="6062472" y="5202936"/>
            <a:ext cx="2514600" cy="237744"/>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no solo los 3 grupos</a:t>
            </a:r>
            <a:endParaRPr lang="en-US" sz="1100" dirty="0"/>
          </a:p>
        </p:txBody>
      </p:sp>
      <p:sp>
        <p:nvSpPr>
          <p:cNvPr id="21" name="Cifra 3 detalle"/>
          <p:cNvSpPr txBox="1"/>
          <p:nvPr/>
        </p:nvSpPr>
        <p:spPr>
          <a:xfrm>
            <a:off x="6062472" y="5458968"/>
            <a:ext cx="2514600" cy="384048"/>
          </a:xfrm>
          <a:prstGeom prst="rect">
            <a:avLst/>
          </a:prstGeom>
          <a:noFill/>
          <a:ln/>
        </p:spPr>
        <p:txBody>
          <a:bodyPr wrap="square" lIns="0" tIns="0" rIns="0" bIns="0" rtlCol="0" anchor="t"/>
          <a:lstStyle/>
          <a:p>
            <a:pPr indent="0" marL="0">
              <a:buNone/>
            </a:pPr>
            <a:r>
              <a:rPr lang="en-US" sz="1000" dirty="0">
                <a:solidFill>
                  <a:srgbClr val="334155"/>
                </a:solidFill>
                <a:latin typeface="Calibri" pitchFamily="34" charset="0"/>
                <a:ea typeface="Calibri" pitchFamily="34" charset="-122"/>
                <a:cs typeface="Calibri" pitchFamily="34" charset="-120"/>
              </a:rPr>
              <a:t>La tesis aclara que el equipamiento es de empleo general: S/ 190 397 (09/2025)</a:t>
            </a:r>
            <a:endParaRPr lang="en-US" sz="1000" dirty="0"/>
          </a:p>
        </p:txBody>
      </p:sp>
      <p:sp>
        <p:nvSpPr>
          <p:cNvPr id="22"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HERRAMIENTAS E INSUMOS</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10 instrumentos concentran el 66 % de la inversión de US$ 54 709</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inversión se concentra en diagnóstico eléctrico y del motor, justo donde están los modos de mayor NPR</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 tabla «Análisis presupuestal de herramientas, insumos y consumibles» (cantidad × USD/unidad). Ranking y porcentajes: cálculo propio.</a:t>
            </a:r>
            <a:endParaRPr lang="en-US" sz="900" dirty="0"/>
          </a:p>
        </p:txBody>
      </p:sp>
      <p:sp>
        <p:nvSpPr>
          <p:cNvPr id="8" name="Etiqueta LOS 10 ÍTEMS DE MAYOR CO"/>
          <p:cNvSpPr txBox="1"/>
          <p:nvPr/>
        </p:nvSpPr>
        <p:spPr>
          <a:xfrm>
            <a:off x="457200" y="1600200"/>
            <a:ext cx="521208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LOS 10 ÍTEMS DE MAYOR COSTO (US$, CANTIDAD)</a:t>
            </a:r>
            <a:endParaRPr lang="en-US" sz="1100" dirty="0"/>
          </a:p>
        </p:txBody>
      </p:sp>
      <p:graphicFrame>
        <p:nvGraphicFramePr>
          <p:cNvPr id="9" name="Gráfico top 10" descr="Diez ítems de mayor costo: Analizador de armónicos US$ 6000, Scanner VODIA US$ 6000, Megóhmetro US$ 4800, Analizador de vibraciones US$ 3600, Contador láser de partículas (ISO 4406) US$ 3500, PC con VODIA US$ 3000, Banco de pruebas de inyectores US$ 2500, Cámara termográfica US$ 2500, Micro-ohmímetro 100 A US$ 2500, Turbocompresor nuevo US$ 1800"/>
          <p:cNvGraphicFramePr/>
          <p:nvPr/>
        </p:nvGraphicFramePr>
        <p:xfrm>
          <a:off x="320040" y="1828800"/>
          <a:ext cx="5349240" cy="4069080"/>
        </p:xfrm>
        <a:graphic xmlns:a="http://schemas.openxmlformats.org/drawingml/2006/main">
          <a:graphicData uri="http://schemas.openxmlformats.org/drawingml/2006/chart">
            <c:chart xmlns:c="http://schemas.openxmlformats.org/drawingml/2006/chart" r:id="rId2"/>
          </a:graphicData>
        </a:graphic>
      </p:graphicFrame>
      <p:sp>
        <p:nvSpPr>
          <p:cNvPr id="10" name="Etiqueta PARA QUÉ SIRVEN (SEGÚN L"/>
          <p:cNvSpPr txBox="1"/>
          <p:nvPr/>
        </p:nvSpPr>
        <p:spPr>
          <a:xfrm>
            <a:off x="5897880" y="1600200"/>
            <a:ext cx="2788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PARA QUÉ SIRVEN (SEGÚN LA TESIS)</a:t>
            </a:r>
            <a:endParaRPr lang="en-US" sz="1100" dirty="0"/>
          </a:p>
        </p:txBody>
      </p:sp>
      <p:sp>
        <p:nvSpPr>
          <p:cNvPr id="11" name="Uso 1 fondo"/>
          <p:cNvSpPr/>
          <p:nvPr/>
        </p:nvSpPr>
        <p:spPr>
          <a:xfrm>
            <a:off x="5897880" y="1856232"/>
            <a:ext cx="2788920" cy="530352"/>
          </a:xfrm>
          <a:prstGeom prst="roundRect">
            <a:avLst>
              <a:gd name="adj" fmla="val 12069"/>
            </a:avLst>
          </a:prstGeom>
          <a:solidFill>
            <a:srgbClr val="FDF1E1"/>
          </a:solidFill>
          <a:ln w="9525">
            <a:solidFill>
              <a:srgbClr val="B45309"/>
            </a:solidFill>
            <a:prstDash val="solid"/>
          </a:ln>
        </p:spPr>
      </p:sp>
      <p:sp>
        <p:nvSpPr>
          <p:cNvPr id="12" name="Uso 1 texto"/>
          <p:cNvSpPr txBox="1"/>
          <p:nvPr/>
        </p:nvSpPr>
        <p:spPr>
          <a:xfrm>
            <a:off x="6016752" y="1856232"/>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Analizador de armónicos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estabilidad de voltaje y distorsión armónica</a:t>
            </a:r>
            <a:endParaRPr lang="en-US" sz="1050" dirty="0"/>
          </a:p>
        </p:txBody>
      </p:sp>
      <p:sp>
        <p:nvSpPr>
          <p:cNvPr id="13" name="Uso 2 fondo"/>
          <p:cNvSpPr/>
          <p:nvPr/>
        </p:nvSpPr>
        <p:spPr>
          <a:xfrm>
            <a:off x="5897880" y="2459736"/>
            <a:ext cx="2788920" cy="530352"/>
          </a:xfrm>
          <a:prstGeom prst="roundRect">
            <a:avLst>
              <a:gd name="adj" fmla="val 12069"/>
            </a:avLst>
          </a:prstGeom>
          <a:solidFill>
            <a:srgbClr val="FDF1E1"/>
          </a:solidFill>
          <a:ln w="9525">
            <a:solidFill>
              <a:srgbClr val="B45309"/>
            </a:solidFill>
            <a:prstDash val="solid"/>
          </a:ln>
        </p:spPr>
      </p:sp>
      <p:sp>
        <p:nvSpPr>
          <p:cNvPr id="14" name="Uso 2 texto"/>
          <p:cNvSpPr txBox="1"/>
          <p:nvPr/>
        </p:nvSpPr>
        <p:spPr>
          <a:xfrm>
            <a:off x="6016752" y="2459736"/>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Scanner VODIA</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diagnóstico y monitoreo del EMS2</a:t>
            </a:r>
            <a:endParaRPr lang="en-US" sz="1050" dirty="0"/>
          </a:p>
        </p:txBody>
      </p:sp>
      <p:sp>
        <p:nvSpPr>
          <p:cNvPr id="15" name="Uso 3 fondo"/>
          <p:cNvSpPr/>
          <p:nvPr/>
        </p:nvSpPr>
        <p:spPr>
          <a:xfrm>
            <a:off x="5897880" y="3063240"/>
            <a:ext cx="2788920" cy="530352"/>
          </a:xfrm>
          <a:prstGeom prst="roundRect">
            <a:avLst>
              <a:gd name="adj" fmla="val 12069"/>
            </a:avLst>
          </a:prstGeom>
          <a:solidFill>
            <a:srgbClr val="EEF2FA"/>
          </a:solidFill>
          <a:ln w="9525">
            <a:solidFill>
              <a:srgbClr val="EEF2FA"/>
            </a:solidFill>
            <a:prstDash val="solid"/>
          </a:ln>
        </p:spPr>
      </p:sp>
      <p:sp>
        <p:nvSpPr>
          <p:cNvPr id="16" name="Uso 3 texto"/>
          <p:cNvSpPr txBox="1"/>
          <p:nvPr/>
        </p:nvSpPr>
        <p:spPr>
          <a:xfrm>
            <a:off x="6016752" y="3063240"/>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Megóhmetro</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resistencia de aislamiento</a:t>
            </a:r>
            <a:endParaRPr lang="en-US" sz="1050" dirty="0"/>
          </a:p>
        </p:txBody>
      </p:sp>
      <p:sp>
        <p:nvSpPr>
          <p:cNvPr id="17" name="Uso 4 fondo"/>
          <p:cNvSpPr/>
          <p:nvPr/>
        </p:nvSpPr>
        <p:spPr>
          <a:xfrm>
            <a:off x="5897880" y="3666744"/>
            <a:ext cx="2788920" cy="530352"/>
          </a:xfrm>
          <a:prstGeom prst="roundRect">
            <a:avLst>
              <a:gd name="adj" fmla="val 12069"/>
            </a:avLst>
          </a:prstGeom>
          <a:solidFill>
            <a:srgbClr val="EEF2FA"/>
          </a:solidFill>
          <a:ln w="9525">
            <a:solidFill>
              <a:srgbClr val="EEF2FA"/>
            </a:solidFill>
            <a:prstDash val="solid"/>
          </a:ln>
        </p:spPr>
      </p:sp>
      <p:sp>
        <p:nvSpPr>
          <p:cNvPr id="18" name="Uso 4 texto"/>
          <p:cNvSpPr txBox="1"/>
          <p:nvPr/>
        </p:nvSpPr>
        <p:spPr>
          <a:xfrm>
            <a:off x="6016752" y="3666744"/>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Analizador de vibraciones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rodamientos y estructuras</a:t>
            </a:r>
            <a:endParaRPr lang="en-US" sz="1050" dirty="0"/>
          </a:p>
        </p:txBody>
      </p:sp>
      <p:sp>
        <p:nvSpPr>
          <p:cNvPr id="19" name="Uso 5 fondo"/>
          <p:cNvSpPr/>
          <p:nvPr/>
        </p:nvSpPr>
        <p:spPr>
          <a:xfrm>
            <a:off x="5897880" y="4270248"/>
            <a:ext cx="2788920" cy="530352"/>
          </a:xfrm>
          <a:prstGeom prst="roundRect">
            <a:avLst>
              <a:gd name="adj" fmla="val 12069"/>
            </a:avLst>
          </a:prstGeom>
          <a:solidFill>
            <a:srgbClr val="EEF2FA"/>
          </a:solidFill>
          <a:ln w="9525">
            <a:solidFill>
              <a:srgbClr val="EEF2FA"/>
            </a:solidFill>
            <a:prstDash val="solid"/>
          </a:ln>
        </p:spPr>
      </p:sp>
      <p:sp>
        <p:nvSpPr>
          <p:cNvPr id="20" name="Uso 5 texto"/>
          <p:cNvSpPr txBox="1"/>
          <p:nvPr/>
        </p:nvSpPr>
        <p:spPr>
          <a:xfrm>
            <a:off x="6016752" y="4270248"/>
            <a:ext cx="2606040" cy="530352"/>
          </a:xfrm>
          <a:prstGeom prst="rect">
            <a:avLst/>
          </a:prstGeom>
          <a:noFill/>
          <a:ln/>
        </p:spPr>
        <p:txBody>
          <a:bodyPr wrap="square" lIns="0" tIns="0" rIns="0" bIns="0" rtlCol="0" anchor="ctr"/>
          <a:lstStyle/>
          <a:p>
            <a:pPr indent="0" marL="0">
              <a:buNone/>
            </a:pPr>
            <a:r>
              <a:rPr lang="en-US" sz="1050" b="1" dirty="0">
                <a:solidFill>
                  <a:srgbClr val="1E3A8A"/>
                </a:solidFill>
                <a:latin typeface="Calibri" pitchFamily="34" charset="0"/>
                <a:ea typeface="Calibri" pitchFamily="34" charset="-122"/>
                <a:cs typeface="Calibri" pitchFamily="34" charset="-120"/>
              </a:rPr>
              <a:t>Contador de partículas</a:t>
            </a:r>
            <a:endParaRPr lang="en-US" sz="1050" dirty="0"/>
          </a:p>
          <a:p>
            <a:pPr indent="0" marL="0">
              <a:buNone/>
            </a:pPr>
            <a:r>
              <a:rPr lang="en-US" sz="950" dirty="0">
                <a:solidFill>
                  <a:srgbClr val="334155"/>
                </a:solidFill>
                <a:latin typeface="Calibri" pitchFamily="34" charset="0"/>
                <a:ea typeface="Calibri" pitchFamily="34" charset="-122"/>
                <a:cs typeface="Calibri" pitchFamily="34" charset="-120"/>
              </a:rPr>
              <a:t>calidad del diésel (ISO 4406)</a:t>
            </a:r>
            <a:endParaRPr lang="en-US" sz="1050" dirty="0"/>
          </a:p>
        </p:txBody>
      </p:sp>
      <p:sp>
        <p:nvSpPr>
          <p:cNvPr id="21" name="Resto fondo"/>
          <p:cNvSpPr/>
          <p:nvPr/>
        </p:nvSpPr>
        <p:spPr>
          <a:xfrm>
            <a:off x="5897880" y="4919472"/>
            <a:ext cx="2788920" cy="978408"/>
          </a:xfrm>
          <a:prstGeom prst="roundRect">
            <a:avLst>
              <a:gd name="adj" fmla="val 6542"/>
            </a:avLst>
          </a:prstGeom>
          <a:solidFill>
            <a:srgbClr val="FFFFFF"/>
          </a:solidFill>
          <a:ln w="9525">
            <a:solidFill>
              <a:srgbClr val="CBD5E1"/>
            </a:solidFill>
            <a:prstDash val="solid"/>
          </a:ln>
        </p:spPr>
      </p:sp>
      <p:sp>
        <p:nvSpPr>
          <p:cNvPr id="22" name="Resto texto"/>
          <p:cNvSpPr txBox="1"/>
          <p:nvPr/>
        </p:nvSpPr>
        <p:spPr>
          <a:xfrm>
            <a:off x="6016752" y="4919472"/>
            <a:ext cx="2606040" cy="978408"/>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US$ 18 509</a:t>
            </a:r>
            <a:endParaRPr lang="en-US" sz="1800" dirty="0"/>
          </a:p>
          <a:p>
            <a:pPr indent="0" marL="0">
              <a:buNone/>
            </a:pPr>
            <a:r>
              <a:rPr lang="en-US" sz="950" dirty="0">
                <a:solidFill>
                  <a:srgbClr val="334155"/>
                </a:solidFill>
                <a:latin typeface="Calibri" pitchFamily="34" charset="0"/>
                <a:ea typeface="Calibri" pitchFamily="34" charset="-122"/>
                <a:cs typeface="Calibri" pitchFamily="34" charset="-120"/>
              </a:rPr>
              <a:t>los otros 81 ítems: herramientas, insumos, consumibles y repuestos menores</a:t>
            </a:r>
            <a:endParaRPr lang="en-US" sz="1800" dirty="0"/>
          </a:p>
        </p:txBody>
      </p:sp>
      <p:sp>
        <p:nvSpPr>
          <p:cNvPr id="23"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4.4 · PROYECCIONES · MTBF Y MTTR</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MTTR baja a la mitad; las horas recuperadas dependen de cuánto operen los equipos</a:t>
            </a:r>
            <a:endParaRPr lang="en-US" sz="2400" dirty="0"/>
          </a:p>
        </p:txBody>
      </p:sp>
      <p:sp>
        <p:nvSpPr>
          <p:cNvPr id="5" name="Subtítulo"/>
          <p:cNvSpPr txBox="1"/>
          <p:nvPr/>
        </p:nvSpPr>
        <p:spPr>
          <a:xfrm>
            <a:off x="457200" y="1444752"/>
            <a:ext cx="8229600" cy="274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Mismos objetivos de MTBF y MTTR, dos formas de traducirlos a horas por año</a:t>
            </a:r>
            <a:endParaRPr lang="en-US" sz="1300" dirty="0"/>
          </a:p>
        </p:txBody>
      </p:sp>
      <p:sp>
        <p:nvSpPr>
          <p:cNvPr id="6"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7"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MTTR baja 49–54 % en los tres equipos: la mejora de D es robusta; su valor en horas depende de la demanda</a:t>
            </a:r>
            <a:endParaRPr lang="en-US" sz="1200" dirty="0"/>
          </a:p>
        </p:txBody>
      </p:sp>
      <p:sp>
        <p:nvSpPr>
          <p:cNvPr id="8"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4.4–4.5 — MTTR y MTBF proyectados, «Horas recuperadas en el año» (ΔA × 8 760 h) y «Reducción esperada de eventos» (8 000 h/año). Parada histórica y escenario acotado: cálculo propio (fallas/4 años × MTTR).</a:t>
            </a:r>
            <a:endParaRPr lang="en-US" sz="900" dirty="0"/>
          </a:p>
        </p:txBody>
      </p:sp>
      <p:sp>
        <p:nvSpPr>
          <p:cNvPr id="9" name="Etiqueta MTTR (h): BASE VS. OBJET"/>
          <p:cNvSpPr txBox="1"/>
          <p:nvPr/>
        </p:nvSpPr>
        <p:spPr>
          <a:xfrm>
            <a:off x="45720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MTTR (h): BASE VS. OBJETIVO</a:t>
            </a:r>
            <a:endParaRPr lang="en-US" sz="1100" dirty="0"/>
          </a:p>
        </p:txBody>
      </p:sp>
      <p:graphicFrame>
        <p:nvGraphicFramePr>
          <p:cNvPr id="10" name="Gráfico MTTR" descr="MTTR (h): BASE VS. OBJETIVO: GI500-16 11.5 → 5.49, GI500-19 15.8 → 8, GI500-20 10.9 → 5"/>
          <p:cNvGraphicFramePr/>
          <p:nvPr/>
        </p:nvGraphicFramePr>
        <p:xfrm>
          <a:off x="320040" y="2103120"/>
          <a:ext cx="4114800" cy="2514600"/>
        </p:xfrm>
        <a:graphic xmlns:a="http://schemas.openxmlformats.org/drawingml/2006/main">
          <a:graphicData uri="http://schemas.openxmlformats.org/drawingml/2006/chart">
            <c:chart xmlns:c="http://schemas.openxmlformats.org/drawingml/2006/chart" r:id="rId2"/>
          </a:graphicData>
        </a:graphic>
      </p:graphicFrame>
      <p:sp>
        <p:nvSpPr>
          <p:cNvPr id="11" name="Etiqueta MTBF (h): BASE VS. OBJET"/>
          <p:cNvSpPr txBox="1"/>
          <p:nvPr/>
        </p:nvSpPr>
        <p:spPr>
          <a:xfrm>
            <a:off x="4754880" y="1874520"/>
            <a:ext cx="393192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MTBF (h): BASE VS. OBJETIVO</a:t>
            </a:r>
            <a:endParaRPr lang="en-US" sz="1100" dirty="0"/>
          </a:p>
        </p:txBody>
      </p:sp>
      <p:graphicFrame>
        <p:nvGraphicFramePr>
          <p:cNvPr id="12" name="Gráfico MTBF" descr="MTBF (h): BASE VS. OBJETIVO: GI500-16 145.3 → 250, GI500-19 245 → 250, GI500-20 152.8 → 220"/>
          <p:cNvGraphicFramePr/>
          <p:nvPr/>
        </p:nvGraphicFramePr>
        <p:xfrm>
          <a:off x="4617720" y="2103120"/>
          <a:ext cx="4114800" cy="2514600"/>
        </p:xfrm>
        <a:graphic xmlns:a="http://schemas.openxmlformats.org/drawingml/2006/main">
          <a:graphicData uri="http://schemas.openxmlformats.org/drawingml/2006/chart">
            <c:chart xmlns:c="http://schemas.openxmlformats.org/drawingml/2006/chart" r:id="rId3"/>
          </a:graphicData>
        </a:graphic>
      </p:graphicFrame>
      <p:sp>
        <p:nvSpPr>
          <p:cNvPr id="13" name="Resumen 1 fondo"/>
          <p:cNvSpPr/>
          <p:nvPr/>
        </p:nvSpPr>
        <p:spPr>
          <a:xfrm>
            <a:off x="457200" y="4846320"/>
            <a:ext cx="2651760" cy="1051560"/>
          </a:xfrm>
          <a:prstGeom prst="roundRect">
            <a:avLst>
              <a:gd name="adj" fmla="val 6087"/>
            </a:avLst>
          </a:prstGeom>
          <a:solidFill>
            <a:srgbClr val="EEF2FA"/>
          </a:solidFill>
          <a:ln w="9525">
            <a:solidFill>
              <a:srgbClr val="EEF2FA"/>
            </a:solidFill>
            <a:prstDash val="solid"/>
          </a:ln>
        </p:spPr>
      </p:sp>
      <p:sp>
        <p:nvSpPr>
          <p:cNvPr id="14" name="Resumen 1 cifra"/>
          <p:cNvSpPr txBox="1"/>
          <p:nvPr/>
        </p:nvSpPr>
        <p:spPr>
          <a:xfrm>
            <a:off x="594360" y="4882896"/>
            <a:ext cx="2423160" cy="45720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 1 102 h</a:t>
            </a:r>
            <a:endParaRPr lang="en-US" sz="2200" dirty="0"/>
          </a:p>
        </p:txBody>
      </p:sp>
      <p:sp>
        <p:nvSpPr>
          <p:cNvPr id="15" name="Resumen 1 texto"/>
          <p:cNvSpPr txBox="1"/>
          <p:nvPr/>
        </p:nvSpPr>
        <p:spPr>
          <a:xfrm>
            <a:off x="59436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recuperadas/año según la tesis: supone operación continua (8 000–8 760 h por equipo)</a:t>
            </a:r>
            <a:endParaRPr lang="en-US" sz="950" dirty="0"/>
          </a:p>
        </p:txBody>
      </p:sp>
      <p:sp>
        <p:nvSpPr>
          <p:cNvPr id="16" name="Resumen 2 fondo"/>
          <p:cNvSpPr/>
          <p:nvPr/>
        </p:nvSpPr>
        <p:spPr>
          <a:xfrm>
            <a:off x="3246120" y="4846320"/>
            <a:ext cx="2651760" cy="1051560"/>
          </a:xfrm>
          <a:prstGeom prst="roundRect">
            <a:avLst>
              <a:gd name="adj" fmla="val 6087"/>
            </a:avLst>
          </a:prstGeom>
          <a:solidFill>
            <a:srgbClr val="EEF2FA"/>
          </a:solidFill>
          <a:ln w="9525">
            <a:solidFill>
              <a:srgbClr val="EEF2FA"/>
            </a:solidFill>
            <a:prstDash val="solid"/>
          </a:ln>
        </p:spPr>
      </p:sp>
      <p:sp>
        <p:nvSpPr>
          <p:cNvPr id="17" name="Resumen 2 cifra"/>
          <p:cNvSpPr txBox="1"/>
          <p:nvPr/>
        </p:nvSpPr>
        <p:spPr>
          <a:xfrm>
            <a:off x="3383280" y="4882896"/>
            <a:ext cx="2423160" cy="457200"/>
          </a:xfrm>
          <a:prstGeom prst="rect">
            <a:avLst/>
          </a:prstGeom>
          <a:noFill/>
          <a:ln/>
        </p:spPr>
        <p:txBody>
          <a:bodyPr wrap="square" lIns="0" tIns="0" rIns="0" bIns="0" rtlCol="0" anchor="ctr"/>
          <a:lstStyle/>
          <a:p>
            <a:pPr indent="0" marL="0">
              <a:buNone/>
            </a:pPr>
            <a:r>
              <a:rPr lang="en-US" sz="2200" b="1" dirty="0">
                <a:solidFill>
                  <a:srgbClr val="1E3A8A"/>
                </a:solidFill>
                <a:latin typeface="Calibri" pitchFamily="34" charset="0"/>
                <a:ea typeface="Calibri" pitchFamily="34" charset="-122"/>
                <a:cs typeface="Calibri" pitchFamily="34" charset="-120"/>
              </a:rPr>
              <a:t>≈ 374 h</a:t>
            </a:r>
            <a:endParaRPr lang="en-US" sz="2200" dirty="0"/>
          </a:p>
        </p:txBody>
      </p:sp>
      <p:sp>
        <p:nvSpPr>
          <p:cNvPr id="18" name="Resumen 2 texto"/>
          <p:cNvSpPr txBox="1"/>
          <p:nvPr/>
        </p:nvSpPr>
        <p:spPr>
          <a:xfrm>
            <a:off x="338328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de parada al año en total según el registro 2019–2022 (los 3 equipos)</a:t>
            </a:r>
            <a:endParaRPr lang="en-US" sz="950" dirty="0"/>
          </a:p>
        </p:txBody>
      </p:sp>
      <p:sp>
        <p:nvSpPr>
          <p:cNvPr id="19" name="Resumen 3 fondo"/>
          <p:cNvSpPr/>
          <p:nvPr/>
        </p:nvSpPr>
        <p:spPr>
          <a:xfrm>
            <a:off x="6035040" y="4846320"/>
            <a:ext cx="2651760" cy="1051560"/>
          </a:xfrm>
          <a:prstGeom prst="roundRect">
            <a:avLst>
              <a:gd name="adj" fmla="val 6087"/>
            </a:avLst>
          </a:prstGeom>
          <a:solidFill>
            <a:srgbClr val="FDF1E1"/>
          </a:solidFill>
          <a:ln w="15875">
            <a:solidFill>
              <a:srgbClr val="B45309"/>
            </a:solidFill>
            <a:prstDash val="solid"/>
          </a:ln>
        </p:spPr>
      </p:sp>
      <p:sp>
        <p:nvSpPr>
          <p:cNvPr id="20" name="Resumen 3 cifra"/>
          <p:cNvSpPr txBox="1"/>
          <p:nvPr/>
        </p:nvSpPr>
        <p:spPr>
          <a:xfrm>
            <a:off x="6172200" y="4882896"/>
            <a:ext cx="2423160" cy="457200"/>
          </a:xfrm>
          <a:prstGeom prst="rect">
            <a:avLst/>
          </a:prstGeom>
          <a:noFill/>
          <a:ln/>
        </p:spPr>
        <p:txBody>
          <a:bodyPr wrap="square" lIns="0" tIns="0" rIns="0" bIns="0" rtlCol="0" anchor="ctr"/>
          <a:lstStyle/>
          <a:p>
            <a:pPr indent="0" marL="0">
              <a:buNone/>
            </a:pPr>
            <a:r>
              <a:rPr lang="en-US" sz="2200" b="1" dirty="0">
                <a:solidFill>
                  <a:srgbClr val="B45309"/>
                </a:solidFill>
                <a:latin typeface="Calibri" pitchFamily="34" charset="0"/>
                <a:ea typeface="Calibri" pitchFamily="34" charset="-122"/>
                <a:cs typeface="Calibri" pitchFamily="34" charset="-120"/>
              </a:rPr>
              <a:t>≈ 226 h</a:t>
            </a:r>
            <a:endParaRPr lang="en-US" sz="2200" dirty="0"/>
          </a:p>
        </p:txBody>
      </p:sp>
      <p:sp>
        <p:nvSpPr>
          <p:cNvPr id="21" name="Resumen 3 texto"/>
          <p:cNvSpPr txBox="1"/>
          <p:nvPr/>
        </p:nvSpPr>
        <p:spPr>
          <a:xfrm>
            <a:off x="6172200" y="5340096"/>
            <a:ext cx="2423160" cy="512064"/>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recuperables al año si la proyección se acota al registro (cálculo propio)</a:t>
            </a:r>
            <a:endParaRPr lang="en-US" sz="950" dirty="0"/>
          </a:p>
        </p:txBody>
      </p:sp>
      <p:sp>
        <p:nvSpPr>
          <p:cNvPr id="22"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INVERSIÓN VS. BENEFICIO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500" b="1" dirty="0">
                <a:solidFill>
                  <a:srgbClr val="1E3A8A"/>
                </a:solidFill>
                <a:latin typeface="Calibri" pitchFamily="34" charset="0"/>
                <a:ea typeface="Calibri" pitchFamily="34" charset="-122"/>
                <a:cs typeface="Calibri" pitchFamily="34" charset="-120"/>
              </a:rPr>
              <a:t>El 95 % del beneficio proyectado son horas recuperadas valoradas a US$ 200 por hora</a:t>
            </a:r>
            <a:endParaRPr lang="en-US" sz="25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El resultado económico depende de dos supuestos: las horas de operación y el valor de la hora de parada</a:t>
            </a:r>
            <a:endParaRPr lang="en-US" sz="120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 supuestos Cd = USD 200/h, Ce = USD 300/evento y 8 000 h/año; beneficio anual USD 232 310; inversión USD 54 709. Parada histórica y porcentajes: cálculo propio.</a:t>
            </a:r>
            <a:endParaRPr lang="en-US" sz="900" dirty="0"/>
          </a:p>
        </p:txBody>
      </p:sp>
      <p:sp>
        <p:nvSpPr>
          <p:cNvPr id="8" name="Etiqueta INVERSIÓN Y BENEFICIO AN"/>
          <p:cNvSpPr txBox="1"/>
          <p:nvPr/>
        </p:nvSpPr>
        <p:spPr>
          <a:xfrm>
            <a:off x="457200" y="1600200"/>
            <a:ext cx="5120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INVERSIÓN Y BENEFICIO ANUAL SEGÚN LA TESIS (US$)</a:t>
            </a:r>
            <a:endParaRPr lang="en-US" sz="1100" dirty="0"/>
          </a:p>
        </p:txBody>
      </p:sp>
      <p:graphicFrame>
        <p:nvGraphicFramePr>
          <p:cNvPr id="9" name="Gráfico inversión vs beneficio" descr="Inversión y beneficio anual: Inversión en herramientas e insumos US$ 54709, Ahorro por horas recuperadas US$ 220400, Ahorro por eventos evitados US$ 11910, Beneficio total anual US$ 232310"/>
          <p:cNvGraphicFramePr/>
          <p:nvPr/>
        </p:nvGraphicFramePr>
        <p:xfrm>
          <a:off x="320040" y="1828800"/>
          <a:ext cx="5257800" cy="4069080"/>
        </p:xfrm>
        <a:graphic xmlns:a="http://schemas.openxmlformats.org/drawingml/2006/main">
          <a:graphicData uri="http://schemas.openxmlformats.org/drawingml/2006/chart">
            <c:chart xmlns:c="http://schemas.openxmlformats.org/drawingml/2006/chart" r:id="rId2"/>
          </a:graphicData>
        </a:graphic>
      </p:graphicFrame>
      <p:sp>
        <p:nvSpPr>
          <p:cNvPr id="10" name="Etiqueta CÓMO SE CALCULA EL BENEF"/>
          <p:cNvSpPr txBox="1"/>
          <p:nvPr/>
        </p:nvSpPr>
        <p:spPr>
          <a:xfrm>
            <a:off x="5852160" y="1600200"/>
            <a:ext cx="283464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CÓMO SE CALCULA EL BENEFICIO</a:t>
            </a:r>
            <a:endParaRPr lang="en-US" sz="1100" dirty="0"/>
          </a:p>
        </p:txBody>
      </p:sp>
      <p:sp>
        <p:nvSpPr>
          <p:cNvPr id="11" name="Cálculo 1 fondo"/>
          <p:cNvSpPr/>
          <p:nvPr/>
        </p:nvSpPr>
        <p:spPr>
          <a:xfrm>
            <a:off x="5852160" y="1856232"/>
            <a:ext cx="2834640" cy="932688"/>
          </a:xfrm>
          <a:prstGeom prst="roundRect">
            <a:avLst>
              <a:gd name="adj" fmla="val 6863"/>
            </a:avLst>
          </a:prstGeom>
          <a:solidFill>
            <a:srgbClr val="FDF1E1"/>
          </a:solidFill>
          <a:ln w="15875">
            <a:solidFill>
              <a:srgbClr val="B45309"/>
            </a:solidFill>
            <a:prstDash val="solid"/>
          </a:ln>
        </p:spPr>
      </p:sp>
      <p:sp>
        <p:nvSpPr>
          <p:cNvPr id="12" name="Cálculo 1 etiqueta"/>
          <p:cNvSpPr txBox="1"/>
          <p:nvPr/>
        </p:nvSpPr>
        <p:spPr>
          <a:xfrm>
            <a:off x="5989320" y="1911096"/>
            <a:ext cx="260604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Horas recuperadas</a:t>
            </a:r>
            <a:endParaRPr lang="en-US" sz="1100" dirty="0"/>
          </a:p>
        </p:txBody>
      </p:sp>
      <p:sp>
        <p:nvSpPr>
          <p:cNvPr id="13" name="Cálculo 1 fórmula"/>
          <p:cNvSpPr txBox="1"/>
          <p:nvPr/>
        </p:nvSpPr>
        <p:spPr>
          <a:xfrm>
            <a:off x="5989320" y="2148840"/>
            <a:ext cx="2606040" cy="256032"/>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1 102 h × US$ 200/h</a:t>
            </a:r>
            <a:endParaRPr lang="en-US" sz="1150" dirty="0"/>
          </a:p>
        </p:txBody>
      </p:sp>
      <p:sp>
        <p:nvSpPr>
          <p:cNvPr id="14" name="Cálculo 1 resultado"/>
          <p:cNvSpPr txBox="1"/>
          <p:nvPr/>
        </p:nvSpPr>
        <p:spPr>
          <a:xfrm>
            <a:off x="5989320" y="2404872"/>
            <a:ext cx="2606040" cy="347472"/>
          </a:xfrm>
          <a:prstGeom prst="rect">
            <a:avLst/>
          </a:prstGeom>
          <a:noFill/>
          <a:ln/>
        </p:spPr>
        <p:txBody>
          <a:bodyPr wrap="square" lIns="0" tIns="0" rIns="0" bIns="0" rtlCol="0" anchor="ctr"/>
          <a:lstStyle/>
          <a:p>
            <a:pPr indent="0" marL="0">
              <a:buNone/>
            </a:pPr>
            <a:r>
              <a:rPr lang="en-US" sz="1700" b="1" dirty="0">
                <a:solidFill>
                  <a:srgbClr val="B45309"/>
                </a:solidFill>
                <a:latin typeface="Calibri" pitchFamily="34" charset="0"/>
                <a:ea typeface="Calibri" pitchFamily="34" charset="-122"/>
                <a:cs typeface="Calibri" pitchFamily="34" charset="-120"/>
              </a:rPr>
              <a:t>= US$ 220 400</a:t>
            </a:r>
            <a:endParaRPr lang="en-US" sz="1700" dirty="0"/>
          </a:p>
        </p:txBody>
      </p:sp>
      <p:sp>
        <p:nvSpPr>
          <p:cNvPr id="15" name="Cálculo 2 fondo"/>
          <p:cNvSpPr/>
          <p:nvPr/>
        </p:nvSpPr>
        <p:spPr>
          <a:xfrm>
            <a:off x="5852160" y="2880360"/>
            <a:ext cx="2834640" cy="932688"/>
          </a:xfrm>
          <a:prstGeom prst="roundRect">
            <a:avLst>
              <a:gd name="adj" fmla="val 6863"/>
            </a:avLst>
          </a:prstGeom>
          <a:solidFill>
            <a:srgbClr val="EEF2FA"/>
          </a:solidFill>
          <a:ln w="9525">
            <a:solidFill>
              <a:srgbClr val="EEF2FA"/>
            </a:solidFill>
            <a:prstDash val="solid"/>
          </a:ln>
        </p:spPr>
      </p:sp>
      <p:sp>
        <p:nvSpPr>
          <p:cNvPr id="16" name="Cálculo 2 etiqueta"/>
          <p:cNvSpPr txBox="1"/>
          <p:nvPr/>
        </p:nvSpPr>
        <p:spPr>
          <a:xfrm>
            <a:off x="5989320" y="2935224"/>
            <a:ext cx="2606040" cy="219456"/>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Eventos evitados</a:t>
            </a:r>
            <a:endParaRPr lang="en-US" sz="1100" dirty="0"/>
          </a:p>
        </p:txBody>
      </p:sp>
      <p:sp>
        <p:nvSpPr>
          <p:cNvPr id="17" name="Cálculo 2 fórmula"/>
          <p:cNvSpPr txBox="1"/>
          <p:nvPr/>
        </p:nvSpPr>
        <p:spPr>
          <a:xfrm>
            <a:off x="5989320" y="3172968"/>
            <a:ext cx="2606040" cy="256032"/>
          </a:xfrm>
          <a:prstGeom prst="rect">
            <a:avLst/>
          </a:prstGeom>
          <a:noFill/>
          <a:ln/>
        </p:spPr>
        <p:txBody>
          <a:bodyPr wrap="square" lIns="0" tIns="0" rIns="0" bIns="0" rtlCol="0" anchor="t"/>
          <a:lstStyle/>
          <a:p>
            <a:pPr indent="0" marL="0">
              <a:buNone/>
            </a:pPr>
            <a:r>
              <a:rPr lang="en-US" sz="1150" dirty="0">
                <a:solidFill>
                  <a:srgbClr val="334155"/>
                </a:solidFill>
                <a:latin typeface="Calibri" pitchFamily="34" charset="0"/>
                <a:ea typeface="Calibri" pitchFamily="34" charset="-122"/>
                <a:cs typeface="Calibri" pitchFamily="34" charset="-120"/>
              </a:rPr>
              <a:t>39,7 × US$ 300/evento</a:t>
            </a:r>
            <a:endParaRPr lang="en-US" sz="1150" dirty="0"/>
          </a:p>
        </p:txBody>
      </p:sp>
      <p:sp>
        <p:nvSpPr>
          <p:cNvPr id="18" name="Cálculo 2 resultado"/>
          <p:cNvSpPr txBox="1"/>
          <p:nvPr/>
        </p:nvSpPr>
        <p:spPr>
          <a:xfrm>
            <a:off x="5989320" y="3429000"/>
            <a:ext cx="2606040" cy="347472"/>
          </a:xfrm>
          <a:prstGeom prst="rect">
            <a:avLst/>
          </a:prstGeom>
          <a:noFill/>
          <a:ln/>
        </p:spPr>
        <p:txBody>
          <a:bodyPr wrap="square" lIns="0" tIns="0" rIns="0" bIns="0" rtlCol="0" anchor="ctr"/>
          <a:lstStyle/>
          <a:p>
            <a:pPr indent="0" marL="0">
              <a:buNone/>
            </a:pPr>
            <a:r>
              <a:rPr lang="en-US" sz="1700" b="1" dirty="0">
                <a:solidFill>
                  <a:srgbClr val="1E3A8A"/>
                </a:solidFill>
                <a:latin typeface="Calibri" pitchFamily="34" charset="0"/>
                <a:ea typeface="Calibri" pitchFamily="34" charset="-122"/>
                <a:cs typeface="Calibri" pitchFamily="34" charset="-120"/>
              </a:rPr>
              <a:t>= US$ 11 910</a:t>
            </a:r>
            <a:endParaRPr lang="en-US" sz="1700" dirty="0"/>
          </a:p>
        </p:txBody>
      </p:sp>
      <p:sp>
        <p:nvSpPr>
          <p:cNvPr id="19" name="Supuestos fondo"/>
          <p:cNvSpPr/>
          <p:nvPr/>
        </p:nvSpPr>
        <p:spPr>
          <a:xfrm>
            <a:off x="5852160" y="3950208"/>
            <a:ext cx="2834640" cy="1417320"/>
          </a:xfrm>
          <a:prstGeom prst="roundRect">
            <a:avLst>
              <a:gd name="adj" fmla="val 4516"/>
            </a:avLst>
          </a:prstGeom>
          <a:solidFill>
            <a:srgbClr val="FFFFFF"/>
          </a:solidFill>
          <a:ln w="12700">
            <a:solidFill>
              <a:srgbClr val="B45309"/>
            </a:solidFill>
            <a:prstDash val="solid"/>
          </a:ln>
        </p:spPr>
      </p:sp>
      <p:sp>
        <p:nvSpPr>
          <p:cNvPr id="20" name="Supuestos etiqueta"/>
          <p:cNvSpPr txBox="1"/>
          <p:nvPr/>
        </p:nvSpPr>
        <p:spPr>
          <a:xfrm>
            <a:off x="5989320" y="4023360"/>
            <a:ext cx="2606040" cy="201168"/>
          </a:xfrm>
          <a:prstGeom prst="rect">
            <a:avLst/>
          </a:prstGeom>
          <a:noFill/>
          <a:ln/>
        </p:spPr>
        <p:txBody>
          <a:bodyPr wrap="square" lIns="0" tIns="0" rIns="0" bIns="0" rtlCol="0" anchor="t"/>
          <a:lstStyle/>
          <a:p>
            <a:pPr indent="0" marL="0">
              <a:buNone/>
            </a:pPr>
            <a:r>
              <a:rPr lang="en-US" sz="950" b="1" spc="100" kern="0" dirty="0">
                <a:solidFill>
                  <a:srgbClr val="B45309"/>
                </a:solidFill>
                <a:latin typeface="Calibri" pitchFamily="34" charset="0"/>
                <a:ea typeface="Calibri" pitchFamily="34" charset="-122"/>
                <a:cs typeface="Calibri" pitchFamily="34" charset="-120"/>
              </a:rPr>
              <a:t>DOS SUPUESTOS CRÍTICOS</a:t>
            </a:r>
            <a:endParaRPr lang="en-US" sz="950" dirty="0"/>
          </a:p>
        </p:txBody>
      </p:sp>
      <p:sp>
        <p:nvSpPr>
          <p:cNvPr id="21" name="Supuestos texto"/>
          <p:cNvSpPr txBox="1"/>
          <p:nvPr/>
        </p:nvSpPr>
        <p:spPr>
          <a:xfrm>
            <a:off x="5989320" y="4261104"/>
            <a:ext cx="2606040" cy="1060704"/>
          </a:xfrm>
          <a:prstGeom prst="rect">
            <a:avLst/>
          </a:prstGeom>
          <a:noFill/>
          <a:ln/>
        </p:spPr>
        <p:txBody>
          <a:bodyPr wrap="square" lIns="0" tIns="0" rIns="0" bIns="0" rtlCol="0" anchor="t"/>
          <a:lstStyle/>
          <a:p>
            <a:pPr indent="0" marL="0">
              <a:spcAft>
                <a:spcPts val="400"/>
              </a:spcAft>
              <a:buNone/>
            </a:pPr>
            <a:r>
              <a:rPr lang="en-US" sz="950" b="1" dirty="0">
                <a:solidFill>
                  <a:srgbClr val="1E3A8A"/>
                </a:solidFill>
                <a:latin typeface="Calibri" pitchFamily="34" charset="0"/>
                <a:ea typeface="Calibri" pitchFamily="34" charset="-122"/>
                <a:cs typeface="Calibri" pitchFamily="34" charset="-120"/>
              </a:rPr>
              <a:t>1. ≈ 8 000 h/año de operación por equipo. </a:t>
            </a:r>
            <a:pPr indent="0" marL="0">
              <a:spcAft>
                <a:spcPts val="400"/>
              </a:spcAft>
              <a:buNone/>
            </a:pPr>
            <a:r>
              <a:rPr lang="en-US" sz="950" dirty="0">
                <a:solidFill>
                  <a:srgbClr val="334155"/>
                </a:solidFill>
                <a:latin typeface="Calibri" pitchFamily="34" charset="0"/>
                <a:ea typeface="Calibri" pitchFamily="34" charset="-122"/>
                <a:cs typeface="Calibri" pitchFamily="34" charset="-120"/>
              </a:rPr>
              <a:t>El registro muestra ≈ 374 h/año de parada en total: no alcanza para recuperar 1 102 h.</a:t>
            </a:r>
            <a:endParaRPr lang="en-US" sz="950" dirty="0"/>
          </a:p>
          <a:p>
            <a:pPr indent="0" marL="0">
              <a:spcAft>
                <a:spcPts val="400"/>
              </a:spcAft>
              <a:buNone/>
            </a:pPr>
            <a:r>
              <a:rPr lang="en-US" sz="950" b="1" dirty="0">
                <a:solidFill>
                  <a:srgbClr val="1E3A8A"/>
                </a:solidFill>
                <a:latin typeface="Calibri" pitchFamily="34" charset="0"/>
                <a:ea typeface="Calibri" pitchFamily="34" charset="-122"/>
                <a:cs typeface="Calibri" pitchFamily="34" charset="-120"/>
              </a:rPr>
              <a:t>2. US$ 200 por hora de parada. </a:t>
            </a:r>
            <a:pPr indent="0" marL="0">
              <a:spcAft>
                <a:spcPts val="400"/>
              </a:spcAft>
              <a:buNone/>
            </a:pPr>
            <a:r>
              <a:rPr lang="en-US" sz="950" dirty="0">
                <a:solidFill>
                  <a:srgbClr val="334155"/>
                </a:solidFill>
                <a:latin typeface="Calibri" pitchFamily="34" charset="0"/>
                <a:ea typeface="Calibri" pitchFamily="34" charset="-122"/>
                <a:cs typeface="Calibri" pitchFamily="34" charset="-120"/>
              </a:rPr>
              <a:t>El costo del Cap. I equivale a ≈ US$ 16/h (US$ 2 752 / 172 h).</a:t>
            </a:r>
            <a:endParaRPr lang="en-US" sz="950" dirty="0"/>
          </a:p>
        </p:txBody>
      </p:sp>
      <p:sp>
        <p:nvSpPr>
          <p:cNvPr id="22"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Logo Universidad Continental" descr="Logo Universidad Continental">    </p:cNvPr>
          <p:cNvPicPr>
            <a:picLocks noChangeAspect="1"/>
          </p:cNvPicPr>
          <p:nvPr/>
        </p:nvPicPr>
        <p:blipFill>
          <a:blip r:embed="rId1"/>
          <a:stretch>
            <a:fillRect/>
          </a:stretch>
        </p:blipFill>
        <p:spPr>
          <a:xfrm>
            <a:off x="7086600" y="274320"/>
            <a:ext cx="1463040" cy="306324"/>
          </a:xfrm>
          <a:prstGeom prst="rect">
            <a:avLst/>
          </a:prstGeom>
        </p:spPr>
      </p:pic>
      <p:sp>
        <p:nvSpPr>
          <p:cNvPr id="3" name="Kicker"/>
          <p:cNvSpPr txBox="1"/>
          <p:nvPr/>
        </p:nvSpPr>
        <p:spPr>
          <a:xfrm>
            <a:off x="457200" y="292608"/>
            <a:ext cx="6400800" cy="237744"/>
          </a:xfrm>
          <a:prstGeom prst="rect">
            <a:avLst/>
          </a:prstGeom>
          <a:noFill/>
          <a:ln/>
        </p:spPr>
        <p:txBody>
          <a:bodyPr wrap="square" lIns="0" tIns="0" rIns="0" bIns="0" rtlCol="0" anchor="t"/>
          <a:lstStyle/>
          <a:p>
            <a:pPr indent="0" marL="0">
              <a:buNone/>
            </a:pPr>
            <a:r>
              <a:rPr lang="en-US" sz="1100" b="1" spc="100" kern="0" dirty="0">
                <a:solidFill>
                  <a:srgbClr val="64748B"/>
                </a:solidFill>
                <a:latin typeface="Calibri" pitchFamily="34" charset="0"/>
                <a:ea typeface="Calibri" pitchFamily="34" charset="-122"/>
                <a:cs typeface="Calibri" pitchFamily="34" charset="-120"/>
              </a:rPr>
              <a:t>4.5 · ANÁLISIS ECONÓMICO · PERIODO DE RETORNO</a:t>
            </a:r>
            <a:endParaRPr lang="en-US" sz="1100" dirty="0"/>
          </a:p>
        </p:txBody>
      </p:sp>
      <p:sp>
        <p:nvSpPr>
          <p:cNvPr id="4" name="Título"/>
          <p:cNvSpPr txBox="1"/>
          <p:nvPr/>
        </p:nvSpPr>
        <p:spPr>
          <a:xfrm>
            <a:off x="457200" y="548640"/>
            <a:ext cx="8229600" cy="868680"/>
          </a:xfrm>
          <a:prstGeom prst="rect">
            <a:avLst/>
          </a:prstGeom>
          <a:noFill/>
          <a:ln/>
        </p:spPr>
        <p:txBody>
          <a:bodyPr wrap="square" lIns="0" tIns="0" rIns="0" bIns="0" rtlCol="0" anchor="ctr"/>
          <a:lstStyle/>
          <a:p>
            <a:pPr indent="0" marL="0">
              <a:buNone/>
            </a:pPr>
            <a:r>
              <a:rPr lang="en-US" sz="2400" b="1" dirty="0">
                <a:solidFill>
                  <a:srgbClr val="1E3A8A"/>
                </a:solidFill>
                <a:latin typeface="Calibri" pitchFamily="34" charset="0"/>
                <a:ea typeface="Calibri" pitchFamily="34" charset="-122"/>
                <a:cs typeface="Calibri" pitchFamily="34" charset="-120"/>
              </a:rPr>
              <a:t>El retorno es de 2,8 meses con los supuestos de la tesis y de 1,2 a 1,9 años con supuestos conservadores</a:t>
            </a:r>
            <a:endParaRPr lang="en-US" sz="2400" dirty="0"/>
          </a:p>
        </p:txBody>
      </p:sp>
      <p:sp>
        <p:nvSpPr>
          <p:cNvPr id="5" name="Conclusión fondo"/>
          <p:cNvSpPr/>
          <p:nvPr/>
        </p:nvSpPr>
        <p:spPr>
          <a:xfrm>
            <a:off x="457200" y="6035040"/>
            <a:ext cx="8229600" cy="384048"/>
          </a:xfrm>
          <a:prstGeom prst="roundRect">
            <a:avLst>
              <a:gd name="adj" fmla="val 14286"/>
            </a:avLst>
          </a:prstGeom>
          <a:solidFill>
            <a:srgbClr val="1E3A8A"/>
          </a:solidFill>
          <a:ln w="12700">
            <a:solidFill>
              <a:srgbClr val="1E3A8A"/>
            </a:solidFill>
            <a:prstDash val="solid"/>
          </a:ln>
        </p:spPr>
      </p:sp>
      <p:sp>
        <p:nvSpPr>
          <p:cNvPr id="6" name="Conclusión texto"/>
          <p:cNvSpPr txBox="1"/>
          <p:nvPr/>
        </p:nvSpPr>
        <p:spPr>
          <a:xfrm>
            <a:off x="594360" y="6035040"/>
            <a:ext cx="7955280"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Caso más bajo (US$ 16/h y horas del registro): ≈ 9,9 años, o ≈ 1,5 años repartiendo la inversión en la flota</a:t>
            </a:r>
            <a:endParaRPr lang="en-US" sz="1150" dirty="0"/>
          </a:p>
        </p:txBody>
      </p:sp>
      <p:sp>
        <p:nvSpPr>
          <p:cNvPr id="7" name="Fuente"/>
          <p:cNvSpPr txBox="1"/>
          <p:nvPr/>
        </p:nvSpPr>
        <p:spPr>
          <a:xfrm>
            <a:off x="457200" y="6464808"/>
            <a:ext cx="8229600" cy="329184"/>
          </a:xfrm>
          <a:prstGeom prst="rect">
            <a:avLst/>
          </a:prstGeom>
          <a:noFill/>
          <a:ln/>
        </p:spPr>
        <p:txBody>
          <a:bodyPr wrap="square" lIns="0" tIns="0" rIns="0" bIns="0" rtlCol="0" anchor="t"/>
          <a:lstStyle/>
          <a:p>
            <a:pPr indent="0" marL="0">
              <a:buNone/>
            </a:pPr>
            <a:r>
              <a:rPr lang="en-US" sz="900" dirty="0">
                <a:solidFill>
                  <a:srgbClr val="64748B"/>
                </a:solidFill>
                <a:latin typeface="Calibri" pitchFamily="34" charset="0"/>
                <a:ea typeface="Calibri" pitchFamily="34" charset="-122"/>
                <a:cs typeface="Calibri" pitchFamily="34" charset="-120"/>
              </a:rPr>
              <a:t>Fuente: Chite Vilca (2026), Cap. IV, 4.5 (beneficio, supuestos e inversión para toda la flota) y Cap. I (US$ 2 752 por 172 h). Escenarios 2 a 5 y periodos de retorno simple: cálculo propio.</a:t>
            </a:r>
            <a:endParaRPr lang="en-US" sz="900" dirty="0"/>
          </a:p>
        </p:txBody>
      </p:sp>
      <p:sp>
        <p:nvSpPr>
          <p:cNvPr id="8" name="Etiqueta PERIODO DE RETORNO SIMPL"/>
          <p:cNvSpPr txBox="1"/>
          <p:nvPr/>
        </p:nvSpPr>
        <p:spPr>
          <a:xfrm>
            <a:off x="457200" y="1600200"/>
            <a:ext cx="8229600" cy="219456"/>
          </a:xfrm>
          <a:prstGeom prst="rect">
            <a:avLst/>
          </a:prstGeom>
          <a:noFill/>
          <a:ln/>
        </p:spPr>
        <p:txBody>
          <a:bodyPr wrap="square" lIns="0" tIns="0" rIns="0" bIns="0" rtlCol="0" anchor="t"/>
          <a:lstStyle/>
          <a:p>
            <a:pPr indent="0" marL="0">
              <a:buNone/>
            </a:pPr>
            <a:r>
              <a:rPr lang="en-US" sz="1100" b="1" spc="100" kern="0" dirty="0">
                <a:solidFill>
                  <a:srgbClr val="334155"/>
                </a:solidFill>
                <a:latin typeface="Calibri" pitchFamily="34" charset="0"/>
                <a:ea typeface="Calibri" pitchFamily="34" charset="-122"/>
                <a:cs typeface="Calibri" pitchFamily="34" charset="-120"/>
              </a:rPr>
              <a:t>PERIODO DE RETORNO SIMPLE POR ESCENARIO</a:t>
            </a:r>
            <a:endParaRPr lang="en-US" sz="1100" dirty="0"/>
          </a:p>
        </p:txBody>
      </p:sp>
      <p:graphicFrame>
        <p:nvGraphicFramePr>
          <p:cNvPr id="35" name="Tabla escenarios de retorno"/>
          <p:cNvGraphicFramePr>
            <a:graphicFrameLocks noGrp="1"/>
          </p:cNvGraphicFramePr>
          <p:nvPr>
            <p:extLst>
              <p:ext uri="{D42A27DB-BD31-4B8C-83A1-F6EECF244321}">
                <p14:modId xmlns:p14="http://schemas.microsoft.com/office/powerpoint/2010/main" val="1579011935"/>
              </p:ext>
            </p:extLst>
          </p:nvPr>
        </p:nvGraphicFramePr>
        <p:xfrm>
          <a:off x="457200" y="1856232"/>
          <a:ext cx="8229600" cy="914400"/>
        </p:xfrm>
        <a:graphic>
          <a:graphicData uri="http://schemas.openxmlformats.org/drawingml/2006/table">
            <a:tbl>
              <a:tblPr/>
              <a:tblGrid>
                <a:gridCol w="2468880"/>
                <a:gridCol w="1188720"/>
                <a:gridCol w="914400"/>
                <a:gridCol w="1280160"/>
                <a:gridCol w="1188720"/>
                <a:gridCol w="118872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Escenario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Horas recuperadas/año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Valor hora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Beneficio anual</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Inversión asignada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Retorno</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3A8A"/>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1 · Tesis</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8 000 h/año · US$ 200/h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1 102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US$ 200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US$ 232 310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3A8A"/>
                          </a:solidFill>
                          <a:latin typeface="Calibri" pitchFamily="34" charset="0"/>
                          <a:ea typeface="Calibri" pitchFamily="34" charset="-122"/>
                          <a:cs typeface="Calibri" pitchFamily="34" charset="-120"/>
                        </a:rPr>
                        <a:t>2,8 meses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2 · Costo de parada del Cap. I</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horas de la tesis · US$ 16/h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1 102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US$ 29 542</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1,9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3 · Horas acotadas al registro</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registro 2019–2022 · US$ 200/h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US$ 200</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US$ 47 071</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1,2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4 · Acotado y US$ 16/h</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el caso más conservador</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US$ 5 518</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US$ 54 709</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c>
                  <a:txBody>
                    <a:bodyPr/>
                    <a:lstStyle/>
                    <a:p>
                      <a:pPr algn="ctr" indent="0" marL="0">
                        <a:buNone/>
                      </a:pPr>
                      <a:r>
                        <a:rPr lang="en-US" sz="1300" b="1" dirty="0">
                          <a:solidFill>
                            <a:srgbClr val="B91C1C"/>
                          </a:solidFill>
                          <a:latin typeface="Calibri" pitchFamily="34" charset="0"/>
                          <a:ea typeface="Calibri" pitchFamily="34" charset="-122"/>
                          <a:cs typeface="Calibri" pitchFamily="34" charset="-120"/>
                        </a:rPr>
                        <a:t>9,9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EE2E2"/>
                    </a:solidFill>
                  </a:tcPr>
                </a:tc>
              </a:tr>
              <a:tr h="493776">
                <a:tc>
                  <a:txBody>
                    <a:bodyPr/>
                    <a:lstStyle/>
                    <a:p>
                      <a:pPr indent="0" marL="0">
                        <a:buNone/>
                      </a:pPr>
                      <a:r>
                        <a:rPr lang="en-US" sz="1050" b="1" dirty="0">
                          <a:solidFill>
                            <a:srgbClr val="1E3A8A"/>
                          </a:solidFill>
                          <a:latin typeface="Calibri" pitchFamily="34" charset="0"/>
                          <a:ea typeface="Calibri" pitchFamily="34" charset="-122"/>
                          <a:cs typeface="Calibri" pitchFamily="34" charset="-120"/>
                        </a:rPr>
                        <a:t>5 · Caso 4, inversión repartida</a:t>
                      </a:r>
                      <a:endParaRPr lang="en-US" sz="1050" dirty="0">
                        <a:latin typeface="Calibri" charset="0"/>
                        <a:ea typeface="Calibri" charset="0"/>
                        <a:cs typeface="Calibri" charset="0"/>
                      </a:endParaRPr>
                    </a:p>
                    <a:p>
                      <a:pPr indent="0" marL="0">
                        <a:buNone/>
                      </a:pPr>
                      <a:r>
                        <a:rPr lang="en-US" sz="900" dirty="0">
                          <a:solidFill>
                            <a:srgbClr val="64748B"/>
                          </a:solidFill>
                          <a:latin typeface="Calibri" pitchFamily="34" charset="0"/>
                          <a:ea typeface="Calibri" pitchFamily="34" charset="-122"/>
                          <a:cs typeface="Calibri" pitchFamily="34" charset="-120"/>
                        </a:rPr>
                        <a:t>3 de los 20 grupos de la flota</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226 h</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US$ 16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 US$ 5 518</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050" dirty="0">
                          <a:solidFill>
                            <a:srgbClr val="334155"/>
                          </a:solidFill>
                          <a:latin typeface="Calibri" pitchFamily="34" charset="0"/>
                          <a:ea typeface="Calibri" pitchFamily="34" charset="-122"/>
                          <a:cs typeface="Calibri" pitchFamily="34" charset="-120"/>
                        </a:rPr>
                        <a:t>US$ 8 206</a:t>
                      </a:r>
                      <a:endParaRPr lang="en-US" sz="105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c>
                  <a:txBody>
                    <a:bodyPr/>
                    <a:lstStyle/>
                    <a:p>
                      <a:pPr algn="ctr" indent="0" marL="0">
                        <a:buNone/>
                      </a:pPr>
                      <a:r>
                        <a:rPr lang="en-US" sz="1300" b="1" dirty="0">
                          <a:solidFill>
                            <a:srgbClr val="B45309"/>
                          </a:solidFill>
                          <a:latin typeface="Calibri" pitchFamily="34" charset="0"/>
                          <a:ea typeface="Calibri" pitchFamily="34" charset="-122"/>
                          <a:cs typeface="Calibri" pitchFamily="34" charset="-120"/>
                        </a:rPr>
                        <a:t>1,5 años</a:t>
                      </a:r>
                      <a:endParaRPr lang="en-US" sz="1300" dirty="0">
                        <a:latin typeface="Calibri" charset="0"/>
                        <a:ea typeface="Calibri" charset="0"/>
                        <a:cs typeface="Calibri" charset="0"/>
                      </a:endParaRPr>
                    </a:p>
                  </a:txBody>
                  <a:tcPr marL="64008" marR="64008"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F1E1"/>
                    </a:solidFill>
                  </a:tcPr>
                </a:tc>
              </a:tr>
            </a:tbl>
          </a:graphicData>
        </a:graphic>
      </p:graphicFrame>
      <p:sp>
        <p:nvSpPr>
          <p:cNvPr id="10" name="Inversión fondo"/>
          <p:cNvSpPr/>
          <p:nvPr/>
        </p:nvSpPr>
        <p:spPr>
          <a:xfrm>
            <a:off x="457200" y="4846320"/>
            <a:ext cx="4023360" cy="1051560"/>
          </a:xfrm>
          <a:prstGeom prst="roundRect">
            <a:avLst>
              <a:gd name="adj" fmla="val 6087"/>
            </a:avLst>
          </a:prstGeom>
          <a:solidFill>
            <a:srgbClr val="EEF2FA"/>
          </a:solidFill>
          <a:ln w="9525">
            <a:solidFill>
              <a:srgbClr val="EEF2FA"/>
            </a:solidFill>
            <a:prstDash val="solid"/>
          </a:ln>
        </p:spPr>
      </p:sp>
      <p:sp>
        <p:nvSpPr>
          <p:cNvPr id="11" name="Inversión texto"/>
          <p:cNvSpPr txBox="1"/>
          <p:nvPr/>
        </p:nvSpPr>
        <p:spPr>
          <a:xfrm>
            <a:off x="594360" y="4846320"/>
            <a:ext cx="3794760" cy="1051560"/>
          </a:xfrm>
          <a:prstGeom prst="rect">
            <a:avLst/>
          </a:prstGeom>
          <a:noFill/>
          <a:ln/>
        </p:spPr>
        <p:txBody>
          <a:bodyPr wrap="square" lIns="0" tIns="0" rIns="0" bIns="0" rtlCol="0" anchor="ctr"/>
          <a:lstStyle/>
          <a:p>
            <a:pPr indent="0" marL="0">
              <a:buNone/>
            </a:pPr>
            <a:r>
              <a:rPr lang="en-US" sz="1800" b="1" dirty="0">
                <a:solidFill>
                  <a:srgbClr val="1E3A8A"/>
                </a:solidFill>
                <a:latin typeface="Calibri" pitchFamily="34" charset="0"/>
                <a:ea typeface="Calibri" pitchFamily="34" charset="-122"/>
                <a:cs typeface="Calibri" pitchFamily="34" charset="-120"/>
              </a:rPr>
              <a:t>US$ 54 709</a:t>
            </a:r>
            <a:endParaRPr lang="en-US" sz="1800" dirty="0"/>
          </a:p>
          <a:p>
            <a:pPr indent="0" marL="0">
              <a:buNone/>
            </a:pPr>
            <a:r>
              <a:rPr lang="en-US" sz="1000" dirty="0">
                <a:solidFill>
                  <a:srgbClr val="334155"/>
                </a:solidFill>
                <a:latin typeface="Calibri" pitchFamily="34" charset="0"/>
                <a:ea typeface="Calibri" pitchFamily="34" charset="-122"/>
                <a:cs typeface="Calibri" pitchFamily="34" charset="-120"/>
              </a:rPr>
              <a:t>inversión única para toda la flota de 20 grupos; la parte de los 3 equipos (3/20) es US$ 8 206</a:t>
            </a:r>
            <a:endParaRPr lang="en-US" sz="1800" dirty="0"/>
          </a:p>
        </p:txBody>
      </p:sp>
      <p:sp>
        <p:nvSpPr>
          <p:cNvPr id="12" name="Confirmar fondo"/>
          <p:cNvSpPr/>
          <p:nvPr/>
        </p:nvSpPr>
        <p:spPr>
          <a:xfrm>
            <a:off x="4663440" y="4846320"/>
            <a:ext cx="4023360" cy="1051560"/>
          </a:xfrm>
          <a:prstGeom prst="roundRect">
            <a:avLst>
              <a:gd name="adj" fmla="val 6087"/>
            </a:avLst>
          </a:prstGeom>
          <a:solidFill>
            <a:srgbClr val="FFFFFF"/>
          </a:solidFill>
          <a:ln w="12700">
            <a:solidFill>
              <a:srgbClr val="B45309"/>
            </a:solidFill>
            <a:prstDash val="solid"/>
          </a:ln>
        </p:spPr>
      </p:sp>
      <p:sp>
        <p:nvSpPr>
          <p:cNvPr id="13" name="Confirmar texto"/>
          <p:cNvSpPr txBox="1"/>
          <p:nvPr/>
        </p:nvSpPr>
        <p:spPr>
          <a:xfrm>
            <a:off x="4800600" y="4846320"/>
            <a:ext cx="3794760" cy="1051560"/>
          </a:xfrm>
          <a:prstGeom prst="rect">
            <a:avLst/>
          </a:prstGeom>
          <a:noFill/>
          <a:ln/>
        </p:spPr>
        <p:txBody>
          <a:bodyPr wrap="square" lIns="0" tIns="0" rIns="0" bIns="0"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Para confirmar el retorno real</a:t>
            </a:r>
            <a:endParaRPr lang="en-US" sz="1150" dirty="0"/>
          </a:p>
          <a:p>
            <a:pPr indent="0" marL="0">
              <a:buNone/>
            </a:pPr>
            <a:r>
              <a:rPr lang="en-US" sz="1000" dirty="0">
                <a:solidFill>
                  <a:srgbClr val="334155"/>
                </a:solidFill>
                <a:latin typeface="Calibri" pitchFamily="34" charset="0"/>
                <a:ea typeface="Calibri" pitchFamily="34" charset="-122"/>
                <a:cs typeface="Calibri" pitchFamily="34" charset="-120"/>
              </a:rPr>
              <a:t>registrar horas de operación por contrato, costo real de la hora de parada, y D, MTBF y MTTR mensuales</a:t>
            </a:r>
            <a:endParaRPr lang="en-US" sz="1150" dirty="0"/>
          </a:p>
        </p:txBody>
      </p:sp>
      <p:sp>
        <p:nvSpPr>
          <p:cNvPr id="14" name="Etiqueta anexo"/>
          <p:cNvSpPr txBox="1"/>
          <p:nvPr/>
        </p:nvSpPr>
        <p:spPr>
          <a:xfrm>
            <a:off x="457200" y="54864"/>
            <a:ext cx="2286000" cy="201168"/>
          </a:xfrm>
          <a:prstGeom prst="rect">
            <a:avLst/>
          </a:prstGeom>
          <a:noFill/>
          <a:ln/>
        </p:spPr>
        <p:txBody>
          <a:bodyPr wrap="square" lIns="0" tIns="0" rIns="0" bIns="0" rtlCol="0" anchor="t"/>
          <a:lstStyle/>
          <a:p>
            <a:pPr indent="0" marL="0">
              <a:buNone/>
            </a:pPr>
            <a:r>
              <a:rPr lang="en-US" sz="900" b="1" spc="100" kern="0" dirty="0">
                <a:solidFill>
                  <a:srgbClr val="B45309"/>
                </a:solidFill>
                <a:latin typeface="Calibri" pitchFamily="34" charset="0"/>
                <a:ea typeface="Calibri" pitchFamily="34" charset="-122"/>
                <a:cs typeface="Calibri" pitchFamily="34" charset="-120"/>
              </a:rPr>
              <a:t>ANEXO A15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RCM — versión 20 minutos</dc:title>
  <dc:subject>PptxGenJS Presentation</dc:subject>
  <dc:creator>Nilthon Rosinaldo Chite Vilca</dc:creator>
  <cp:lastModifiedBy>Nilthon Rosinaldo Chite Vilca</cp:lastModifiedBy>
  <cp:revision>1</cp:revision>
  <dcterms:created xsi:type="dcterms:W3CDTF">2026-10-20T11:05:47Z</dcterms:created>
  <dcterms:modified xsi:type="dcterms:W3CDTF">2026-10-20T11:05:47Z</dcterms:modified>
</cp:coreProperties>
</file>